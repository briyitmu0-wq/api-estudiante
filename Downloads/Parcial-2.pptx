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Open Sans Light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  <p:embeddedFont>
      <p:font typeface="Open Sans Medium"/>
      <p:regular r:id="rId201317"/>
    </p:embeddedFont>
    <p:embeddedFont>
      <p:font typeface="Open Sans SemiBold"/>
      <p:regular r:id="rId201318"/>
    </p:embeddedFont>
    <p:embeddedFont>
      <p:font typeface="Open Sans ExtraBold"/>
      <p:regular r:id="rId201319"/>
    </p:embeddedFont>
    <p:embeddedFont>
      <p:font typeface="Unbounded ExtraLight"/>
      <p:regular r:id="rId201320"/>
    </p:embeddedFont>
    <p:embeddedFont>
      <p:font typeface="Unbounded Light"/>
      <p:regular r:id="rId201321"/>
    </p:embeddedFont>
    <p:embeddedFont>
      <p:font typeface="Unbounded"/>
      <p:regular r:id="rId201322"/>
    </p:embeddedFont>
    <p:embeddedFont>
      <p:font typeface="Unbounded Bold"/>
      <p:regular r:id="rId201323"/>
    </p:embeddedFont>
    <p:embeddedFont>
      <p:font typeface="Unbounded ExtraBold"/>
      <p:regular r:id="rId201324"/>
    </p:embeddedFont>
    <p:embeddedFont>
      <p:font typeface="Unbounded Black"/>
      <p:regular r:id="rId201325"/>
    </p:embeddedFont>
    <p:embeddedFont>
      <p:font typeface="Unbounded Medium"/>
      <p:regular r:id="rId201326"/>
    </p:embeddedFont>
    <p:embeddedFont>
      <p:font typeface="Unbounded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5.png"/><Relationship Id="rId8" Type="http://schemas.openxmlformats.org/officeDocument/2006/relationships/image" Target="../media/image-2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4-3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26295"/>
            <a:ext cx="8151763" cy="87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Parcial 2</a:t>
            </a:r>
            <a:endParaRPr lang="en-US" sz="950" dirty="0"/>
          </a:p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Presentando por :Briyit Muñoz.Jean Macias y Anderson López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Cálculo II — Aplicación interactiva para el cálculo de áreas mediante integrales definidas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96119" y="3040261"/>
            <a:ext cx="670768" cy="188565"/>
          </a:xfrm>
          <a:prstGeom prst="roundRect">
            <a:avLst>
              <a:gd name="adj" fmla="val 22104"/>
            </a:avLst>
          </a:prstGeom>
          <a:solidFill>
            <a:srgbClr val="D6F5EE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3077468"/>
            <a:ext cx="97914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CÁLCULO II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228874" y="3040261"/>
            <a:ext cx="1241599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26A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3288" y="3077468"/>
            <a:ext cx="154997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INTEGRALES DEFINIDAS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2860"/>
            <a:ext cx="8151763" cy="641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Fundamento Teórico: Teorema Fundamental del Cálculo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47998"/>
            <a:ext cx="2286000" cy="647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1934" y="1237357"/>
            <a:ext cx="4370636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Enunciado General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281934" y="1482923"/>
            <a:ext cx="4827836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</a:t>
            </a:r>
            <a:pPr algn="l" indent="0" marL="0">
              <a:lnSpc>
                <a:spcPct val="122000"/>
              </a:lnSpc>
              <a:buNone/>
            </a:pPr>
            <a:r>
              <a:rPr lang="en-US" sz="8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 continua en [a, b] y </a:t>
            </a:r>
            <a:pPr algn="l" indent="0" marL="0">
              <a:lnSpc>
                <a:spcPct val="122000"/>
              </a:lnSpc>
              <a:buNone/>
            </a:pPr>
            <a:r>
              <a:rPr lang="en-US" sz="8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 una antiderivada de </a:t>
            </a:r>
            <a:pPr algn="l" indent="0" marL="0">
              <a:lnSpc>
                <a:spcPct val="122000"/>
              </a:lnSpc>
              <a:buNone/>
            </a:pPr>
            <a:r>
              <a:rPr lang="en-US" sz="8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entonces: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281934" y="1740694"/>
            <a:ext cx="4370636" cy="351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934" y="1740694"/>
            <a:ext cx="4370636" cy="3510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81934" y="2199382"/>
            <a:ext cx="4370636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Tres casos aplicados en este proyecto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1934" y="2455590"/>
            <a:ext cx="4370636" cy="7798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56063" y="2572569"/>
            <a:ext cx="407952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Sobre el eje X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456063" y="2818135"/>
            <a:ext cx="4079528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= ∫ₐᵇ f(x) dx — resultado directamente positivo. Aplicado en Montaña 1 y Montaña 2.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1934" y="3320504"/>
            <a:ext cx="4370636" cy="6296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56063" y="3437483"/>
            <a:ext cx="407952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Bajo el eje X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456063" y="3683050"/>
            <a:ext cx="4079528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= −∫ₐᵇ f(x) dx — se toma el valor absoluto de la integral. Aplicado en el Río h(x).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1934" y="4035251"/>
            <a:ext cx="4370636" cy="6296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56063" y="4152230"/>
            <a:ext cx="407952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Entre dos curvas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456063" y="4397797"/>
            <a:ext cx="4079528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= ∫ₐᵇ [f(x) − g(x)] dx, donde f(x) ≥ g(x). Aplicado en la región Horizonte / Cielo.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4578"/>
            <a:ext cx="617339" cy="188565"/>
          </a:xfrm>
          <a:prstGeom prst="roundRect">
            <a:avLst>
              <a:gd name="adj" fmla="val 22104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71785"/>
            <a:ext cx="92571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72703"/>
            <a:ext cx="8151763" cy="77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Cálculos</a:t>
            </a:r>
            <a:endParaRPr lang="en-US" sz="4850" dirty="0"/>
          </a:p>
        </p:txBody>
      </p:sp>
      <p:sp>
        <p:nvSpPr>
          <p:cNvPr id="5" name="Text 3"/>
          <p:cNvSpPr/>
          <p:nvPr/>
        </p:nvSpPr>
        <p:spPr>
          <a:xfrm>
            <a:off x="496119" y="1633984"/>
            <a:ext cx="8151763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Paso a Paso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496119" y="235490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Desarrollo completo de las cuatro integrales definidas que conforman el Paisaje Montaña y Mar, aplicando el Teorema Fundamental del Cálculo en cada región.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289135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3087812"/>
            <a:ext cx="401389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496119" y="317837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Montaña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119" y="3446636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Área bajo f(x) = −(x−2)²+4 en [0,4]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33987" y="289135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3987" y="3087812"/>
            <a:ext cx="401389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4633987" y="317837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Montaña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3987" y="3446636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Área bajo g(x) = −(x−6)²+2 en [5,7]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386209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4058543"/>
            <a:ext cx="401389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4149105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Río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4417368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Área bajo el eje X: h(x) = x²−2x en [0,2]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33987" y="386209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33987" y="4058543"/>
            <a:ext cx="401389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19"/>
          <p:cNvSpPr/>
          <p:nvPr/>
        </p:nvSpPr>
        <p:spPr>
          <a:xfrm>
            <a:off x="4633987" y="4149105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Entre dos curvas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33987" y="4417368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Región entre f(x) y y=1 en [1,3]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5968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Área bajo la Primera Montaña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71922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Planteamiento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249412"/>
            <a:ext cx="3938736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Función:</a:t>
            </a:r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f(x) = −(x − 2)² + 4, intervalo [0, 4]</a:t>
            </a:r>
            <a:endParaRPr lang="en-US" sz="850" dirty="0"/>
          </a:p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Expansión algebraica:</a:t>
            </a:r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−(x − 2)² + 4 = −x² + 4x</a:t>
            </a:r>
            <a:endParaRPr lang="en-US" sz="8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Integral planteada: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076004"/>
            <a:ext cx="3938736" cy="378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76004"/>
            <a:ext cx="3938736" cy="378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583731"/>
            <a:ext cx="43959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Antiderivada: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2884066"/>
            <a:ext cx="3938736" cy="412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884066"/>
            <a:ext cx="3938736" cy="412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6119" y="3425279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Evaluación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96119" y="3702769"/>
            <a:ext cx="3938736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 x = 4:</a:t>
            </a:r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−64/3 + 32 = −64/3 + 96/3 = 32/3</a:t>
            </a:r>
            <a:endParaRPr lang="en-US" sz="8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 x = 0: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0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96119" y="4251945"/>
            <a:ext cx="3938736" cy="410914"/>
          </a:xfrm>
          <a:prstGeom prst="roundRect">
            <a:avLst>
              <a:gd name="adj" fmla="val 11490"/>
            </a:avLst>
          </a:prstGeom>
          <a:solidFill>
            <a:srgbClr val="D6F5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4" y="4422577"/>
            <a:ext cx="140494" cy="1123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1343" y="4371677"/>
            <a:ext cx="39183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Resultado: A = 32/3 ≈ 10.67 u²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908" y="984647"/>
            <a:ext cx="3938736" cy="28351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13908" y="3934346"/>
            <a:ext cx="39387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parábola invertida con pico en (2, 4) genera la mayor área del paisaje: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32/3 ≈ 10.67 u²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correspondiente al 51.6% del área total.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9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Área bajo la Segunda Montaña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39949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Planteamiento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457771"/>
            <a:ext cx="3924598" cy="81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Función: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g(x) = −(x − 6)² + 2, intervalo [5, 7]</a:t>
            </a:r>
            <a:endParaRPr lang="en-US" sz="9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Expansión algebraica: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−(x − 6)² + 2 = −x² + 12x − 34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Integral planteada: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433340"/>
            <a:ext cx="3924598" cy="418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33340"/>
            <a:ext cx="3924598" cy="4180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008337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Antiderivada: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3363739"/>
            <a:ext cx="3924598" cy="454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3363739"/>
            <a:ext cx="3924598" cy="454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28046" y="1139949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Evaluación numérica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28046" y="1457771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 x = 7: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728046" y="1813173"/>
            <a:ext cx="3924598" cy="338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1813173"/>
            <a:ext cx="3924598" cy="3389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28046" y="2309068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 x = 5: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728046" y="2664470"/>
            <a:ext cx="3924598" cy="338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046" y="2664470"/>
            <a:ext cx="3924598" cy="3389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28046" y="3160365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Resta: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28046" y="3515767"/>
            <a:ext cx="3924598" cy="405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046" y="3515767"/>
            <a:ext cx="3924598" cy="40525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728046" y="4077965"/>
            <a:ext cx="3924598" cy="483617"/>
          </a:xfrm>
          <a:prstGeom prst="roundRect">
            <a:avLst>
              <a:gd name="adj" fmla="val 10773"/>
            </a:avLst>
          </a:prstGeom>
          <a:solidFill>
            <a:srgbClr val="D6F5EE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2020" y="4267274"/>
            <a:ext cx="155004" cy="12397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30998" y="4220542"/>
            <a:ext cx="38548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Resultado: A = 10/3 ≈ 3.33 u²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2368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Área del Valle</a:t>
            </a:r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(Región bajo el Eje X)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93204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Planteamiento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277243"/>
            <a:ext cx="3936429" cy="62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Función:</a:t>
            </a:r>
            <a:pPr algn="l" indent="0" marL="0">
              <a:lnSpc>
                <a:spcPct val="128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h(x) = x² − 2x, intervalo [0, 2]</a:t>
            </a:r>
            <a:endParaRPr lang="en-US" sz="9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Nota clave: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región está completamente por debajo del eje X en (0, 2), con vértice en (1, −1). El área física requiere valor absoluto: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2032992"/>
            <a:ext cx="3936429" cy="3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32992"/>
            <a:ext cx="3936429" cy="385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551733"/>
            <a:ext cx="439362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Antiderivada: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2860923"/>
            <a:ext cx="3936429" cy="41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860923"/>
            <a:ext cx="3936429" cy="419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6119" y="3413745"/>
            <a:ext cx="439362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Evaluación en x = 2: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96119" y="3722936"/>
            <a:ext cx="3936429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722936"/>
            <a:ext cx="3936429" cy="37355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6119" y="4229844"/>
            <a:ext cx="3936429" cy="422746"/>
          </a:xfrm>
          <a:prstGeom prst="roundRect">
            <a:avLst>
              <a:gd name="adj" fmla="val 11361"/>
            </a:avLst>
          </a:prstGeom>
          <a:solidFill>
            <a:srgbClr val="D6F5E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9" y="4401294"/>
            <a:ext cx="142875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7594" y="4353297"/>
            <a:ext cx="3907854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Resultado: A = 4/3 ≈ 1.33 u²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214" y="1006376"/>
            <a:ext cx="3936429" cy="28334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16214" y="3958382"/>
            <a:ext cx="393642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parábola h(x) = x²−2x tiene su vértice en (1, −1) y se anula en x = 0 y x = 2. Al estar enteramente bajo el eje X, el área se obtiene negando la integral: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 = 4/3 ≈ 1.33 u²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3867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Área entre Dos Curvas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25798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Planteamiento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336700"/>
            <a:ext cx="3926979" cy="797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Curva superior:</a:t>
            </a:r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f(x) = −(x − 2)² + 4</a:t>
            </a:r>
            <a:endParaRPr lang="en-US" sz="950" dirty="0"/>
          </a:p>
          <a:p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Curva inferior:</a:t>
            </a:r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= 1, intervalo [1, 3]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Diferencia de curvas: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286595"/>
            <a:ext cx="4384179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86595"/>
            <a:ext cx="3926979" cy="2137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652415"/>
            <a:ext cx="4384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Integral planteada: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2998366"/>
            <a:ext cx="3926979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998366"/>
            <a:ext cx="3926979" cy="4115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6119" y="3561978"/>
            <a:ext cx="4384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Antiderivada: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96119" y="3907929"/>
            <a:ext cx="3926979" cy="447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907929"/>
            <a:ext cx="3926979" cy="4478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25665" y="1025798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Evaluación numérica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25665" y="1336700"/>
            <a:ext cx="4384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 x = 3: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725665" y="1682651"/>
            <a:ext cx="438417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65" y="1682651"/>
            <a:ext cx="3926979" cy="1994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25665" y="2034183"/>
            <a:ext cx="4384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 x = 1: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25665" y="2380134"/>
            <a:ext cx="3926979" cy="333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65" y="2380134"/>
            <a:ext cx="3926979" cy="33359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25665" y="2865834"/>
            <a:ext cx="4384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Resta: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725665" y="3211785"/>
            <a:ext cx="3926979" cy="333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665" y="3211785"/>
            <a:ext cx="3926979" cy="33359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725665" y="3697486"/>
            <a:ext cx="3926979" cy="471115"/>
          </a:xfrm>
          <a:prstGeom prst="roundRect">
            <a:avLst>
              <a:gd name="adj" fmla="val 10886"/>
            </a:avLst>
          </a:prstGeom>
          <a:solidFill>
            <a:srgbClr val="D6F5E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704" y="3881363"/>
            <a:ext cx="152623" cy="12203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22366" y="3836119"/>
            <a:ext cx="38654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Resultado: A = 16/3 ≈ 5.33 u²</a:t>
            </a:r>
            <a:endParaRPr lang="en-US" sz="950" dirty="0"/>
          </a:p>
        </p:txBody>
      </p:sp>
      <p:sp>
        <p:nvSpPr>
          <p:cNvPr id="26" name="Text 17"/>
          <p:cNvSpPr/>
          <p:nvPr/>
        </p:nvSpPr>
        <p:spPr>
          <a:xfrm>
            <a:off x="4725665" y="4303812"/>
            <a:ext cx="392697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 región representa el área del "cielo" enmarcado entre la cumbre de la Montaña 1 y la línea de horizonte y = 1 en el intervalo [1, 3].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Diseño de la Figura: Paisaje Montaña y Mar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paisaje matemático representa un valle entre dos montañas con una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depresión del terreno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desciende bajo el nivel del suelo, y un horizonte (y = 1) que delimita el cielo. Las cuatro regiones cubren todos los requisitos del proyecto.</a:t>
            </a:r>
            <a:endParaRPr lang="en-US" sz="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6115"/>
            <a:ext cx="8151763" cy="45649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5305871"/>
            <a:ext cx="2696617" cy="472008"/>
          </a:xfrm>
          <a:prstGeom prst="roundRect">
            <a:avLst>
              <a:gd name="adj" fmla="val 551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868" y="5372621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Montaña 1 (verde)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62868" y="5488112"/>
            <a:ext cx="2563118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f(x) = −(x−2)² + 4 en [0, 4] — pico a altura 4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ÁREA = 32/3 ≈ 10.67 u²</a:t>
            </a:r>
            <a:endParaRPr lang="en-US" sz="450" dirty="0"/>
          </a:p>
        </p:txBody>
      </p:sp>
      <p:sp>
        <p:nvSpPr>
          <p:cNvPr id="8" name="Shape 5"/>
          <p:cNvSpPr/>
          <p:nvPr/>
        </p:nvSpPr>
        <p:spPr>
          <a:xfrm>
            <a:off x="3223692" y="5305871"/>
            <a:ext cx="2696617" cy="472008"/>
          </a:xfrm>
          <a:prstGeom prst="roundRect">
            <a:avLst>
              <a:gd name="adj" fmla="val 551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0441" y="5372621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Montaña 2 (verde oscuro)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290441" y="5488112"/>
            <a:ext cx="2563118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g(x) = −(x−6)² + 2 en [5, 7] — pico a altura 2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ÁREA = 10/3 ≈ 3.33 u²</a:t>
            </a:r>
            <a:endParaRPr lang="en-US" sz="450" dirty="0"/>
          </a:p>
        </p:txBody>
      </p:sp>
      <p:sp>
        <p:nvSpPr>
          <p:cNvPr id="11" name="Shape 8"/>
          <p:cNvSpPr/>
          <p:nvPr/>
        </p:nvSpPr>
        <p:spPr>
          <a:xfrm>
            <a:off x="5951265" y="5305871"/>
            <a:ext cx="2696617" cy="472008"/>
          </a:xfrm>
          <a:prstGeom prst="roundRect">
            <a:avLst>
              <a:gd name="adj" fmla="val 551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8014" y="5372621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Valle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018014" y="5488112"/>
            <a:ext cx="2563118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Valle / Depresión (azul)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h(x) = x² − 2x en [0, 2] — vértice (1, −1), bajo el eje X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ÁREA = 4/3 ≈ 1.33 u²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688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Resumen de Resultados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34443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10.67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96119" y="2298799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Montaña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567062"/>
            <a:ext cx="2613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32/3 u² — f(x) = −(x−2)²+4 en [0, 4]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64991" y="173444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64991" y="2298799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Montaña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64991" y="256706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10/3 u² — g(x) = −(x−6)²+2 en [5, 7]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3939" y="173444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033939" y="2298799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Río (bajo eje 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3939" y="256706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4/3 u² — h(x) = x²−2x en [0, 2]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80518" y="307553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5.33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80518" y="3639889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Entre dos curvas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80518" y="390815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16/3 u² — y=f(x) y y=1 en [1, 3]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9465" y="307553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20.67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49465" y="3639889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Área Total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9465" y="390815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62/3 u² — suma de las cuatro regiones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2026-07-27T21:34:31Z</dcterms:created>
  <dcterms:modified xsi:type="dcterms:W3CDTF">2026-07-27T21:34:31Z</dcterms:modified>
</cp:coreProperties>
</file>