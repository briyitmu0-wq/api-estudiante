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Estilo medio 2 - Énfasis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71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2DB62-7D5C-4EE2-8D17-5D75FF9B0B30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4053F735-5F35-4AFF-973E-BA7F58E55F5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88402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2DB62-7D5C-4EE2-8D17-5D75FF9B0B30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3F735-5F35-4AFF-973E-BA7F58E55F5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19934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2DB62-7D5C-4EE2-8D17-5D75FF9B0B30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4053F735-5F35-4AFF-973E-BA7F58E55F5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82812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2DB62-7D5C-4EE2-8D17-5D75FF9B0B30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4053F735-5F35-4AFF-973E-BA7F58E55F5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41870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2DB62-7D5C-4EE2-8D17-5D75FF9B0B30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4053F735-5F35-4AFF-973E-BA7F58E55F5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14505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2DB62-7D5C-4EE2-8D17-5D75FF9B0B30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3F735-5F35-4AFF-973E-BA7F58E55F5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8889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2DB62-7D5C-4EE2-8D17-5D75FF9B0B30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3F735-5F35-4AFF-973E-BA7F58E55F5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04752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2DB62-7D5C-4EE2-8D17-5D75FF9B0B30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3F735-5F35-4AFF-973E-BA7F58E55F5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87809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2DB62-7D5C-4EE2-8D17-5D75FF9B0B30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4053F735-5F35-4AFF-973E-BA7F58E55F5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5206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2DB62-7D5C-4EE2-8D17-5D75FF9B0B30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4053F735-5F35-4AFF-973E-BA7F58E55F5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56290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2DB62-7D5C-4EE2-8D17-5D75FF9B0B30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4053F735-5F35-4AFF-973E-BA7F58E55F57}" type="slidenum">
              <a:rPr lang="en-US" smtClean="0"/>
              <a:t>‹Nº›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66978142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s-ES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2DB62-7D5C-4EE2-8D17-5D75FF9B0B30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4053F735-5F35-4AFF-973E-BA7F58E55F5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414461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s-ES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2DB62-7D5C-4EE2-8D17-5D75FF9B0B30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4053F735-5F35-4AFF-973E-BA7F58E55F57}" type="slidenum">
              <a:rPr lang="en-US" smtClean="0"/>
              <a:t>‹Nº›</a:t>
            </a:fld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65799600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s-ES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2DB62-7D5C-4EE2-8D17-5D75FF9B0B30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4053F735-5F35-4AFF-973E-BA7F58E55F5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819550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2DB62-7D5C-4EE2-8D17-5D75FF9B0B30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3F735-5F35-4AFF-973E-BA7F58E55F5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347168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2DB62-7D5C-4EE2-8D17-5D75FF9B0B30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3F735-5F35-4AFF-973E-BA7F58E55F5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49320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s-CO"/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s-CO"/>
            </a:p>
          </p:txBody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O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C2DB62-7D5C-4EE2-8D17-5D75FF9B0B30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4053F735-5F35-4AFF-973E-BA7F58E55F5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87407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55000" lnSpcReduction="20000"/>
          </a:bodyPr>
          <a:lstStyle/>
          <a:p>
            <a:pPr algn="ctr"/>
            <a:r>
              <a:rPr lang="es-ES" sz="8800" dirty="0">
                <a:solidFill>
                  <a:schemeClr val="tx1"/>
                </a:solidFill>
                <a:latin typeface="Comic Sans MS" panose="030F0702030302020204" pitchFamily="66" charset="0"/>
              </a:rPr>
              <a:t>Cronogramas parciales 2026-2 </a:t>
            </a:r>
          </a:p>
          <a:p>
            <a:pPr algn="ctr"/>
            <a:r>
              <a:rPr lang="es-ES" sz="3600" dirty="0">
                <a:solidFill>
                  <a:srgbClr val="0070C0"/>
                </a:solidFill>
                <a:latin typeface="Comic Sans MS" panose="030F0702030302020204" pitchFamily="66" charset="0"/>
              </a:rPr>
              <a:t>MODULO DHU27</a:t>
            </a:r>
            <a:endParaRPr lang="en-US" sz="3600" dirty="0">
              <a:solidFill>
                <a:srgbClr val="0070C0"/>
              </a:solidFill>
              <a:latin typeface="Comic Sans MS" panose="030F0702030302020204" pitchFamily="66" charset="0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4AF0FA71-D124-480C-8699-29B581B6EF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9213" y="769384"/>
            <a:ext cx="7536421" cy="3641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18608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a 2">
            <a:extLst>
              <a:ext uri="{FF2B5EF4-FFF2-40B4-BE49-F238E27FC236}">
                <a16:creationId xmlns:a16="http://schemas.microsoft.com/office/drawing/2014/main" id="{FD30714A-BC4F-4630-AB7D-3F66312FE9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5949559"/>
              </p:ext>
            </p:extLst>
          </p:nvPr>
        </p:nvGraphicFramePr>
        <p:xfrm>
          <a:off x="1922930" y="820270"/>
          <a:ext cx="8237071" cy="2891766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626043">
                  <a:extLst>
                    <a:ext uri="{9D8B030D-6E8A-4147-A177-3AD203B41FA5}">
                      <a16:colId xmlns:a16="http://schemas.microsoft.com/office/drawing/2014/main" val="2887984265"/>
                    </a:ext>
                  </a:extLst>
                </a:gridCol>
                <a:gridCol w="2805514">
                  <a:extLst>
                    <a:ext uri="{9D8B030D-6E8A-4147-A177-3AD203B41FA5}">
                      <a16:colId xmlns:a16="http://schemas.microsoft.com/office/drawing/2014/main" val="4236664313"/>
                    </a:ext>
                  </a:extLst>
                </a:gridCol>
                <a:gridCol w="2805514">
                  <a:extLst>
                    <a:ext uri="{9D8B030D-6E8A-4147-A177-3AD203B41FA5}">
                      <a16:colId xmlns:a16="http://schemas.microsoft.com/office/drawing/2014/main" val="2840951714"/>
                    </a:ext>
                  </a:extLst>
                </a:gridCol>
              </a:tblGrid>
              <a:tr h="868031"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rPr>
                        <a:t>Primeros parciales 30%</a:t>
                      </a:r>
                    </a:p>
                    <a:p>
                      <a:pPr algn="ctr"/>
                      <a:endParaRPr lang="es-ES" dirty="0">
                        <a:solidFill>
                          <a:schemeClr val="tx1"/>
                        </a:solidFill>
                        <a:latin typeface="Comic Sans MS" panose="030F0702030302020204" pitchFamily="66" charset="0"/>
                      </a:endParaRPr>
                    </a:p>
                    <a:p>
                      <a:pPr algn="ctr"/>
                      <a:endParaRPr lang="es-ES" b="0" dirty="0">
                        <a:solidFill>
                          <a:schemeClr val="tx1"/>
                        </a:solidFill>
                        <a:latin typeface="Comic Sans MS" panose="030F0702030302020204" pitchFamily="66" charset="0"/>
                      </a:endParaRPr>
                    </a:p>
                    <a:p>
                      <a:pPr algn="ctr"/>
                      <a:r>
                        <a:rPr lang="es-ES" b="0" dirty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rPr>
                        <a:t>Del 15 al 20 de junio de 2026</a:t>
                      </a:r>
                      <a:endParaRPr lang="es-CO" b="0" dirty="0">
                        <a:solidFill>
                          <a:schemeClr val="tx1"/>
                        </a:solidFill>
                        <a:latin typeface="Comic Sans MS" panose="030F0702030302020204" pitchFamily="66" charset="0"/>
                      </a:endParaRPr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mic Sans MS" panose="030F0702030302020204" pitchFamily="66" charset="0"/>
                          <a:ea typeface="+mn-ea"/>
                          <a:cs typeface="+mn-cs"/>
                        </a:rPr>
                        <a:t>Segundos parciales 30%</a:t>
                      </a:r>
                      <a:endParaRPr kumimoji="0" lang="es-CO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omic Sans MS" panose="030F0702030302020204" pitchFamily="66" charset="0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E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omic Sans MS" panose="030F0702030302020204" pitchFamily="66" charset="0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E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omic Sans MS" panose="030F0702030302020204" pitchFamily="66" charset="0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mic Sans MS" panose="030F0702030302020204" pitchFamily="66" charset="0"/>
                          <a:ea typeface="+mn-ea"/>
                          <a:cs typeface="+mn-cs"/>
                        </a:rPr>
                        <a:t>Del 21 al 27 de julio de 2026</a:t>
                      </a:r>
                      <a:endParaRPr kumimoji="0" lang="es-CO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omic Sans MS" panose="030F0702030302020204" pitchFamily="66" charset="0"/>
                        <a:ea typeface="+mn-ea"/>
                        <a:cs typeface="+mn-cs"/>
                      </a:endParaRPr>
                    </a:p>
                    <a:p>
                      <a:endParaRPr lang="es-CO" dirty="0"/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mic Sans MS" panose="030F0702030302020204" pitchFamily="66" charset="0"/>
                          <a:ea typeface="+mn-ea"/>
                          <a:cs typeface="+mn-cs"/>
                        </a:rPr>
                        <a:t>Exámenes finales 40%</a:t>
                      </a:r>
                      <a:endParaRPr kumimoji="0" lang="es-CO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omic Sans MS" panose="030F0702030302020204" pitchFamily="66" charset="0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E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omic Sans MS" panose="030F0702030302020204" pitchFamily="66" charset="0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E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omic Sans MS" panose="030F0702030302020204" pitchFamily="66" charset="0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E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omic Sans MS" panose="030F0702030302020204" pitchFamily="66" charset="0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mic Sans MS" panose="030F0702030302020204" pitchFamily="66" charset="0"/>
                          <a:ea typeface="+mn-ea"/>
                          <a:cs typeface="+mn-cs"/>
                        </a:rPr>
                        <a:t>Del 18 al 24 de agosto de 2026</a:t>
                      </a:r>
                      <a:endParaRPr kumimoji="0" lang="es-CO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omic Sans MS" panose="030F0702030302020204" pitchFamily="66" charset="0"/>
                        <a:ea typeface="+mn-ea"/>
                        <a:cs typeface="+mn-cs"/>
                      </a:endParaRPr>
                    </a:p>
                    <a:p>
                      <a:endParaRPr lang="es-CO" dirty="0"/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3785026"/>
                  </a:ext>
                </a:extLst>
              </a:tr>
              <a:tr h="880086">
                <a:tc>
                  <a:txBody>
                    <a:bodyPr/>
                    <a:lstStyle/>
                    <a:p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O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40674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91831501"/>
      </p:ext>
    </p:extLst>
  </p:cSld>
  <p:clrMapOvr>
    <a:masterClrMapping/>
  </p:clrMapOvr>
</p:sld>
</file>

<file path=ppt/theme/theme1.xml><?xml version="1.0" encoding="utf-8"?>
<a:theme xmlns:a="http://schemas.openxmlformats.org/drawingml/2006/main" name="Espiral">
  <a:themeElements>
    <a:clrScheme name="Espiral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Espiral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Espiral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21</TotalTime>
  <Words>41</Words>
  <Application>Microsoft Office PowerPoint</Application>
  <PresentationFormat>Panorámica</PresentationFormat>
  <Paragraphs>15</Paragraphs>
  <Slides>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7" baseType="lpstr">
      <vt:lpstr>Arial</vt:lpstr>
      <vt:lpstr>Century Gothic</vt:lpstr>
      <vt:lpstr>Comic Sans MS</vt:lpstr>
      <vt:lpstr>Wingdings 3</vt:lpstr>
      <vt:lpstr>Espiral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Cronograma parciales 2025 </dc:title>
  <dc:creator>USUARIO</dc:creator>
  <cp:lastModifiedBy>LIDA MERCEDES MENDOZA NAVARRO</cp:lastModifiedBy>
  <cp:revision>9</cp:revision>
  <dcterms:created xsi:type="dcterms:W3CDTF">2025-02-05T00:12:51Z</dcterms:created>
  <dcterms:modified xsi:type="dcterms:W3CDTF">2026-05-21T21:58:28Z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cd67fb3e-ac31-4c8c-a672-17639f3ff98d_Enabled">
    <vt:lpwstr>true</vt:lpwstr>
  </property>
  <property fmtid="{D5CDD505-2E9C-101B-9397-08002B2CF9AE}" pid="3" name="MSIP_Label_cd67fb3e-ac31-4c8c-a672-17639f3ff98d_SetDate">
    <vt:lpwstr>2026-05-21T21:53:06Z</vt:lpwstr>
  </property>
  <property fmtid="{D5CDD505-2E9C-101B-9397-08002B2CF9AE}" pid="4" name="MSIP_Label_cd67fb3e-ac31-4c8c-a672-17639f3ff98d_Method">
    <vt:lpwstr>Standard</vt:lpwstr>
  </property>
  <property fmtid="{D5CDD505-2E9C-101B-9397-08002B2CF9AE}" pid="5" name="MSIP_Label_cd67fb3e-ac31-4c8c-a672-17639f3ff98d_Name">
    <vt:lpwstr>cédula</vt:lpwstr>
  </property>
  <property fmtid="{D5CDD505-2E9C-101B-9397-08002B2CF9AE}" pid="6" name="MSIP_Label_cd67fb3e-ac31-4c8c-a672-17639f3ff98d_SiteId">
    <vt:lpwstr>1e9aabe8-67f8-4f1c-a329-a754e92499ae</vt:lpwstr>
  </property>
  <property fmtid="{D5CDD505-2E9C-101B-9397-08002B2CF9AE}" pid="7" name="MSIP_Label_cd67fb3e-ac31-4c8c-a672-17639f3ff98d_ActionId">
    <vt:lpwstr>89da9bfd-e4ea-499d-b7d6-f83ee7b7a097</vt:lpwstr>
  </property>
  <property fmtid="{D5CDD505-2E9C-101B-9397-08002B2CF9AE}" pid="8" name="MSIP_Label_cd67fb3e-ac31-4c8c-a672-17639f3ff98d_ContentBits">
    <vt:lpwstr>0</vt:lpwstr>
  </property>
  <property fmtid="{D5CDD505-2E9C-101B-9397-08002B2CF9AE}" pid="9" name="MSIP_Label_cd67fb3e-ac31-4c8c-a672-17639f3ff98d_Tag">
    <vt:lpwstr>10, 3, 0, 1</vt:lpwstr>
  </property>
</Properties>
</file>