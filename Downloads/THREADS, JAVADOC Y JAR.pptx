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8.jpg" ContentType="image/jpg"/>
  <Override PartName="/ppt/media/image10.jpg" ContentType="image/jpg"/>
  <Override PartName="/ppt/media/image12.jpg" ContentType="image/jpg"/>
  <Override PartName="/ppt/media/image14.jpg" ContentType="image/jpg"/>
  <Override PartName="/ppt/notesSlides/notesSlide3.xml" ContentType="application/vnd.openxmlformats-officedocument.presentationml.notesSlide+xml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29.jpg" ContentType="image/jpg"/>
  <Override PartName="/ppt/media/image31.jpg" ContentType="image/jpg"/>
  <Override PartName="/ppt/notesSlides/notesSlide7.xml" ContentType="application/vnd.openxmlformats-officedocument.presentationml.notesSlide+xml"/>
  <Override PartName="/ppt/media/image34.jpg" ContentType="image/jp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media/image43.jpg" ContentType="image/jpg"/>
  <Override PartName="/ppt/media/image45.jpg" ContentType="image/jpg"/>
  <Override PartName="/ppt/media/image47.jpg" ContentType="image/jpg"/>
  <Override PartName="/ppt/media/image48.jpg" ContentType="image/jpg"/>
  <Override PartName="/ppt/notesSlides/notesSlide11.xml" ContentType="application/vnd.openxmlformats-officedocument.presentationml.notesSlide+xml"/>
  <Override PartName="/ppt/media/image49.jpg" ContentType="image/jpg"/>
  <Override PartName="/ppt/media/image50.jpg" ContentType="image/jpg"/>
  <Override PartName="/ppt/media/image51.jpg" ContentType="image/jpg"/>
  <Override PartName="/ppt/media/image52.jpg" ContentType="image/jpg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media/image62.jpg" ContentType="image/jpg"/>
  <Override PartName="/ppt/notesSlides/notesSlide16.xml" ContentType="application/vnd.openxmlformats-officedocument.presentationml.notesSlide+xml"/>
  <Override PartName="/ppt/media/image64.jpg" ContentType="image/jpg"/>
  <Override PartName="/ppt/notesSlides/notesSlide17.xml" ContentType="application/vnd.openxmlformats-officedocument.presentationml.notesSlide+xml"/>
  <Override PartName="/ppt/media/image66.jpg" ContentType="image/jpg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media/image72.jpg" ContentType="image/jpg"/>
  <Override PartName="/ppt/media/image74.jpg" ContentType="image/jpg"/>
  <Override PartName="/ppt/media/image76.jpg" ContentType="image/jpg"/>
  <Override PartName="/ppt/media/image78.jpg" ContentType="image/jpg"/>
  <Override PartName="/ppt/notesSlides/notesSlide21.xml" ContentType="application/vnd.openxmlformats-officedocument.presentationml.notesSlide+xml"/>
  <Override PartName="/ppt/media/image80.jpg" ContentType="image/jpg"/>
  <Override PartName="/ppt/media/image81.jpg" ContentType="image/jpg"/>
  <Override PartName="/ppt/media/image82.jpg" ContentType="image/jpg"/>
  <Override PartName="/ppt/media/image83.jpg" ContentType="image/jpg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media/image89.jpg" ContentType="image/jpg"/>
  <Override PartName="/ppt/notesSlides/notesSlide25.xml" ContentType="application/vnd.openxmlformats-officedocument.presentationml.notesSlide+xml"/>
  <Override PartName="/ppt/media/image91.jpg" ContentType="image/jpg"/>
  <Override PartName="/ppt/media/image93.jpg" ContentType="image/jpg"/>
  <Override PartName="/ppt/notesSlides/notesSlide26.xml" ContentType="application/vnd.openxmlformats-officedocument.presentationml.notesSlide+xml"/>
  <Override PartName="/ppt/media/image95.jpg" ContentType="image/jpg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media/image104.jpg" ContentType="image/jpg"/>
  <Override PartName="/ppt/media/image106.jpg" ContentType="image/jpg"/>
  <Override PartName="/ppt/media/image107.jpg" ContentType="image/jpg"/>
  <Override PartName="/ppt/media/image109.jpg" ContentType="image/jpg"/>
  <Override PartName="/ppt/notesSlides/notesSlide30.xml" ContentType="application/vnd.openxmlformats-officedocument.presentationml.notesSlide+xml"/>
  <Override PartName="/ppt/media/image111.jpg" ContentType="image/jpg"/>
  <Override PartName="/ppt/media/image112.jpg" ContentType="image/jpg"/>
  <Override PartName="/ppt/media/image113.jpg" ContentType="image/jpg"/>
  <Override PartName="/ppt/media/image114.jpg" ContentType="image/jpg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media/image118.jpg" ContentType="image/jpg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media/image127.jpg" ContentType="image/jpg"/>
  <Override PartName="/ppt/media/image128.jpg" ContentType="image/jpg"/>
  <Override PartName="/ppt/media/image129.jpg" ContentType="image/jpg"/>
  <Override PartName="/ppt/media/image130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61" r:id="rId2"/>
    <p:sldId id="258" r:id="rId3"/>
    <p:sldId id="259" r:id="rId4"/>
    <p:sldId id="377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378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3" r:id="rId36"/>
    <p:sldId id="294" r:id="rId37"/>
    <p:sldId id="295" r:id="rId38"/>
    <p:sldId id="260" r:id="rId3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C84"/>
    <a:srgbClr val="132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6"/>
  </p:normalViewPr>
  <p:slideViewPr>
    <p:cSldViewPr snapToGrid="0" snapToObjects="1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21F37-EC85-4543-BEBC-AC323967E879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DB1DB-1393-441A-90A1-A562E735BD0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7740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7ED6-026A-185D-950D-7A781AAC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35217-FDC0-DAD3-C894-E943118DC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6770D-0AB0-9455-8E86-7704ECE18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C89E6-8E35-342C-946F-F09AC5EF6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03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E43AB19-8EA6-A058-0106-3FBBB26211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49E98984-C1D1-2646-A0A0-3BFD0DD2EB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937125"/>
            <a:ext cx="9144000" cy="5931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O" b="1" dirty="0">
                <a:latin typeface="Helvetica" pitchFamily="2" charset="0"/>
              </a:rPr>
              <a:t>Ejemplo portada interna (este texto se reemplaza por título)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C1608B-19E9-2F41-9313-CE374BE2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8E6BFC-0E41-7845-8B2B-F1EF2B9DF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66054E-3747-184C-98F2-66FE6934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653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D46E954-CC9E-B564-5025-C9185BEFC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87649A5-9E40-AD46-B1F5-13C1E9FF0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196" y="365125"/>
            <a:ext cx="10136221" cy="1325563"/>
          </a:xfrm>
        </p:spPr>
        <p:txBody>
          <a:bodyPr>
            <a:normAutofit/>
          </a:bodyPr>
          <a:lstStyle>
            <a:lvl1pPr>
              <a:defRPr sz="2700" b="1">
                <a:solidFill>
                  <a:srgbClr val="132A42"/>
                </a:solidFill>
                <a:effectLst>
                  <a:outerShdw sx="1000" sy="1000" algn="tl">
                    <a:srgbClr val="000000"/>
                  </a:outerShdw>
                </a:effectLst>
                <a:latin typeface="Helvetica" pitchFamily="2" charset="0"/>
              </a:defRPr>
            </a:lvl1pPr>
          </a:lstStyle>
          <a:p>
            <a:r>
              <a:rPr lang="es-ES" dirty="0"/>
              <a:t>Ejemplo uso de fotos internas (este texto se modifica por título)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FB6EEE-750E-C544-BA77-AA549E99E6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91868" y="1985475"/>
            <a:ext cx="3932834" cy="38786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Haga clic para agregar texto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69ED70-3570-D44D-BB19-AB5B16BE4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E6CCEF-EC67-FE49-929B-77A168CF8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389F3E-8B46-1B4B-9F54-34BCC662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215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22C1A88-33C7-A9CC-794B-7FBA5AF634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87649A5-9E40-AD46-B1F5-13C1E9FF0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196" y="365125"/>
            <a:ext cx="10136221" cy="1325563"/>
          </a:xfrm>
        </p:spPr>
        <p:txBody>
          <a:bodyPr>
            <a:normAutofit/>
          </a:bodyPr>
          <a:lstStyle>
            <a:lvl1pPr>
              <a:defRPr sz="2700" b="1">
                <a:solidFill>
                  <a:srgbClr val="132A42"/>
                </a:solidFill>
                <a:effectLst>
                  <a:outerShdw sx="1000" sy="1000" algn="tl">
                    <a:srgbClr val="000000"/>
                  </a:outerShdw>
                </a:effectLst>
                <a:latin typeface="Helvetica" pitchFamily="2" charset="0"/>
              </a:defRPr>
            </a:lvl1pPr>
          </a:lstStyle>
          <a:p>
            <a:r>
              <a:rPr lang="es-ES" dirty="0"/>
              <a:t>Haga clic para agregar 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FB6EEE-750E-C544-BA77-AA549E99E6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0195" y="1825625"/>
            <a:ext cx="11400817" cy="4351338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Haga clic para agregar texto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69ED70-3570-D44D-BB19-AB5B16BE4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E6CCEF-EC67-FE49-929B-77A168CF8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389F3E-8B46-1B4B-9F54-34BCC662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439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E5F48-7598-C346-A9EA-8B68B4566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7F7FEB-8D1A-464C-B59E-142E055B5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65E905-47E6-D440-8026-5A9C03BE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9D5F45-D9DA-B648-A088-2B35CD475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B6E6AE-6EAA-804A-8F1C-280946D2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118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A921016-19A3-BD1D-265A-2F9DE6326B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0CBAF79-86AF-324A-9E86-A9035BBFA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5060" y="2792387"/>
            <a:ext cx="5527777" cy="1769944"/>
          </a:xfrm>
        </p:spPr>
        <p:txBody>
          <a:bodyPr>
            <a:normAutofit/>
          </a:bodyPr>
          <a:lstStyle>
            <a:lvl1pPr algn="ctr">
              <a:defRPr sz="2500" b="1">
                <a:solidFill>
                  <a:srgbClr val="132A42"/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26D458-EE3F-C14C-A12B-FB32C10C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9966" y="92710"/>
            <a:ext cx="22707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650B4A-31CB-9940-B581-D54321F3B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71BA19-ECA8-A248-A6CC-09C32FDA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B0DD3616-8ADA-014B-9F03-CEFA802CA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8457" y="4704737"/>
            <a:ext cx="5925343" cy="287337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s-CO" dirty="0"/>
              <a:t>Ingrese subtítulo o nombre del que presenta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F181142-04BE-854E-8C6E-B290ABFE1F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4471" y="5619614"/>
            <a:ext cx="6407150" cy="392113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s-CO" dirty="0"/>
              <a:t>Ingrese aquí texto adicional según requiera (fecha, sede, etc.)</a:t>
            </a:r>
          </a:p>
        </p:txBody>
      </p:sp>
    </p:spTree>
    <p:extLst>
      <p:ext uri="{BB962C8B-B14F-4D97-AF65-F5344CB8AC3E}">
        <p14:creationId xmlns:p14="http://schemas.microsoft.com/office/powerpoint/2010/main" val="1842838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A4FEA-E768-8342-9E4C-1D6BDBE5C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20638D-B89F-454B-8838-4AFE417BE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134E38-0459-CF41-AD94-84F6C18F5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516BC9F-18ED-CE4A-9735-D29A2B566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F339411-4E9E-DA43-9828-9CB25F625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D25058F-DC2F-154A-9FAA-190E8351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457219D-EDF3-6C42-A81B-2B6ABB968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C49598-E2BD-BB47-80FC-DD0FA6955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556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4A7B0-CD3D-4B4C-BF03-27950175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D1074A2-9D9D-C84F-B49A-B4B7B60D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5CD0AE-4800-6D49-AC8C-30A75750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E32B0F-BE6E-E84D-9AF8-C5ED3C5CD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9383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F3FBA07-E30E-9F4A-A5DD-885C0A0B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1E3963-C4B4-5A4D-8120-AE737E28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AA5FCE-12C1-D04E-87F7-5EDE064E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1411300-6B77-9090-8F35-CCEE16AE60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48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95F1E-1606-1E48-B25E-D03CED9D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15EA7B-5BFD-5747-B737-E3E3AA0FC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A0268E-DF2C-2A4D-80CE-0B8957B4B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68F098-9853-A648-A34D-18E955AAC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4B059B-E5D1-484B-B4EC-4D28184E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772269-404E-E247-BB02-2C02B544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649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2847A-82F0-D142-84DC-01EDF1EC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740E14-C59A-154F-879E-FC6F918EA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DEFEBB-2EEF-8B40-A2C1-B0950BF3C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989B51-50AE-5A41-AD26-72064B3B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F68472-CE56-CE43-8231-97D91216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91C2C6-6D6C-8A4A-B6AD-E799AF47C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329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02C64-44D4-9A48-A4B0-AD6F55630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57D0F9-22E9-7B4A-9DE1-0A3CA184C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CAF973-026E-6446-832B-5EDF3B90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EDAAD1-AD38-024B-87C9-CED384416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F821CF-0939-AF4B-9F69-C5A66306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6333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3496B4-EF5B-4E44-BA04-A5B8579B4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10C3C5-F41F-B346-A7CF-E8C50018D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D4ED63-2F20-E040-88C2-63B2734C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19CC3A-697C-F245-BDC7-89609862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2F0063-3219-9B45-87DF-A26E97736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5728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9657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CC9909-9C1A-DA4E-85F8-041CC2F6D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5D7626-1217-3F48-BFF0-11EF8879E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42115-645B-E74D-BE5A-00E576863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8920B-9586-C146-86AE-2666566F0D47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4CA25E-692B-6E4A-B119-233AAF934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4807F6-E806-0E45-99BD-A049890A4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983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jpg"/><Relationship Id="rId4" Type="http://schemas.openxmlformats.org/officeDocument/2006/relationships/image" Target="../media/image8.jp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jp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jpg"/><Relationship Id="rId11" Type="http://schemas.openxmlformats.org/officeDocument/2006/relationships/image" Target="../media/image11.png"/><Relationship Id="rId5" Type="http://schemas.openxmlformats.org/officeDocument/2006/relationships/image" Target="../media/image44.png"/><Relationship Id="rId10" Type="http://schemas.openxmlformats.org/officeDocument/2006/relationships/image" Target="../media/image48.jpg"/><Relationship Id="rId4" Type="http://schemas.openxmlformats.org/officeDocument/2006/relationships/image" Target="../media/image43.jp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jpg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4.jpg"/><Relationship Id="rId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1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jpg"/><Relationship Id="rId3" Type="http://schemas.openxmlformats.org/officeDocument/2006/relationships/image" Target="../media/image5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jp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jpg"/><Relationship Id="rId4" Type="http://schemas.openxmlformats.org/officeDocument/2006/relationships/image" Target="../media/image72.jpg"/><Relationship Id="rId9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3.jpg"/><Relationship Id="rId5" Type="http://schemas.openxmlformats.org/officeDocument/2006/relationships/image" Target="../media/image82.jpg"/><Relationship Id="rId4" Type="http://schemas.openxmlformats.org/officeDocument/2006/relationships/image" Target="../media/image8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4.png"/><Relationship Id="rId4" Type="http://schemas.openxmlformats.org/officeDocument/2006/relationships/image" Target="../media/image8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8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90.png"/><Relationship Id="rId4" Type="http://schemas.openxmlformats.org/officeDocument/2006/relationships/image" Target="../media/image89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4.png"/><Relationship Id="rId5" Type="http://schemas.openxmlformats.org/officeDocument/2006/relationships/image" Target="../media/image93.jpg"/><Relationship Id="rId4" Type="http://schemas.openxmlformats.org/officeDocument/2006/relationships/image" Target="../media/image9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35.png"/><Relationship Id="rId4" Type="http://schemas.openxmlformats.org/officeDocument/2006/relationships/image" Target="../media/image9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5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10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jpg"/><Relationship Id="rId3" Type="http://schemas.openxmlformats.org/officeDocument/2006/relationships/image" Target="../media/image84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6.jpg"/><Relationship Id="rId11" Type="http://schemas.openxmlformats.org/officeDocument/2006/relationships/image" Target="../media/image110.png"/><Relationship Id="rId5" Type="http://schemas.openxmlformats.org/officeDocument/2006/relationships/image" Target="../media/image105.png"/><Relationship Id="rId10" Type="http://schemas.openxmlformats.org/officeDocument/2006/relationships/image" Target="../media/image109.jpg"/><Relationship Id="rId4" Type="http://schemas.openxmlformats.org/officeDocument/2006/relationships/image" Target="../media/image104.jpg"/><Relationship Id="rId9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4.jpg"/><Relationship Id="rId5" Type="http://schemas.openxmlformats.org/officeDocument/2006/relationships/image" Target="../media/image113.jpg"/><Relationship Id="rId4" Type="http://schemas.openxmlformats.org/officeDocument/2006/relationships/image" Target="../media/image11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5.png"/><Relationship Id="rId7" Type="http://schemas.openxmlformats.org/officeDocument/2006/relationships/image" Target="../media/image1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2.png"/><Relationship Id="rId5" Type="http://schemas.openxmlformats.org/officeDocument/2006/relationships/image" Target="../media/image99.png"/><Relationship Id="rId4" Type="http://schemas.openxmlformats.org/officeDocument/2006/relationships/image" Target="../media/image9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8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jpg"/><Relationship Id="rId3" Type="http://schemas.openxmlformats.org/officeDocument/2006/relationships/image" Target="../media/image126.png"/><Relationship Id="rId7" Type="http://schemas.openxmlformats.org/officeDocument/2006/relationships/image" Target="../media/image129.jpg"/><Relationship Id="rId12" Type="http://schemas.openxmlformats.org/officeDocument/2006/relationships/image" Target="../media/image1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8.jpg"/><Relationship Id="rId11" Type="http://schemas.openxmlformats.org/officeDocument/2006/relationships/image" Target="../media/image132.png"/><Relationship Id="rId5" Type="http://schemas.openxmlformats.org/officeDocument/2006/relationships/image" Target="../media/image127.jpg"/><Relationship Id="rId10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3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A6107-25F3-314D-84AA-0A1A87AB4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4805" y="558676"/>
            <a:ext cx="5527777" cy="1769944"/>
          </a:xfrm>
        </p:spPr>
        <p:txBody>
          <a:bodyPr>
            <a:normAutofit/>
          </a:bodyPr>
          <a:lstStyle/>
          <a:p>
            <a:r>
              <a:rPr lang="es-CO" sz="3200" dirty="0"/>
              <a:t>COM28  DESARROLLO DE SOFTWARE ORIENTADA A OBJETOS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5FB229-14B5-7648-A615-1FB13AE8F9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27239" y="4875282"/>
            <a:ext cx="5925343" cy="425647"/>
          </a:xfrm>
        </p:spPr>
        <p:txBody>
          <a:bodyPr/>
          <a:lstStyle/>
          <a:p>
            <a:r>
              <a:rPr lang="es-ES" sz="2600" dirty="0"/>
              <a:t>Doc. Edinson Castillo Zabala</a:t>
            </a:r>
          </a:p>
          <a:p>
            <a:endParaRPr lang="es-CO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1EB72E53-EDBD-5036-13F0-BA2334A9F5E1}"/>
              </a:ext>
            </a:extLst>
          </p:cNvPr>
          <p:cNvSpPr txBox="1">
            <a:spLocks/>
          </p:cNvSpPr>
          <p:nvPr/>
        </p:nvSpPr>
        <p:spPr>
          <a:xfrm>
            <a:off x="5826023" y="5291393"/>
            <a:ext cx="5925343" cy="4256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600" dirty="0"/>
              <a:t>Ingeniero Telemático </a:t>
            </a:r>
            <a:br>
              <a:rPr lang="es-ES" sz="2600" dirty="0"/>
            </a:br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F59C19C-E834-78C6-C844-0B408A8EE665}"/>
              </a:ext>
            </a:extLst>
          </p:cNvPr>
          <p:cNvSpPr txBox="1"/>
          <p:nvPr/>
        </p:nvSpPr>
        <p:spPr>
          <a:xfrm>
            <a:off x="5627239" y="2709399"/>
            <a:ext cx="6124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132A42"/>
                </a:solidFill>
                <a:latin typeface="Helvetica" pitchFamily="2" charset="0"/>
                <a:ea typeface="+mj-ea"/>
                <a:cs typeface="+mj-cs"/>
              </a:rPr>
              <a:t>THREADS, JAVADOC Y JAR</a:t>
            </a:r>
            <a:endParaRPr lang="es-CO" sz="3200" b="1" dirty="0">
              <a:solidFill>
                <a:srgbClr val="132A42"/>
              </a:solidFill>
              <a:latin typeface="Helvetica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640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762000" y="2076450"/>
            <a:ext cx="4305300" cy="4000500"/>
          </a:xfrm>
          <a:prstGeom prst="roundRect">
            <a:avLst>
              <a:gd name="adj" fmla="val 5714"/>
            </a:avLst>
          </a:prstGeom>
          <a:solidFill>
            <a:srgbClr val="FFC72C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609600" y="1924050"/>
            <a:ext cx="4305300" cy="400050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3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125" y="1933575"/>
            <a:ext cx="4286250" cy="39814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676900" y="135255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5865540" y="1295400"/>
            <a:ext cx="180136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20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PORTADA DEL CURSO</a:t>
            </a:r>
            <a:endParaRPr lang="en-US" sz="1050" dirty="0"/>
          </a:p>
        </p:txBody>
      </p:sp>
      <p:sp>
        <p:nvSpPr>
          <p:cNvPr id="10" name="Text 4"/>
          <p:cNvSpPr/>
          <p:nvPr/>
        </p:nvSpPr>
        <p:spPr>
          <a:xfrm>
            <a:off x="5676900" y="1714500"/>
            <a:ext cx="6025896" cy="1719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Optimización de Procesos 
</a:t>
            </a:r>
            <a:r>
              <a:rPr lang="en-US" sz="3600" b="1">
                <a:gradFill rotWithShape="1">
                  <a:gsLst>
                    <a:gs pos="0">
                      <a:srgbClr val="2E5FA3"/>
                    </a:gs>
                    <a:gs pos="100000">
                      <a:srgbClr val="12284B"/>
                    </a:gs>
                  </a:gsLst>
                </a:gradFill>
                <a:latin typeface="Lexend" pitchFamily="34" charset="0"/>
                <a:ea typeface="Lexend" pitchFamily="34" charset="-122"/>
                <a:cs typeface="Lexend" pitchFamily="34" charset="-120"/>
              </a:rPr>
              <a:t>Concurrencia Profesional</a:t>
            </a:r>
            <a:endParaRPr lang="en-US" sz="3600" dirty="0"/>
          </a:p>
        </p:txBody>
      </p:sp>
      <p:sp>
        <p:nvSpPr>
          <p:cNvPr id="11" name="Text 5"/>
          <p:cNvSpPr/>
          <p:nvPr/>
        </p:nvSpPr>
        <p:spPr>
          <a:xfrm>
            <a:off x="5676900" y="3333800"/>
            <a:ext cx="5905500" cy="2057400"/>
          </a:xfrm>
          <a:prstGeom prst="roundRect">
            <a:avLst>
              <a:gd name="adj" fmla="val 7407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6"/>
          <p:cNvSpPr/>
          <p:nvPr/>
        </p:nvSpPr>
        <p:spPr>
          <a:xfrm>
            <a:off x="5676900" y="3738562"/>
            <a:ext cx="5905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7"/>
          <p:cNvSpPr/>
          <p:nvPr/>
        </p:nvSpPr>
        <p:spPr>
          <a:xfrm>
            <a:off x="11582400" y="3333800"/>
            <a:ext cx="0" cy="205740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8"/>
          <p:cNvSpPr/>
          <p:nvPr/>
        </p:nvSpPr>
        <p:spPr>
          <a:xfrm>
            <a:off x="5676900" y="5386438"/>
            <a:ext cx="5905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9"/>
          <p:cNvSpPr/>
          <p:nvPr/>
        </p:nvSpPr>
        <p:spPr>
          <a:xfrm>
            <a:off x="5676900" y="3333800"/>
            <a:ext cx="0" cy="2057400"/>
          </a:xfrm>
          <a:prstGeom prst="line">
            <a:avLst/>
          </a:prstGeom>
          <a:noFill/>
          <a:ln w="571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2"/>
          <p:cNvSpPr/>
          <p:nvPr/>
        </p:nvSpPr>
        <p:spPr>
          <a:xfrm>
            <a:off x="8477250" y="5696000"/>
            <a:ext cx="9525" cy="381000"/>
          </a:xfrm>
          <a:prstGeom prst="rect">
            <a:avLst/>
          </a:prstGeom>
          <a:solidFill>
            <a:srgbClr val="C9D3E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4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55440" y="519113"/>
            <a:ext cx="235000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&amp;</a:t>
            </a: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Java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1257300" y="823913"/>
            <a:ext cx="2234654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5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4181475"/>
            <a:ext cx="171450" cy="2667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38900" y="4124325"/>
            <a:ext cx="408736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003C84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Gestión</a:t>
            </a:r>
            <a:r>
              <a:rPr lang="en-US" sz="1350" dirty="0">
                <a:solidFill>
                  <a:srgbClr val="003C84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Hilos, Documentación y Empaquetado.</a:t>
            </a:r>
            <a:endParaRPr lang="en-US" sz="1350" dirty="0">
              <a:solidFill>
                <a:srgbClr val="003C84"/>
              </a:solidFill>
            </a:endParaRPr>
          </a:p>
        </p:txBody>
      </p:sp>
      <p:pic>
        <p:nvPicPr>
          <p:cNvPr id="27" name="Image 6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4657725"/>
            <a:ext cx="171450" cy="2667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438900" y="4600575"/>
            <a:ext cx="335584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Dominio de Threads, Javadoc y </a:t>
            </a:r>
            <a:r>
              <a:rPr lang="en-US" sz="13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archivos</a:t>
            </a:r>
            <a:r>
              <a:rPr lang="en-US" sz="13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JAR.</a:t>
            </a:r>
            <a:endParaRPr lang="en-US" sz="1350" dirty="0"/>
          </a:p>
        </p:txBody>
      </p:sp>
      <p:pic>
        <p:nvPicPr>
          <p:cNvPr id="29" name="Image 7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5133975"/>
            <a:ext cx="171450" cy="2667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438900" y="5076825"/>
            <a:ext cx="397764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Soluciones de alto rendimiento para LogiSmart S.A.S.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5440" y="519113"/>
            <a:ext cx="20939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43995" y="1219200"/>
            <a:ext cx="115488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kern="0" spc="540" dirty="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GUÍA DINÁMICA JAVA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43138" y="1562100"/>
            <a:ext cx="11640312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b="1" kern="0" spc="-110" dirty="0" err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Introducción</a:t>
            </a:r>
            <a:r>
              <a:rPr lang="en-US" sz="4050" b="1" kern="0" spc="-110" dirty="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 </a:t>
            </a:r>
            <a:r>
              <a:rPr lang="en-US" sz="4050" b="1" kern="0" spc="-110" dirty="0" err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</a:t>
            </a:r>
            <a:r>
              <a:rPr lang="en-US" sz="4050" b="1" kern="0" spc="-110" dirty="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S.A.S.</a:t>
            </a:r>
            <a:endParaRPr lang="en-US" sz="4050" dirty="0"/>
          </a:p>
        </p:txBody>
      </p:sp>
      <p:sp>
        <p:nvSpPr>
          <p:cNvPr id="9" name="Text 6"/>
          <p:cNvSpPr/>
          <p:nvPr/>
        </p:nvSpPr>
        <p:spPr>
          <a:xfrm>
            <a:off x="5181600" y="2305050"/>
            <a:ext cx="1828800" cy="381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9600" y="2724150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image.png"/>
          <p:cNvPicPr>
            <a:picLocks noChangeAspect="1"/>
          </p:cNvPicPr>
          <p:nvPr/>
        </p:nvPicPr>
        <p:blipFill>
          <a:blip r:embed="rId4"/>
          <a:srcRect r="21292"/>
          <a:stretch/>
        </p:blipFill>
        <p:spPr>
          <a:xfrm>
            <a:off x="619125" y="2733675"/>
            <a:ext cx="2552700" cy="21621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43075" y="5118646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1843088" y="5175796"/>
            <a:ext cx="104775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3518" y="5434304"/>
            <a:ext cx="165506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Perfil</a:t>
            </a:r>
            <a:r>
              <a:rPr lang="en-US" sz="1350" b="1" dirty="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Empresa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71525" y="5739104"/>
            <a:ext cx="2276856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Líder nacional en logística y envíos con alto volumen.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409950" y="2724150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3" descr="image.png"/>
          <p:cNvPicPr>
            <a:picLocks noChangeAspect="1"/>
          </p:cNvPicPr>
          <p:nvPr/>
        </p:nvPicPr>
        <p:blipFill>
          <a:blip r:embed="rId6"/>
          <a:srcRect r="21292"/>
          <a:stretch/>
        </p:blipFill>
        <p:spPr>
          <a:xfrm>
            <a:off x="3419475" y="2733675"/>
            <a:ext cx="2552700" cy="21621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43425" y="5118646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4629150" y="5175796"/>
            <a:ext cx="133350" cy="1905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61876" y="5434304"/>
            <a:ext cx="151790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Situación Actual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3571875" y="5739104"/>
            <a:ext cx="2276856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Crecimiento exponencial saturando capacidad operativa.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210300" y="2724150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5" descr="image.png"/>
          <p:cNvPicPr>
            <a:picLocks noChangeAspect="1"/>
          </p:cNvPicPr>
          <p:nvPr/>
        </p:nvPicPr>
        <p:blipFill>
          <a:blip r:embed="rId8"/>
          <a:srcRect r="21292"/>
          <a:stretch/>
        </p:blipFill>
        <p:spPr>
          <a:xfrm>
            <a:off x="6219825" y="2733675"/>
            <a:ext cx="2552700" cy="21621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43775" y="5194846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6" descr="image.png"/>
          <p:cNvPicPr>
            <a:picLocks noChangeAspect="1"/>
          </p:cNvPicPr>
          <p:nvPr/>
        </p:nvPicPr>
        <p:blipFill>
          <a:blip r:embed="rId9">
            <a:duotone>
              <a:srgbClr val="12284B"/>
              <a:srgbClr val="12284B"/>
            </a:duotone>
          </a:blip>
          <a:srcRect/>
          <a:stretch/>
        </p:blipFill>
        <p:spPr>
          <a:xfrm>
            <a:off x="7439025" y="5251996"/>
            <a:ext cx="114300" cy="1905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742795" y="5510504"/>
            <a:ext cx="155448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Problema Crítico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6388322" y="5815304"/>
            <a:ext cx="224942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Procesamiento secuencial ineficiente y lento.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9010650" y="2724150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7" descr="image.png"/>
          <p:cNvPicPr>
            <a:picLocks noChangeAspect="1"/>
          </p:cNvPicPr>
          <p:nvPr/>
        </p:nvPicPr>
        <p:blipFill>
          <a:blip r:embed="rId10"/>
          <a:srcRect r="11454"/>
          <a:stretch/>
        </p:blipFill>
        <p:spPr>
          <a:xfrm>
            <a:off x="9020175" y="2733675"/>
            <a:ext cx="2552700" cy="216217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144125" y="5118646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8" descr="image.png"/>
          <p:cNvPicPr>
            <a:picLocks noChangeAspect="1"/>
          </p:cNvPicPr>
          <p:nvPr/>
        </p:nvPicPr>
        <p:blipFill>
          <a:blip r:embed="rId11">
            <a:duotone>
              <a:srgbClr val="12284B"/>
              <a:srgbClr val="12284B"/>
            </a:duotone>
          </a:blip>
          <a:srcRect/>
          <a:stretch/>
        </p:blipFill>
        <p:spPr>
          <a:xfrm>
            <a:off x="10210800" y="5175796"/>
            <a:ext cx="171450" cy="1905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654873" y="5434304"/>
            <a:ext cx="133502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Objetivo Meta</a:t>
            </a:r>
            <a:endParaRPr lang="en-US" sz="1350" dirty="0"/>
          </a:p>
        </p:txBody>
      </p:sp>
      <p:sp>
        <p:nvSpPr>
          <p:cNvPr id="33" name="Text 22"/>
          <p:cNvSpPr/>
          <p:nvPr/>
        </p:nvSpPr>
        <p:spPr>
          <a:xfrm>
            <a:off x="9172575" y="5739104"/>
            <a:ext cx="2276856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Transformar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flujos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en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trabajo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dinámico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y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eficiente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8729" y="1066800"/>
            <a:ext cx="11311128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Síndrome del Cuello de Botella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991100" y="1709738"/>
            <a:ext cx="914400" cy="9525"/>
          </a:xfrm>
          <a:prstGeom prst="rect">
            <a:avLst/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57900" y="16764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86500" y="1709738"/>
            <a:ext cx="914400" cy="9525"/>
          </a:xfrm>
          <a:prstGeom prst="rect">
            <a:avLst/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09800"/>
            <a:ext cx="5295900" cy="171450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image.png"/>
          <p:cNvPicPr>
            <a:picLocks noChangeAspect="1"/>
          </p:cNvPicPr>
          <p:nvPr/>
        </p:nvPicPr>
        <p:blipFill>
          <a:blip r:embed="rId3"/>
          <a:srcRect r="41752"/>
          <a:stretch/>
        </p:blipFill>
        <p:spPr>
          <a:xfrm>
            <a:off x="619125" y="2219325"/>
            <a:ext cx="1762125" cy="1695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606576" y="2712244"/>
            <a:ext cx="384048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01.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997101" y="2740819"/>
            <a:ext cx="215798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Retraso en Facturación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08138" y="3052763"/>
            <a:ext cx="3099816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Facturas emitidas con retraso crítico, afectando el flujo operativo central.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9600" y="4152900"/>
            <a:ext cx="5295900" cy="171450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image.png"/>
          <p:cNvPicPr>
            <a:picLocks noChangeAspect="1"/>
          </p:cNvPicPr>
          <p:nvPr/>
        </p:nvPicPr>
        <p:blipFill>
          <a:blip r:embed="rId4"/>
          <a:srcRect r="41741"/>
          <a:stretch/>
        </p:blipFill>
        <p:spPr>
          <a:xfrm>
            <a:off x="619125" y="4162425"/>
            <a:ext cx="1762125" cy="16954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576" y="4655344"/>
            <a:ext cx="384048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02.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997101" y="4683919"/>
            <a:ext cx="204825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Inventario Ineficiente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608138" y="4995863"/>
            <a:ext cx="3099816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Actualización lenta y errores costosos por procesos de datos ineficientes.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286500" y="2209800"/>
            <a:ext cx="5295900" cy="171450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image.png"/>
          <p:cNvPicPr>
            <a:picLocks noChangeAspect="1"/>
          </p:cNvPicPr>
          <p:nvPr/>
        </p:nvPicPr>
        <p:blipFill>
          <a:blip r:embed="rId5"/>
          <a:srcRect r="30677"/>
          <a:stretch/>
        </p:blipFill>
        <p:spPr>
          <a:xfrm>
            <a:off x="9814024" y="2219325"/>
            <a:ext cx="1762125" cy="1695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63670" y="2712244"/>
            <a:ext cx="384048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03.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552122" y="2740819"/>
            <a:ext cx="169164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Rendimiento Java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526337" y="3052763"/>
            <a:ext cx="3099816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Configuraciones obsoletas que perjudican el rendimiento del sistema actual.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86500" y="4152900"/>
            <a:ext cx="5295900" cy="171450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3" descr="image.png"/>
          <p:cNvPicPr>
            <a:picLocks noChangeAspect="1"/>
          </p:cNvPicPr>
          <p:nvPr/>
        </p:nvPicPr>
        <p:blipFill>
          <a:blip r:embed="rId6"/>
          <a:srcRect r="40610"/>
          <a:stretch/>
        </p:blipFill>
        <p:spPr>
          <a:xfrm>
            <a:off x="9814024" y="4162425"/>
            <a:ext cx="1762125" cy="16954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63670" y="4655344"/>
            <a:ext cx="384048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04.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192649" y="4683919"/>
            <a:ext cx="204825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Optimización Integral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526337" y="4995863"/>
            <a:ext cx="3099816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Uso de Threads, Javadoc y JAR para revertir la insatisfacción del cliente.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4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55440" y="519113"/>
            <a:ext cx="20939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1" name="Panel IUB"/>
          <p:cNvSpPr/>
          <p:nvPr/>
        </p:nvSpPr>
        <p:spPr>
          <a:xfrm>
            <a:off x="6699900" y="1556400"/>
            <a:ext cx="5002500" cy="5301600"/>
          </a:xfrm>
          <a:prstGeom prst="roundRect">
            <a:avLst>
              <a:gd name="adj" fmla="val 4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6819900" y="3048000"/>
            <a:ext cx="4762500" cy="4762500"/>
          </a:xfrm>
          <a:prstGeom prst="rect">
            <a:avLst/>
          </a:prstGeom>
        </p:spPr>
      </p:pic>
      <p:pic>
        <p:nvPicPr>
          <p:cNvPr id="5" name="Image 2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609600" y="1695450"/>
            <a:ext cx="152400" cy="1524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40135" y="1676400"/>
            <a:ext cx="9235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ACTIVIDAD 1</a:t>
            </a:r>
            <a:endParaRPr lang="en-US" sz="1050" dirty="0"/>
          </a:p>
        </p:txBody>
      </p:sp>
      <p:sp>
        <p:nvSpPr>
          <p:cNvPr id="7" name="Text 2"/>
          <p:cNvSpPr/>
          <p:nvPr/>
        </p:nvSpPr>
        <p:spPr>
          <a:xfrm>
            <a:off x="609600" y="2019300"/>
            <a:ext cx="4425696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Gran Reto 
</a:t>
            </a:r>
            <a:r>
              <a:rPr lang="en-US" sz="36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del Gerente</a:t>
            </a:r>
            <a:endParaRPr lang="en-US" sz="3600" dirty="0"/>
          </a:p>
        </p:txBody>
      </p:sp>
      <p:sp>
        <p:nvSpPr>
          <p:cNvPr id="8" name="Text 3"/>
          <p:cNvSpPr/>
          <p:nvPr/>
        </p:nvSpPr>
        <p:spPr>
          <a:xfrm>
            <a:off x="609600" y="3067100"/>
            <a:ext cx="4305300" cy="24765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4"/>
          <p:cNvSpPr/>
          <p:nvPr/>
        </p:nvSpPr>
        <p:spPr>
          <a:xfrm>
            <a:off x="609600" y="3067100"/>
            <a:ext cx="0" cy="2476500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5"/>
          <p:cNvSpPr/>
          <p:nvPr/>
        </p:nvSpPr>
        <p:spPr>
          <a:xfrm>
            <a:off x="952500" y="3771900"/>
            <a:ext cx="3703320" cy="11155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 procesa 5,000 pedidos diarios. Con un cálculo secuencial de 5 segundos por pedido, la operación demora casi 7 horas, llevando la CPU al 100%.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2500" y="5114925"/>
            <a:ext cx="923544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5,000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952500" y="5095925"/>
            <a:ext cx="87782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PEDIDOS / DÍA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2085975" y="5114925"/>
            <a:ext cx="9525" cy="457200"/>
          </a:xfrm>
          <a:prstGeom prst="rect">
            <a:avLst/>
          </a:prstGeom>
          <a:solidFill>
            <a:srgbClr val="C9D3E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2400300" y="5114925"/>
            <a:ext cx="89611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7h</a:t>
            </a:r>
            <a:endParaRPr lang="en-US" sz="2250" dirty="0"/>
          </a:p>
        </p:txBody>
      </p:sp>
      <p:sp>
        <p:nvSpPr>
          <p:cNvPr id="15" name="Text 10"/>
          <p:cNvSpPr/>
          <p:nvPr/>
        </p:nvSpPr>
        <p:spPr>
          <a:xfrm>
            <a:off x="2400300" y="5095925"/>
            <a:ext cx="84124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TIEMPO ESPERA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5372100" y="1676400"/>
            <a:ext cx="2990850" cy="1371600"/>
          </a:xfrm>
          <a:prstGeom prst="roundRect">
            <a:avLst>
              <a:gd name="adj" fmla="val 8333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5372100" y="1676400"/>
            <a:ext cx="0" cy="1371600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3"/>
          <p:cNvSpPr/>
          <p:nvPr/>
        </p:nvSpPr>
        <p:spPr>
          <a:xfrm>
            <a:off x="5638800" y="1905000"/>
            <a:ext cx="259689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B07D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¿El Desafío?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638800" y="2247900"/>
            <a:ext cx="2532888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¿Cómo reducimos el tiempo total de operación? Los hilos son esenciales para ganar eficiencia en tareas masivas.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372100" y="3276600"/>
            <a:ext cx="2990850" cy="1181100"/>
          </a:xfrm>
          <a:prstGeom prst="roundRect">
            <a:avLst>
              <a:gd name="adj" fmla="val 9677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5372100" y="3276600"/>
            <a:ext cx="0" cy="1181100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7"/>
          <p:cNvSpPr/>
          <p:nvPr/>
        </p:nvSpPr>
        <p:spPr>
          <a:xfrm>
            <a:off x="5638800" y="3505200"/>
            <a:ext cx="259689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Lluvia de Ideas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791200" y="3848100"/>
            <a:ext cx="2390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ts val="1500"/>
              </a:lnSpc>
              <a:buSzPct val="100000"/>
              <a:buChar char="•"/>
            </a:pPr>
            <a:r>
              <a:rPr lang="en-US" sz="1050">
                <a:solidFill>
                  <a:srgbClr val="3F4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Escalamiento de Hardware</a:t>
            </a:r>
            <a:endParaRPr lang="en-US" sz="1050" dirty="0"/>
          </a:p>
          <a:p>
            <a:pPr marL="152400" indent="-152400" algn="l">
              <a:lnSpc>
                <a:spcPts val="1500"/>
              </a:lnSpc>
              <a:buSzPct val="100000"/>
              <a:buChar char="•"/>
            </a:pPr>
            <a:r>
              <a:rPr lang="en-US" sz="1050">
                <a:solidFill>
                  <a:srgbClr val="3F4A5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Código Inteligente (Concurrencia)</a:t>
            </a:r>
            <a:endParaRPr lang="en-US" sz="1050" dirty="0"/>
          </a:p>
        </p:txBody>
      </p:sp>
      <p:pic>
        <p:nvPicPr>
          <p:cNvPr id="24" name="Image 3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91550" y="1676400"/>
            <a:ext cx="2990850" cy="42862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57300" y="519113"/>
            <a:ext cx="19933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1257300" y="823913"/>
            <a:ext cx="1895475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5791200" y="6000800"/>
            <a:ext cx="3048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172200" y="60008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6324600" y="60008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2" name="Panel IUB"/>
          <p:cNvSpPr/>
          <p:nvPr/>
        </p:nvSpPr>
        <p:spPr>
          <a:xfrm>
            <a:off x="0" y="2928000"/>
            <a:ext cx="3930000" cy="3930000"/>
          </a:xfrm>
          <a:prstGeom prst="roundRect">
            <a:avLst>
              <a:gd name="adj" fmla="val 4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-952500" y="3048000"/>
            <a:ext cx="4762500" cy="4762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171575"/>
            <a:ext cx="4000500" cy="5000625"/>
          </a:xfrm>
          <a:prstGeom prst="roundRect">
            <a:avLst>
              <a:gd name="adj" fmla="val 3810"/>
            </a:avLst>
          </a:prstGeom>
          <a:noFill/>
          <a:ln w="19050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2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2000" y="1019175"/>
            <a:ext cx="4000500" cy="50006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676900" y="533400"/>
            <a:ext cx="6053328" cy="2148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
</a:t>
            </a:r>
            <a:r>
              <a:rPr lang="en-US" sz="4500" b="1" dirty="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Soluciones </a:t>
            </a:r>
            <a:r>
              <a:rPr lang="en-US" sz="4500" b="1" dirty="0" err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</a:t>
            </a:r>
            <a:endParaRPr lang="en-US" sz="4500" dirty="0"/>
          </a:p>
        </p:txBody>
      </p:sp>
      <p:sp>
        <p:nvSpPr>
          <p:cNvPr id="8" name="Text 3"/>
          <p:cNvSpPr/>
          <p:nvPr/>
        </p:nvSpPr>
        <p:spPr>
          <a:xfrm>
            <a:off x="5676900" y="2505125"/>
            <a:ext cx="5905500" cy="2724150"/>
          </a:xfrm>
          <a:prstGeom prst="roundRect">
            <a:avLst>
              <a:gd name="adj" fmla="val 5594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4"/>
          <p:cNvSpPr/>
          <p:nvPr/>
        </p:nvSpPr>
        <p:spPr>
          <a:xfrm>
            <a:off x="5676900" y="2909888"/>
            <a:ext cx="5905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5"/>
          <p:cNvSpPr/>
          <p:nvPr/>
        </p:nvSpPr>
        <p:spPr>
          <a:xfrm>
            <a:off x="11582400" y="2505125"/>
            <a:ext cx="0" cy="272415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6"/>
          <p:cNvSpPr/>
          <p:nvPr/>
        </p:nvSpPr>
        <p:spPr>
          <a:xfrm>
            <a:off x="5676900" y="5224513"/>
            <a:ext cx="5905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7"/>
          <p:cNvSpPr/>
          <p:nvPr/>
        </p:nvSpPr>
        <p:spPr>
          <a:xfrm>
            <a:off x="5676900" y="2505125"/>
            <a:ext cx="0" cy="2724150"/>
          </a:xfrm>
          <a:prstGeom prst="line">
            <a:avLst/>
          </a:prstGeom>
          <a:noFill/>
          <a:ln w="571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8"/>
          <p:cNvSpPr/>
          <p:nvPr/>
        </p:nvSpPr>
        <p:spPr>
          <a:xfrm>
            <a:off x="6038850" y="3219450"/>
            <a:ext cx="295275" cy="485775"/>
          </a:xfrm>
          <a:prstGeom prst="roundRect">
            <a:avLst>
              <a:gd name="adj" fmla="val 25806"/>
            </a:avLst>
          </a:prstGeom>
          <a:solidFill>
            <a:srgbClr val="FFC72C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3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3295650"/>
            <a:ext cx="142875" cy="2667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48425" y="3328988"/>
            <a:ext cx="314553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Optimización de 5,000 pedidos</a:t>
            </a:r>
            <a:endParaRPr lang="en-US" sz="1500" dirty="0"/>
          </a:p>
        </p:txBody>
      </p:sp>
      <p:pic>
        <p:nvPicPr>
          <p:cNvPr id="16" name="Image 4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6038850" y="3901678"/>
            <a:ext cx="85725" cy="190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24575" y="3858816"/>
            <a:ext cx="5294376" cy="310896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¿Comprar computadores más potentes?</a:t>
            </a:r>
            <a:endParaRPr lang="en-US" sz="1350" dirty="0"/>
          </a:p>
        </p:txBody>
      </p:sp>
      <p:pic>
        <p:nvPicPr>
          <p:cNvPr id="18" name="Image 5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6038850" y="4294584"/>
            <a:ext cx="85725" cy="190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24575" y="4251722"/>
            <a:ext cx="5294376" cy="310896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¿Contratar más empleados administrativos?</a:t>
            </a:r>
            <a:endParaRPr lang="en-US" sz="1350" dirty="0"/>
          </a:p>
        </p:txBody>
      </p:sp>
      <p:pic>
        <p:nvPicPr>
          <p:cNvPr id="20" name="Image 6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6038850" y="4687491"/>
            <a:ext cx="85725" cy="1905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124575" y="4644628"/>
            <a:ext cx="5294376" cy="310896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¿Dividir el trabajo en pequeños grupos?</a:t>
            </a:r>
            <a:endParaRPr lang="en-US" sz="1350" dirty="0"/>
          </a:p>
        </p:txBody>
      </p:sp>
      <p:pic>
        <p:nvPicPr>
          <p:cNvPr id="22" name="Image 7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6038850" y="5080397"/>
            <a:ext cx="133350" cy="1905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172200" y="5037534"/>
            <a:ext cx="5248656" cy="310896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b="1">
                <a:solidFill>
                  <a:srgbClr val="B07D00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¿Automatizar y ejecutar tareas simultáneamente?</a:t>
            </a:r>
            <a:endParaRPr lang="en-US" sz="1350" dirty="0"/>
          </a:p>
        </p:txBody>
      </p:sp>
      <p:sp>
        <p:nvSpPr>
          <p:cNvPr id="24" name="Text 14"/>
          <p:cNvSpPr/>
          <p:nvPr/>
        </p:nvSpPr>
        <p:spPr>
          <a:xfrm>
            <a:off x="5676900" y="5534075"/>
            <a:ext cx="139903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kern="0" spc="-6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Java</a:t>
            </a:r>
            <a:endParaRPr lang="en-US" sz="2250" dirty="0"/>
          </a:p>
        </p:txBody>
      </p:sp>
      <p:sp>
        <p:nvSpPr>
          <p:cNvPr id="25" name="Text 15"/>
          <p:cNvSpPr/>
          <p:nvPr/>
        </p:nvSpPr>
        <p:spPr>
          <a:xfrm>
            <a:off x="5676900" y="5876975"/>
            <a:ext cx="13350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>
                <a:solidFill>
                  <a:srgbClr val="2E5FA3">
                    <a:alpha val="90000"/>
                  </a:srgbClr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THREADS &amp; CONCURRENCIA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7353300" y="5534075"/>
            <a:ext cx="9525" cy="381000"/>
          </a:xfrm>
          <a:prstGeom prst="rect">
            <a:avLst/>
          </a:prstGeom>
          <a:solidFill>
            <a:srgbClr val="C9D3E0">
              <a:alpha val="9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7"/>
          <p:cNvSpPr/>
          <p:nvPr/>
        </p:nvSpPr>
        <p:spPr>
          <a:xfrm>
            <a:off x="7741444" y="5534075"/>
            <a:ext cx="11338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kern="0" spc="-6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5K</a:t>
            </a:r>
            <a:endParaRPr lang="en-US" sz="2250" dirty="0"/>
          </a:p>
        </p:txBody>
      </p:sp>
      <p:sp>
        <p:nvSpPr>
          <p:cNvPr id="28" name="Text 18"/>
          <p:cNvSpPr/>
          <p:nvPr/>
        </p:nvSpPr>
        <p:spPr>
          <a:xfrm>
            <a:off x="7741444" y="5876975"/>
            <a:ext cx="107899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>
                <a:solidFill>
                  <a:srgbClr val="2E5FA3">
                    <a:alpha val="90000"/>
                  </a:srgbClr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OBJETIVO DE PEDIDOS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8" descr="image.png"/>
          <p:cNvPicPr>
            <a:picLocks noChangeAspect="1"/>
          </p:cNvPicPr>
          <p:nvPr/>
        </p:nvPicPr>
        <p:blipFill>
          <a:blip r:embed="rId8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255440" y="519113"/>
            <a:ext cx="18379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 </a:t>
            </a:r>
            <a:r>
              <a:rPr lang="en-US" sz="1800" b="1" kern="0" spc="4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S.A.S.</a:t>
            </a:r>
            <a:endParaRPr lang="en-US" sz="1800" dirty="0"/>
          </a:p>
        </p:txBody>
      </p:sp>
      <p:sp>
        <p:nvSpPr>
          <p:cNvPr id="32" name="Text 21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10325"/>
            <a:ext cx="234086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kern="0" spc="7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GUÍA DINÁMICA JAVA: THREADS, JAVADOC Y JAR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8443" y="1219200"/>
            <a:ext cx="11338560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12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Introducción a la Concurrencia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638800" y="2019300"/>
            <a:ext cx="914400" cy="38100"/>
          </a:xfrm>
          <a:prstGeom prst="roundRect">
            <a:avLst>
              <a:gd name="adj" fmla="val 100000"/>
            </a:avLst>
          </a:prstGeom>
          <a:solidFill>
            <a:srgbClr val="FFC72C">
              <a:alpha val="8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438400"/>
            <a:ext cx="5257800" cy="381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2447925"/>
            <a:ext cx="5238750" cy="1895475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 b="31389"/>
          <a:stretch/>
        </p:blipFill>
        <p:spPr>
          <a:xfrm>
            <a:off x="619125" y="2447925"/>
            <a:ext cx="5238750" cy="1895475"/>
          </a:xfrm>
          <a:prstGeom prst="rect">
            <a:avLst/>
          </a:prstGeom>
        </p:spPr>
      </p:pic>
      <p:pic>
        <p:nvPicPr>
          <p:cNvPr id="9" name="Image 1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923925" y="4667250"/>
            <a:ext cx="171450" cy="266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9675" y="4648200"/>
            <a:ext cx="2606040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Concepto y Ejecución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06780" y="5057825"/>
            <a:ext cx="466344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Gestión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múltiples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tareas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(facturas,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inventarios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)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un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mismo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intervalo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. A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diferencia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del modo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secuencial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,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optimiza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recursos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sin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esperar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cierres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procesos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previos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315075" y="2743200"/>
            <a:ext cx="5257800" cy="381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334125" y="2447925"/>
            <a:ext cx="5238750" cy="1895475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image.png"/>
          <p:cNvPicPr>
            <a:picLocks noChangeAspect="1"/>
          </p:cNvPicPr>
          <p:nvPr/>
        </p:nvPicPr>
        <p:blipFill>
          <a:blip r:embed="rId5"/>
          <a:srcRect b="35182"/>
          <a:stretch/>
        </p:blipFill>
        <p:spPr>
          <a:xfrm>
            <a:off x="6334125" y="2447925"/>
            <a:ext cx="5238750" cy="1895475"/>
          </a:xfrm>
          <a:prstGeom prst="rect">
            <a:avLst/>
          </a:prstGeom>
        </p:spPr>
      </p:pic>
      <p:pic>
        <p:nvPicPr>
          <p:cNvPr id="15" name="Image 3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6638925" y="4667250"/>
            <a:ext cx="171450" cy="2667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24675" y="4648200"/>
            <a:ext cx="2386584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Ventajas Logísticas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697980" y="5057825"/>
            <a:ext cx="466344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Implementar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hilos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reduce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tiempos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respuesta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y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aumenta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la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escalabilidad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.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Permite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una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ejecución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estructurada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vital para la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eficiencia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operativa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.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709613" y="533400"/>
            <a:ext cx="257175" cy="304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55440" y="519113"/>
            <a:ext cx="20939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286000"/>
            <a:ext cx="5524500" cy="3429000"/>
          </a:xfrm>
          <a:prstGeom prst="roundRect">
            <a:avLst>
              <a:gd name="adj" fmla="val 4444"/>
            </a:avLst>
          </a:prstGeom>
          <a:noFill/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3"/>
          <a:srcRect b="7093"/>
          <a:stretch/>
        </p:blipFill>
        <p:spPr>
          <a:xfrm>
            <a:off x="619125" y="2295525"/>
            <a:ext cx="5505450" cy="34099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7725" y="5295900"/>
            <a:ext cx="2466975" cy="257175"/>
          </a:xfrm>
          <a:prstGeom prst="roundRect">
            <a:avLst>
              <a:gd name="adj" fmla="val 100000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847725" y="5295900"/>
            <a:ext cx="2496312" cy="265176"/>
          </a:xfrm>
          <a:prstGeom prst="rect">
            <a:avLst/>
          </a:prstGeom>
          <a:noFill/>
          <a:ln/>
        </p:spPr>
        <p:txBody>
          <a:bodyPr vert="horz" wrap="square" lIns="114300" tIns="57150" rIns="114300" bIns="5715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kern="0" spc="70">
                <a:solidFill>
                  <a:srgbClr val="12284B">
                    <a:alpha val="70000"/>
                  </a:srgbClr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SIMULACIÓN DE PROCESAMIENTO LOGÍSTICO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6286500" y="2362200"/>
            <a:ext cx="5295900" cy="3457575"/>
          </a:xfrm>
          <a:prstGeom prst="roundRect">
            <a:avLst>
              <a:gd name="adj" fmla="val 4408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6286500" y="2366963"/>
            <a:ext cx="52959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5"/>
          <p:cNvSpPr/>
          <p:nvPr/>
        </p:nvSpPr>
        <p:spPr>
          <a:xfrm>
            <a:off x="11582400" y="2362200"/>
            <a:ext cx="0" cy="3457575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6"/>
          <p:cNvSpPr/>
          <p:nvPr/>
        </p:nvSpPr>
        <p:spPr>
          <a:xfrm>
            <a:off x="6286500" y="5815013"/>
            <a:ext cx="52959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6286500" y="2362200"/>
            <a:ext cx="0" cy="3457575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/>
          <p:nvPr/>
        </p:nvSpPr>
        <p:spPr>
          <a:xfrm>
            <a:off x="6629400" y="26765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C72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6700838" y="2733675"/>
            <a:ext cx="238125" cy="2667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22319" y="2733675"/>
            <a:ext cx="236829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Definición y Eficiencia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629400" y="3286125"/>
            <a:ext cx="4681728" cy="11155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Un Thread es la unidad mínima de procesamiento para ejecución paralela en Java. Permite a LogiSmart S.A.S. superar el bloqueo secuencial mediante Virtual Threads, optimizando recursos como trabajadores en un almacén global.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629400" y="4710112"/>
            <a:ext cx="4638675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2"/>
          <p:cNvSpPr/>
          <p:nvPr/>
        </p:nvSpPr>
        <p:spPr>
          <a:xfrm>
            <a:off x="6627019" y="4943475"/>
            <a:ext cx="235000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kern="0" spc="-1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Paralelo</a:t>
            </a:r>
            <a:endParaRPr lang="en-US" sz="2700" dirty="0"/>
          </a:p>
        </p:txBody>
      </p:sp>
      <p:sp>
        <p:nvSpPr>
          <p:cNvPr id="18" name="Text 13"/>
          <p:cNvSpPr/>
          <p:nvPr/>
        </p:nvSpPr>
        <p:spPr>
          <a:xfrm>
            <a:off x="6627019" y="5362575"/>
            <a:ext cx="228600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EJECUCIÓN SIMULTÁNEA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060656" y="4943475"/>
            <a:ext cx="235000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kern="0" spc="-1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Virtual</a:t>
            </a:r>
            <a:endParaRPr lang="en-US" sz="2700" dirty="0"/>
          </a:p>
        </p:txBody>
      </p:sp>
      <p:sp>
        <p:nvSpPr>
          <p:cNvPr id="20" name="Text 15"/>
          <p:cNvSpPr/>
          <p:nvPr/>
        </p:nvSpPr>
        <p:spPr>
          <a:xfrm>
            <a:off x="9060656" y="5362575"/>
            <a:ext cx="228600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GESTIÓN EFICIENTE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1654874" y="914400"/>
            <a:ext cx="8997696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600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TEMA 1: </a:t>
            </a:r>
            <a:r>
              <a:rPr lang="en-US" sz="3600" kern="0" spc="-9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Hilos (Threads)</a:t>
            </a:r>
            <a:r>
              <a:rPr lang="en-US" sz="3600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- Conceptos Base</a:t>
            </a:r>
            <a:endParaRPr lang="en-US" sz="3600" dirty="0"/>
          </a:p>
        </p:txBody>
      </p:sp>
      <p:sp>
        <p:nvSpPr>
          <p:cNvPr id="22" name="Text 17"/>
          <p:cNvSpPr/>
          <p:nvPr/>
        </p:nvSpPr>
        <p:spPr>
          <a:xfrm>
            <a:off x="4286250" y="1781175"/>
            <a:ext cx="609600" cy="19050"/>
          </a:xfrm>
          <a:prstGeom prst="rect">
            <a:avLst/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5048250" y="1714500"/>
            <a:ext cx="2167128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45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GUÍA DINÁMICA JAVA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296150" y="1781175"/>
            <a:ext cx="609600" cy="19050"/>
          </a:xfrm>
          <a:prstGeom prst="rect">
            <a:avLst/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55440" y="519113"/>
            <a:ext cx="202082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kern="0" spc="4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738188" y="533400"/>
            <a:ext cx="200025" cy="304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57300" y="519113"/>
            <a:ext cx="19933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57300" y="823913"/>
            <a:ext cx="1895475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09600" y="1443038"/>
            <a:ext cx="304800" cy="9525"/>
          </a:xfrm>
          <a:prstGeom prst="rect">
            <a:avLst/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914400" y="1371600"/>
            <a:ext cx="10917936" cy="18288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270">
                <a:solidFill>
                  <a:srgbClr val="2E5FA3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GUÍA DINÁMICA JAVA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09600" y="1600200"/>
            <a:ext cx="11311128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Analogía del Mundo Real: El Restaurante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609600" y="2530098"/>
            <a:ext cx="3505200" cy="342900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923925" y="28289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2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1033462" y="2924175"/>
            <a:ext cx="238125" cy="2667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3925" y="4293394"/>
            <a:ext cx="297180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ESCENARIO A: SECUENCIAL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923925" y="4521994"/>
            <a:ext cx="2999232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Cocinero Solitario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923925" y="4980384"/>
            <a:ext cx="2916936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Un solo empleado para 20 mesas. Debe tomar pedidos, cocinar y servir uno a uno. Clientes frustrados.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343400" y="2514600"/>
            <a:ext cx="3505200" cy="342900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657725" y="28289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3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4767263" y="2924175"/>
            <a:ext cx="238125" cy="2667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657725" y="4293394"/>
            <a:ext cx="297180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ESCENARIO B: THREADS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657725" y="4521994"/>
            <a:ext cx="2999232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Equipo LogiSmart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4657725" y="4980384"/>
            <a:ext cx="2916936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Cuatro cocineros especializados en paralelo. Mientras uno cocina, otro emplata y otro sirve pedidos.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8077200" y="2514600"/>
            <a:ext cx="3505200" cy="342900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8391525" y="28289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8524875" y="2924175"/>
            <a:ext cx="190500" cy="2667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391525" y="4510088"/>
            <a:ext cx="297180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391525" y="4738688"/>
            <a:ext cx="2999232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Eficiencia Total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8391525" y="5193506"/>
            <a:ext cx="2916936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Optimización de recursos y mayor satisfacción. Reduce cuellos de botella y la latencia del sistema.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952500" y="-1905000"/>
            <a:ext cx="7620000" cy="7620000"/>
          </a:xfrm>
          <a:prstGeom prst="roundRect">
            <a:avLst>
              <a:gd name="adj" fmla="val 100000"/>
            </a:avLst>
          </a:prstGeom>
          <a:solidFill>
            <a:srgbClr val="FFC72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038350"/>
            <a:ext cx="4305300" cy="400050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125" y="2047875"/>
            <a:ext cx="4286250" cy="3981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76900" y="135255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69335" y="1295400"/>
            <a:ext cx="191109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20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CONTEXTO OPERATIVO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76900" y="1714500"/>
            <a:ext cx="6025896" cy="1719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
</a:t>
            </a:r>
            <a:r>
              <a:rPr lang="en-US" sz="3600" b="1" dirty="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¿Por </a:t>
            </a:r>
            <a:r>
              <a:rPr lang="en-US" sz="3600" b="1" dirty="0" err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qué</a:t>
            </a:r>
            <a:r>
              <a:rPr lang="en-US" sz="3600" b="1" dirty="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la Concurrencia?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676900" y="3333800"/>
            <a:ext cx="5905500" cy="2209800"/>
          </a:xfrm>
          <a:prstGeom prst="roundRect">
            <a:avLst>
              <a:gd name="adj" fmla="val 6897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676900" y="3738562"/>
            <a:ext cx="5905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11582400" y="3333800"/>
            <a:ext cx="0" cy="220980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5676900" y="5538838"/>
            <a:ext cx="5905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5676900" y="3333800"/>
            <a:ext cx="0" cy="2209800"/>
          </a:xfrm>
          <a:prstGeom prst="line">
            <a:avLst/>
          </a:prstGeom>
          <a:noFill/>
          <a:ln w="571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5753100" y="5848400"/>
            <a:ext cx="131673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Paralelo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5753100" y="6229400"/>
            <a:ext cx="128016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kern="0" spc="4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EFICIENCIA TOTAL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53300" y="5848400"/>
            <a:ext cx="9525" cy="381000"/>
          </a:xfrm>
          <a:prstGeom prst="rect">
            <a:avLst/>
          </a:prstGeom>
          <a:solidFill>
            <a:srgbClr val="C9D3E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743825" y="5848400"/>
            <a:ext cx="149961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Escalable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7743825" y="6229400"/>
            <a:ext cx="145389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kern="0" spc="4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VISIÓN LOGISMART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55440" y="519113"/>
            <a:ext cx="18379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 </a:t>
            </a:r>
            <a:r>
              <a:rPr lang="en-US" sz="1800" b="1" kern="0" spc="4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S.A.S.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4181475"/>
            <a:ext cx="171450" cy="2667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38900" y="4124325"/>
            <a:ext cx="451713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¿Cómo maneja un banco miles de transacciones al segundo?</a:t>
            </a:r>
            <a:endParaRPr lang="en-US" sz="1350" dirty="0"/>
          </a:p>
        </p:txBody>
      </p:sp>
      <p:pic>
        <p:nvPicPr>
          <p:cNvPr id="26" name="Image 3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4733925"/>
            <a:ext cx="171450" cy="2667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38900" y="4676775"/>
            <a:ext cx="417880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¿Cómo gestionan las aerolíneas las reservas mundiales?</a:t>
            </a:r>
            <a:endParaRPr lang="en-US" sz="1350" dirty="0"/>
          </a:p>
        </p:txBody>
      </p:sp>
      <p:pic>
        <p:nvPicPr>
          <p:cNvPr id="28" name="Image 4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5286375"/>
            <a:ext cx="171450" cy="2667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438900" y="5229225"/>
            <a:ext cx="465429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¿Qué pasaría si LogiSmart usara un solo hilo para todo el país?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09600" y="6086525"/>
            <a:ext cx="180136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>
                <a:solidFill>
                  <a:srgbClr val="3F4A5A">
                    <a:alpha val="50000"/>
                  </a:srgbClr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Guía Dinámica Java: Threads, Javadoc y JAR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9715500" y="6086525"/>
            <a:ext cx="192938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>
                <a:solidFill>
                  <a:srgbClr val="3F4A5A">
                    <a:alpha val="50000"/>
                  </a:srgbClr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© 2024 LogiSmart S.A.S. - Educación Tecnológica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609600" y="381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704850" y="438150"/>
            <a:ext cx="190500" cy="266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43000" y="447675"/>
            <a:ext cx="146304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 </a:t>
            </a:r>
            <a:r>
              <a:rPr lang="en-US" sz="15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S.A.S.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143000" y="676275"/>
            <a:ext cx="1381125" cy="19050"/>
          </a:xfrm>
          <a:prstGeom prst="rect">
            <a:avLst/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344043" y="990600"/>
            <a:ext cx="1154887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kern="0" spc="36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ACTIVIDAD PRÁCTICA DE JAVA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3186" y="1257300"/>
            <a:ext cx="11631168" cy="685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875"/>
              </a:lnSpc>
              <a:buNone/>
            </a:pPr>
            <a:r>
              <a:rPr lang="en-US" sz="39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Dinámica Grupal: </a:t>
            </a:r>
            <a:r>
              <a:rPr lang="en-US" sz="39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Tarjetas de Hilos</a:t>
            </a:r>
            <a:endParaRPr lang="en-US" sz="3900" dirty="0"/>
          </a:p>
        </p:txBody>
      </p:sp>
      <p:sp>
        <p:nvSpPr>
          <p:cNvPr id="12" name="Text 7"/>
          <p:cNvSpPr/>
          <p:nvPr/>
        </p:nvSpPr>
        <p:spPr>
          <a:xfrm>
            <a:off x="5486400" y="2028825"/>
            <a:ext cx="1219200" cy="38100"/>
          </a:xfrm>
          <a:prstGeom prst="roundRect">
            <a:avLst>
              <a:gd name="adj" fmla="val 100000"/>
            </a:avLst>
          </a:prstGeom>
          <a:solidFill>
            <a:srgbClr val="FFC72C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09600" y="2371725"/>
            <a:ext cx="2571750" cy="361950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3" descr="image.png"/>
          <p:cNvPicPr>
            <a:picLocks noChangeAspect="1"/>
          </p:cNvPicPr>
          <p:nvPr/>
        </p:nvPicPr>
        <p:blipFill>
          <a:blip r:embed="rId4"/>
          <a:srcRect r="33590"/>
          <a:stretch/>
        </p:blipFill>
        <p:spPr>
          <a:xfrm>
            <a:off x="619125" y="2381250"/>
            <a:ext cx="2552700" cy="21621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43075" y="4842421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4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1809750" y="4899571"/>
            <a:ext cx="171450" cy="190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25509" y="5223421"/>
            <a:ext cx="178308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Asignación de Roles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792480" y="5551636"/>
            <a:ext cx="224028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Facturación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,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Inventario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, Correo y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Estadísticas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3409950" y="2371725"/>
            <a:ext cx="2571750" cy="361950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5" descr="image.png"/>
          <p:cNvPicPr>
            <a:picLocks noChangeAspect="1"/>
          </p:cNvPicPr>
          <p:nvPr/>
        </p:nvPicPr>
        <p:blipFill>
          <a:blip r:embed="rId6"/>
          <a:srcRect r="21292"/>
          <a:stretch/>
        </p:blipFill>
        <p:spPr>
          <a:xfrm>
            <a:off x="3419475" y="2381250"/>
            <a:ext cx="2552700" cy="21621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543425" y="4766221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6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4643438" y="4823371"/>
            <a:ext cx="104775" cy="1905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840432" y="5147221"/>
            <a:ext cx="175564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Ronda 1: Secuencial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3557397" y="5538461"/>
            <a:ext cx="2276856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Uno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tras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otro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,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generando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cuellos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botella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críticos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6210300" y="2371725"/>
            <a:ext cx="2571750" cy="361950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7" descr="image.png"/>
          <p:cNvPicPr>
            <a:picLocks noChangeAspect="1"/>
          </p:cNvPicPr>
          <p:nvPr/>
        </p:nvPicPr>
        <p:blipFill>
          <a:blip r:embed="rId8"/>
          <a:srcRect r="39434"/>
          <a:stretch/>
        </p:blipFill>
        <p:spPr>
          <a:xfrm>
            <a:off x="6219825" y="2381250"/>
            <a:ext cx="2552700" cy="216217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343775" y="4766221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8" descr="image.png"/>
          <p:cNvPicPr>
            <a:picLocks noChangeAspect="1"/>
          </p:cNvPicPr>
          <p:nvPr/>
        </p:nvPicPr>
        <p:blipFill>
          <a:blip r:embed="rId9">
            <a:duotone>
              <a:srgbClr val="12284B"/>
              <a:srgbClr val="12284B"/>
            </a:duotone>
          </a:blip>
          <a:srcRect/>
          <a:stretch/>
        </p:blipFill>
        <p:spPr>
          <a:xfrm>
            <a:off x="7439025" y="4823371"/>
            <a:ext cx="114300" cy="1905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616494" y="5147221"/>
            <a:ext cx="181051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Ronda 2: Simultánea</a:t>
            </a:r>
            <a:endParaRPr lang="en-US" sz="1350" dirty="0"/>
          </a:p>
        </p:txBody>
      </p:sp>
      <p:sp>
        <p:nvSpPr>
          <p:cNvPr id="30" name="Text 19"/>
          <p:cNvSpPr/>
          <p:nvPr/>
        </p:nvSpPr>
        <p:spPr>
          <a:xfrm>
            <a:off x="6372225" y="5551210"/>
            <a:ext cx="2276856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Todos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actúan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al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mismo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tiempo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optimizando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el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flujo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9010650" y="2371725"/>
            <a:ext cx="2571750" cy="361950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9" descr="image.png"/>
          <p:cNvPicPr>
            <a:picLocks noChangeAspect="1"/>
          </p:cNvPicPr>
          <p:nvPr/>
        </p:nvPicPr>
        <p:blipFill>
          <a:blip r:embed="rId10"/>
          <a:srcRect r="33829"/>
          <a:stretch/>
        </p:blipFill>
        <p:spPr>
          <a:xfrm>
            <a:off x="9020175" y="2381250"/>
            <a:ext cx="2552700" cy="216217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10144125" y="4842421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10" descr="image.png"/>
          <p:cNvPicPr>
            <a:picLocks noChangeAspect="1"/>
          </p:cNvPicPr>
          <p:nvPr/>
        </p:nvPicPr>
        <p:blipFill>
          <a:blip r:embed="rId11">
            <a:duotone>
              <a:srgbClr val="12284B"/>
              <a:srgbClr val="12284B"/>
            </a:duotone>
          </a:blip>
          <a:srcRect/>
          <a:stretch/>
        </p:blipFill>
        <p:spPr>
          <a:xfrm>
            <a:off x="10229850" y="4899571"/>
            <a:ext cx="133350" cy="19050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9455706" y="5223421"/>
            <a:ext cx="172821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Liderazgo Logístico</a:t>
            </a:r>
            <a:endParaRPr lang="en-US" sz="1350" dirty="0"/>
          </a:p>
        </p:txBody>
      </p:sp>
      <p:sp>
        <p:nvSpPr>
          <p:cNvPr id="36" name="Text 23"/>
          <p:cNvSpPr/>
          <p:nvPr/>
        </p:nvSpPr>
        <p:spPr>
          <a:xfrm>
            <a:off x="9176385" y="5566871"/>
            <a:ext cx="224028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La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concurrencia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Java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transforma</a:t>
            </a:r>
            <a:r>
              <a:rPr lang="en-US" sz="9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a </a:t>
            </a:r>
            <a:r>
              <a:rPr lang="en-US" sz="9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98872" y="1066800"/>
            <a:ext cx="11301984" cy="4480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kern="0" spc="-8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Reto 1: Definición de Tareas en LogiSmart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4991100" y="1652588"/>
            <a:ext cx="914400" cy="9525"/>
          </a:xfrm>
          <a:prstGeom prst="rect">
            <a:avLst/>
          </a:prstGeom>
          <a:solidFill>
            <a:srgbClr val="C9D3E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57900" y="161925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286500" y="1652588"/>
            <a:ext cx="914400" cy="9525"/>
          </a:xfrm>
          <a:prstGeom prst="rect">
            <a:avLst/>
          </a:prstGeom>
          <a:solidFill>
            <a:srgbClr val="C9D3E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99539" y="1771650"/>
            <a:ext cx="1122883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Optimización de procesos independientes mediante hilos Java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9600" y="2343150"/>
            <a:ext cx="5295900" cy="1619250"/>
          </a:xfrm>
          <a:prstGeom prst="roundRect">
            <a:avLst>
              <a:gd name="adj" fmla="val 14118"/>
            </a:avLst>
          </a:prstGeom>
          <a:solidFill>
            <a:srgbClr val="F2F5FA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3"/>
          <a:srcRect r="26407"/>
          <a:stretch/>
        </p:blipFill>
        <p:spPr>
          <a:xfrm>
            <a:off x="619125" y="2352675"/>
            <a:ext cx="1762125" cy="1600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576" y="2797969"/>
            <a:ext cx="265176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882801" y="2826544"/>
            <a:ext cx="181965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Factura Electrónica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608138" y="3138488"/>
            <a:ext cx="3099816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Generación automática de facturas para optimizar el flujo financiero.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09600" y="4191000"/>
            <a:ext cx="5295900" cy="1619250"/>
          </a:xfrm>
          <a:prstGeom prst="roundRect">
            <a:avLst>
              <a:gd name="adj" fmla="val 14118"/>
            </a:avLst>
          </a:prstGeom>
          <a:solidFill>
            <a:srgbClr val="F2F5FA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image.png"/>
          <p:cNvPicPr>
            <a:picLocks noChangeAspect="1"/>
          </p:cNvPicPr>
          <p:nvPr/>
        </p:nvPicPr>
        <p:blipFill>
          <a:blip r:embed="rId4"/>
          <a:srcRect b="9189"/>
          <a:stretch/>
        </p:blipFill>
        <p:spPr>
          <a:xfrm>
            <a:off x="619125" y="4200525"/>
            <a:ext cx="1762125" cy="1600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06576" y="4645819"/>
            <a:ext cx="274320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B.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892326" y="4674394"/>
            <a:ext cx="151790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Actualizar Stock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2608138" y="4986338"/>
            <a:ext cx="3099816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Sincronización inmediata de inventarios en la bodega central.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286500" y="2343150"/>
            <a:ext cx="5295900" cy="1619250"/>
          </a:xfrm>
          <a:prstGeom prst="roundRect">
            <a:avLst>
              <a:gd name="adj" fmla="val 14118"/>
            </a:avLst>
          </a:prstGeom>
          <a:solidFill>
            <a:srgbClr val="F2F5FA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image.png"/>
          <p:cNvPicPr>
            <a:picLocks noChangeAspect="1"/>
          </p:cNvPicPr>
          <p:nvPr/>
        </p:nvPicPr>
        <p:blipFill>
          <a:blip r:embed="rId5"/>
          <a:srcRect r="26587"/>
          <a:stretch/>
        </p:blipFill>
        <p:spPr>
          <a:xfrm>
            <a:off x="9814024" y="2352675"/>
            <a:ext cx="1762125" cy="1600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80256" y="2797969"/>
            <a:ext cx="265176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C.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831586" y="2826544"/>
            <a:ext cx="152704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Notificar Cliente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526337" y="3138488"/>
            <a:ext cx="3099816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Envío de confirmaciones vía email al completar transacciones.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286500" y="4191000"/>
            <a:ext cx="5295900" cy="1619250"/>
          </a:xfrm>
          <a:prstGeom prst="roundRect">
            <a:avLst>
              <a:gd name="adj" fmla="val 14118"/>
            </a:avLst>
          </a:prstGeom>
          <a:solidFill>
            <a:srgbClr val="F2F5FA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4" descr="image.png"/>
          <p:cNvPicPr>
            <a:picLocks noChangeAspect="1"/>
          </p:cNvPicPr>
          <p:nvPr/>
        </p:nvPicPr>
        <p:blipFill>
          <a:blip r:embed="rId6"/>
          <a:srcRect r="38285"/>
          <a:stretch/>
        </p:blipFill>
        <p:spPr>
          <a:xfrm>
            <a:off x="9814024" y="4200525"/>
            <a:ext cx="1762125" cy="1600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70540" y="4645819"/>
            <a:ext cx="274320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D.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7375148" y="4674394"/>
            <a:ext cx="197510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Estadísticas de Venta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526337" y="4986338"/>
            <a:ext cx="3099816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Registro concurrente de datos para análisis operativo eficiente.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5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57300" y="538163"/>
            <a:ext cx="173736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500" b="1" kern="0" spc="30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1257300" y="804863"/>
            <a:ext cx="1647825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231928" y="581025"/>
            <a:ext cx="95250" cy="9525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443413" y="533400"/>
            <a:ext cx="341071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41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TEMA 2: JAVA CONCURRENCY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864822" y="581025"/>
            <a:ext cx="95250" cy="9525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737170" y="952500"/>
            <a:ext cx="8860536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12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Desafío de la </a:t>
            </a:r>
            <a:r>
              <a:rPr lang="en-US" sz="4500" b="1" kern="0" spc="-12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Sincronización</a:t>
            </a:r>
            <a:endParaRPr lang="en-US" sz="4500" dirty="0"/>
          </a:p>
        </p:txBody>
      </p:sp>
      <p:sp>
        <p:nvSpPr>
          <p:cNvPr id="9" name="Text 5"/>
          <p:cNvSpPr/>
          <p:nvPr/>
        </p:nvSpPr>
        <p:spPr>
          <a:xfrm>
            <a:off x="1333500" y="1905000"/>
            <a:ext cx="9525000" cy="3209925"/>
          </a:xfrm>
          <a:prstGeom prst="roundRect">
            <a:avLst>
              <a:gd name="adj" fmla="val 7122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1343025" y="1914525"/>
            <a:ext cx="76200" cy="3190875"/>
          </a:xfrm>
          <a:prstGeom prst="rect">
            <a:avLst/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721644" y="2295525"/>
            <a:ext cx="412394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Condición de Carrera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721644" y="2676525"/>
            <a:ext cx="4032504" cy="7498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50"/>
              </a:lnSpc>
              <a:buNone/>
            </a:pPr>
            <a:r>
              <a:rPr lang="en-US" sz="12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Surge cuando múltiples hilos modifican datos compartidos a la vez, provocando errores críticos de integridad. Sin control, el sistema genera resultados inconsistentes e impredecibles.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91238" y="2295525"/>
            <a:ext cx="9525" cy="1123950"/>
          </a:xfrm>
          <a:prstGeom prst="rect">
            <a:avLst/>
          </a:prstGeom>
          <a:solidFill>
            <a:srgbClr val="C9D3E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479381" y="2295525"/>
            <a:ext cx="412394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Integridad de Datos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79381" y="2676525"/>
            <a:ext cx="4032504" cy="7498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50"/>
              </a:lnSpc>
              <a:buNone/>
            </a:pPr>
            <a:r>
              <a:rPr lang="en-US" sz="12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En LogiSmart, si dos procesos descuentan el mismo producto, el inventario fallará. Es vital asegurar un acceso seguro al estado compartido para evitar inconsistencias operativas.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724025" y="3729038"/>
            <a:ext cx="874395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2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1724025" y="3962400"/>
            <a:ext cx="190500" cy="2667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66925" y="4000500"/>
            <a:ext cx="82387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i="1">
                <a:solidFill>
                  <a:srgbClr val="B07D00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Analogía:</a:t>
            </a: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Imagina dos cajeros retirando el último gramo de oro a la vez; sin sincronización, el sistema permitiría un saldo negativo inexistente.</a:t>
            </a:r>
            <a:endParaRPr lang="en-US" sz="1050" dirty="0"/>
          </a:p>
        </p:txBody>
      </p:sp>
      <p:pic>
        <p:nvPicPr>
          <p:cNvPr id="19" name="Image 3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1724025" y="4457700"/>
            <a:ext cx="171450" cy="2667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70782" y="4514850"/>
            <a:ext cx="114300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40">
                <a:solidFill>
                  <a:srgbClr val="3F4A5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ACCESO SEGURO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3208139" y="4457700"/>
            <a:ext cx="9525" cy="152400"/>
          </a:xfrm>
          <a:prstGeom prst="rect">
            <a:avLst/>
          </a:prstGeom>
          <a:solidFill>
            <a:srgbClr val="C9D3E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4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3370064" y="4457700"/>
            <a:ext cx="171450" cy="2667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616821" y="4514850"/>
            <a:ext cx="159105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40">
                <a:solidFill>
                  <a:srgbClr val="3F4A5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CONTROL INVENTARIO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8553450" y="4519613"/>
            <a:ext cx="198424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150">
                <a:solidFill>
                  <a:srgbClr val="12284B">
                    <a:alpha val="4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GESTIÓN CRÍTICA DE HILOS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5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57300" y="519113"/>
            <a:ext cx="19933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anel IUB"/>
          <p:cNvSpPr/>
          <p:nvPr/>
        </p:nvSpPr>
        <p:spPr>
          <a:xfrm>
            <a:off x="5252100" y="1318275"/>
            <a:ext cx="6450300" cy="5539725"/>
          </a:xfrm>
          <a:prstGeom prst="roundRect">
            <a:avLst>
              <a:gd name="adj" fmla="val 4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2" descr="image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6819900" y="3048000"/>
            <a:ext cx="4762500" cy="4762500"/>
          </a:xfrm>
          <a:prstGeom prst="rect">
            <a:avLst/>
          </a:prstGeom>
        </p:spPr>
      </p:pic>
      <p:pic>
        <p:nvPicPr>
          <p:cNvPr id="5" name="Image 3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609600" y="1695450"/>
            <a:ext cx="152400" cy="1524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37307" y="1676400"/>
            <a:ext cx="14904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ESCENARIO CRÍTICO</a:t>
            </a:r>
            <a:endParaRPr lang="en-US" sz="1050" dirty="0"/>
          </a:p>
        </p:txBody>
      </p:sp>
      <p:sp>
        <p:nvSpPr>
          <p:cNvPr id="7" name="Text 1"/>
          <p:cNvSpPr/>
          <p:nvPr/>
        </p:nvSpPr>
        <p:spPr>
          <a:xfrm>
            <a:off x="609600" y="2019300"/>
            <a:ext cx="4425696" cy="1719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Caso: 
</a:t>
            </a:r>
            <a:r>
              <a:rPr lang="en-US" sz="36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Último Producto</a:t>
            </a:r>
            <a:endParaRPr lang="en-US" sz="3600" dirty="0"/>
          </a:p>
        </p:txBody>
      </p:sp>
      <p:sp>
        <p:nvSpPr>
          <p:cNvPr id="8" name="Text 2"/>
          <p:cNvSpPr/>
          <p:nvPr/>
        </p:nvSpPr>
        <p:spPr>
          <a:xfrm>
            <a:off x="609600" y="3638600"/>
            <a:ext cx="4305300" cy="2274094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3"/>
          <p:cNvSpPr/>
          <p:nvPr/>
        </p:nvSpPr>
        <p:spPr>
          <a:xfrm>
            <a:off x="609600" y="3638600"/>
            <a:ext cx="0" cy="2274094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4"/>
          <p:cNvSpPr/>
          <p:nvPr/>
        </p:nvSpPr>
        <p:spPr>
          <a:xfrm>
            <a:off x="952500" y="4342209"/>
            <a:ext cx="3703320" cy="8412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Dos vendedores acceden al inventario simultáneamente. Sin control de hilos, ambos procesan la venta de la única unidad disponible.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952500" y="5084019"/>
            <a:ext cx="841248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 Un.</a:t>
            </a:r>
            <a:endParaRPr lang="en-US" sz="2250" dirty="0"/>
          </a:p>
        </p:txBody>
      </p:sp>
      <p:sp>
        <p:nvSpPr>
          <p:cNvPr id="12" name="Text 6"/>
          <p:cNvSpPr/>
          <p:nvPr/>
        </p:nvSpPr>
        <p:spPr>
          <a:xfrm>
            <a:off x="952500" y="5465019"/>
            <a:ext cx="79552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STOCK INICIAL</a:t>
            </a:r>
            <a:endParaRPr lang="en-US" sz="750" dirty="0"/>
          </a:p>
        </p:txBody>
      </p:sp>
      <p:sp>
        <p:nvSpPr>
          <p:cNvPr id="13" name="Text 7"/>
          <p:cNvSpPr/>
          <p:nvPr/>
        </p:nvSpPr>
        <p:spPr>
          <a:xfrm>
            <a:off x="2009775" y="5084019"/>
            <a:ext cx="9525" cy="457200"/>
          </a:xfrm>
          <a:prstGeom prst="rect">
            <a:avLst/>
          </a:prstGeom>
          <a:solidFill>
            <a:srgbClr val="C9D3E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2324100" y="5084019"/>
            <a:ext cx="9509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B07D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-1 Un.</a:t>
            </a:r>
            <a:endParaRPr lang="en-US" sz="2250" dirty="0"/>
          </a:p>
        </p:txBody>
      </p:sp>
      <p:sp>
        <p:nvSpPr>
          <p:cNvPr id="15" name="Text 9"/>
          <p:cNvSpPr/>
          <p:nvPr/>
        </p:nvSpPr>
        <p:spPr>
          <a:xfrm>
            <a:off x="2324100" y="5465019"/>
            <a:ext cx="90525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B07D00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ERROR FINAL</a:t>
            </a:r>
            <a:endParaRPr lang="en-US" sz="750" dirty="0"/>
          </a:p>
        </p:txBody>
      </p:sp>
      <p:pic>
        <p:nvPicPr>
          <p:cNvPr id="16" name="Image 4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72100" y="1438275"/>
            <a:ext cx="6210300" cy="3810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72100" y="5000675"/>
            <a:ext cx="6210300" cy="704850"/>
          </a:xfrm>
          <a:prstGeom prst="roundRect">
            <a:avLst>
              <a:gd name="adj" fmla="val 10811"/>
            </a:avLst>
          </a:prstGeom>
          <a:solidFill>
            <a:srgbClr val="000000">
              <a:alpha val="10000"/>
            </a:srgbClr>
          </a:solidFill>
          <a:ln w="9525">
            <a:solidFill>
              <a:srgbClr val="FFC72C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5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5534025" y="5162600"/>
            <a:ext cx="133350" cy="1333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743575" y="5162600"/>
            <a:ext cx="5715000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Riesgo Técnico:</a:t>
            </a:r>
            <a:r>
              <a:rPr lang="en-US" sz="105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La condición de carrera corrompe la información y genera pérdidas financieras directas.</a:t>
            </a:r>
            <a:endParaRPr lang="en-US" sz="1050" dirty="0"/>
          </a:p>
        </p:txBody>
      </p:sp>
      <p:sp>
        <p:nvSpPr>
          <p:cNvPr id="20" name="Text 12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6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709613" y="533400"/>
            <a:ext cx="257175" cy="3048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57300" y="519113"/>
            <a:ext cx="19933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23" name="Text 14"/>
          <p:cNvSpPr/>
          <p:nvPr/>
        </p:nvSpPr>
        <p:spPr>
          <a:xfrm>
            <a:off x="1257300" y="823913"/>
            <a:ext cx="1895475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5"/>
          <p:cNvSpPr/>
          <p:nvPr/>
        </p:nvSpPr>
        <p:spPr>
          <a:xfrm>
            <a:off x="5791200" y="60008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5943600" y="6000800"/>
            <a:ext cx="3048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7"/>
          <p:cNvSpPr/>
          <p:nvPr/>
        </p:nvSpPr>
        <p:spPr>
          <a:xfrm>
            <a:off x="6324600" y="60008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4" name="Panel IUB"/>
          <p:cNvSpPr/>
          <p:nvPr/>
        </p:nvSpPr>
        <p:spPr>
          <a:xfrm>
            <a:off x="0" y="2928000"/>
            <a:ext cx="3930000" cy="3930000"/>
          </a:xfrm>
          <a:prstGeom prst="roundRect">
            <a:avLst>
              <a:gd name="adj" fmla="val 4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-952500" y="3048000"/>
            <a:ext cx="4762500" cy="4762500"/>
          </a:xfrm>
          <a:prstGeom prst="rect">
            <a:avLst/>
          </a:prstGeom>
        </p:spPr>
      </p:pic>
      <p:pic>
        <p:nvPicPr>
          <p:cNvPr id="5" name="Image 2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2000" y="533400"/>
            <a:ext cx="4000500" cy="50006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676900" y="576263"/>
            <a:ext cx="6053328" cy="1435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625"/>
              </a:lnSpc>
              <a:buNone/>
            </a:pPr>
            <a:r>
              <a:rPr lang="en-US" sz="45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Analogía del Baño:
</a:t>
            </a:r>
            <a:r>
              <a:rPr lang="en-US" sz="45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 Llave Única</a:t>
            </a:r>
            <a:endParaRPr lang="en-US" sz="4500" dirty="0"/>
          </a:p>
        </p:txBody>
      </p:sp>
      <p:sp>
        <p:nvSpPr>
          <p:cNvPr id="7" name="Text 2"/>
          <p:cNvSpPr/>
          <p:nvPr/>
        </p:nvSpPr>
        <p:spPr>
          <a:xfrm>
            <a:off x="5676900" y="2233613"/>
            <a:ext cx="5905500" cy="2381250"/>
          </a:xfrm>
          <a:prstGeom prst="roundRect">
            <a:avLst>
              <a:gd name="adj" fmla="val 6400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3"/>
          <p:cNvSpPr/>
          <p:nvPr/>
        </p:nvSpPr>
        <p:spPr>
          <a:xfrm>
            <a:off x="5676900" y="2238375"/>
            <a:ext cx="5905500" cy="0"/>
          </a:xfrm>
          <a:prstGeom prst="line">
            <a:avLst/>
          </a:prstGeom>
          <a:noFill/>
          <a:ln w="9525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4"/>
          <p:cNvSpPr/>
          <p:nvPr/>
        </p:nvSpPr>
        <p:spPr>
          <a:xfrm>
            <a:off x="11582400" y="2233613"/>
            <a:ext cx="0" cy="2381250"/>
          </a:xfrm>
          <a:prstGeom prst="line">
            <a:avLst/>
          </a:prstGeom>
          <a:noFill/>
          <a:ln w="9525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5"/>
          <p:cNvSpPr/>
          <p:nvPr/>
        </p:nvSpPr>
        <p:spPr>
          <a:xfrm>
            <a:off x="5676900" y="4610100"/>
            <a:ext cx="5905500" cy="0"/>
          </a:xfrm>
          <a:prstGeom prst="line">
            <a:avLst/>
          </a:prstGeom>
          <a:noFill/>
          <a:ln w="9525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6"/>
          <p:cNvSpPr/>
          <p:nvPr/>
        </p:nvSpPr>
        <p:spPr>
          <a:xfrm>
            <a:off x="5676900" y="2233613"/>
            <a:ext cx="0" cy="2381250"/>
          </a:xfrm>
          <a:prstGeom prst="line">
            <a:avLst/>
          </a:prstGeom>
          <a:noFill/>
          <a:ln w="571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7"/>
          <p:cNvSpPr/>
          <p:nvPr/>
        </p:nvSpPr>
        <p:spPr>
          <a:xfrm>
            <a:off x="6038850" y="2547938"/>
            <a:ext cx="323850" cy="485775"/>
          </a:xfrm>
          <a:prstGeom prst="roundRect">
            <a:avLst>
              <a:gd name="adj" fmla="val 23529"/>
            </a:avLst>
          </a:prstGeom>
          <a:solidFill>
            <a:srgbClr val="FFC72C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3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2624138"/>
            <a:ext cx="171450" cy="2667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77000" y="2657475"/>
            <a:ext cx="313639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Recurso Compartido y Bloqueo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038850" y="3186113"/>
            <a:ext cx="5276088" cy="11155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En LogiSmart, los datos sensibles son como un baño público: un recurso que requiere control. La sincronización actúa como un cerrojo único; si un hilo entra, cierra la puerta, impidiendo accesos simultáneos para asegurar la integridad total.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674519" y="4919663"/>
            <a:ext cx="1197864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kern="0" spc="-6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Hilo</a:t>
            </a:r>
            <a:endParaRPr lang="en-US" sz="2250" dirty="0"/>
          </a:p>
        </p:txBody>
      </p:sp>
      <p:sp>
        <p:nvSpPr>
          <p:cNvPr id="17" name="Text 11"/>
          <p:cNvSpPr/>
          <p:nvPr/>
        </p:nvSpPr>
        <p:spPr>
          <a:xfrm>
            <a:off x="5674519" y="5262563"/>
            <a:ext cx="11338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EMPLEADO QUE ACCEDE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148513" y="4919663"/>
            <a:ext cx="9525" cy="381000"/>
          </a:xfrm>
          <a:prstGeom prst="rect">
            <a:avLst/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7539037" y="4919663"/>
            <a:ext cx="121615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kern="0" spc="-6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Sync</a:t>
            </a:r>
            <a:endParaRPr lang="en-US" sz="2250" dirty="0"/>
          </a:p>
        </p:txBody>
      </p:sp>
      <p:sp>
        <p:nvSpPr>
          <p:cNvPr id="20" name="Text 14"/>
          <p:cNvSpPr/>
          <p:nvPr/>
        </p:nvSpPr>
        <p:spPr>
          <a:xfrm>
            <a:off x="7539037" y="5262563"/>
            <a:ext cx="11612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CERROJO DE SEGURIDAD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9034463" y="4919663"/>
            <a:ext cx="9525" cy="381000"/>
          </a:xfrm>
          <a:prstGeom prst="rect">
            <a:avLst/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9424988" y="4919663"/>
            <a:ext cx="9509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kern="0" spc="-6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1</a:t>
            </a:r>
            <a:endParaRPr lang="en-US" sz="2250" dirty="0"/>
          </a:p>
        </p:txBody>
      </p:sp>
      <p:sp>
        <p:nvSpPr>
          <p:cNvPr id="23" name="Text 17"/>
          <p:cNvSpPr/>
          <p:nvPr/>
        </p:nvSpPr>
        <p:spPr>
          <a:xfrm>
            <a:off x="9424988" y="5262563"/>
            <a:ext cx="8961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PROCESO A LA VEZ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4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55440" y="519113"/>
            <a:ext cx="20939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1257300" y="823913"/>
            <a:ext cx="1987004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8729" y="1219200"/>
            <a:ext cx="11311128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Actividad Grupal: Proponiendo Soluciones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38800" y="1905000"/>
            <a:ext cx="914400" cy="381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324100"/>
            <a:ext cx="5257800" cy="381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 b="40273"/>
          <a:stretch/>
        </p:blipFill>
        <p:spPr>
          <a:xfrm>
            <a:off x="619125" y="2333625"/>
            <a:ext cx="5238750" cy="2085975"/>
          </a:xfrm>
          <a:prstGeom prst="rect">
            <a:avLst/>
          </a:prstGeom>
        </p:spPr>
      </p:pic>
      <p:pic>
        <p:nvPicPr>
          <p:cNvPr id="7" name="Image 1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923925" y="4742408"/>
            <a:ext cx="171450" cy="2667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9675" y="4723358"/>
            <a:ext cx="2523744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Integridad de Datos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23925" y="5142458"/>
            <a:ext cx="4672584" cy="804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2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¿Cómo evitarían que dos cajeros descuenten el mismo dinero? En LogiSmart S.A.S., la integridad de los datos es vital para el éxito operativo y financiero.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4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55440" y="519113"/>
            <a:ext cx="20939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269C-E3FA-E4FA-4E3A-20298E353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2C82CB-4F36-A6FD-4B19-1EC16976E3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04449D-0017-CB36-065C-B50A5C7C2816}"/>
              </a:ext>
            </a:extLst>
          </p:cNvPr>
          <p:cNvSpPr/>
          <p:nvPr/>
        </p:nvSpPr>
        <p:spPr>
          <a:xfrm>
            <a:off x="498729" y="1219200"/>
            <a:ext cx="11311128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Actividad Grupal: Proponiendo Soluciones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F313F1-F72F-3D6B-676F-554B0164D8F7}"/>
              </a:ext>
            </a:extLst>
          </p:cNvPr>
          <p:cNvSpPr/>
          <p:nvPr/>
        </p:nvSpPr>
        <p:spPr>
          <a:xfrm>
            <a:off x="5638800" y="1905000"/>
            <a:ext cx="914400" cy="381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31C4DE-2F41-589E-678A-85DAE2DFFC41}"/>
              </a:ext>
            </a:extLst>
          </p:cNvPr>
          <p:cNvSpPr/>
          <p:nvPr/>
        </p:nvSpPr>
        <p:spPr>
          <a:xfrm>
            <a:off x="609600" y="2324100"/>
            <a:ext cx="5257800" cy="381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>
            <a:extLst>
              <a:ext uri="{FF2B5EF4-FFF2-40B4-BE49-F238E27FC236}">
                <a16:creationId xmlns:a16="http://schemas.microsoft.com/office/drawing/2014/main" id="{209D8C5D-0DCF-57B0-D198-B9F10E70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273"/>
          <a:stretch/>
        </p:blipFill>
        <p:spPr>
          <a:xfrm>
            <a:off x="619125" y="2333625"/>
            <a:ext cx="5238750" cy="2085975"/>
          </a:xfrm>
          <a:prstGeom prst="rect">
            <a:avLst/>
          </a:prstGeom>
        </p:spPr>
      </p:pic>
      <p:pic>
        <p:nvPicPr>
          <p:cNvPr id="7" name="Image 1" descr="image.png">
            <a:extLst>
              <a:ext uri="{FF2B5EF4-FFF2-40B4-BE49-F238E27FC236}">
                <a16:creationId xmlns:a16="http://schemas.microsoft.com/office/drawing/2014/main" id="{EFDF1BE6-D0DC-985E-303F-10A5CD52607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923925" y="4742408"/>
            <a:ext cx="171450" cy="2667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FA36DAA0-F4AA-43DF-9A44-1B9327A64419}"/>
              </a:ext>
            </a:extLst>
          </p:cNvPr>
          <p:cNvSpPr/>
          <p:nvPr/>
        </p:nvSpPr>
        <p:spPr>
          <a:xfrm>
            <a:off x="1209675" y="4723358"/>
            <a:ext cx="2523744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Integridad de Datos</a:t>
            </a:r>
            <a:endParaRPr lang="en-US" sz="1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D6D1B18-2856-8A38-E4C6-A56A4B17917F}"/>
              </a:ext>
            </a:extLst>
          </p:cNvPr>
          <p:cNvSpPr/>
          <p:nvPr/>
        </p:nvSpPr>
        <p:spPr>
          <a:xfrm>
            <a:off x="923925" y="5142458"/>
            <a:ext cx="4672584" cy="804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Cómo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evitarían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que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dos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cajeros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descuenten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el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mismo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dinero? En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S.A.S., la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integridad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los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datos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es vital para el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éxito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operativo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y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financiero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6CC8077-C25C-65BC-76D7-FF067C29B6A9}"/>
              </a:ext>
            </a:extLst>
          </p:cNvPr>
          <p:cNvSpPr/>
          <p:nvPr/>
        </p:nvSpPr>
        <p:spPr>
          <a:xfrm>
            <a:off x="6096000" y="2389632"/>
            <a:ext cx="5257800" cy="381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2" descr="image.png">
            <a:extLst>
              <a:ext uri="{FF2B5EF4-FFF2-40B4-BE49-F238E27FC236}">
                <a16:creationId xmlns:a16="http://schemas.microsoft.com/office/drawing/2014/main" id="{1E348295-4204-2428-C183-77B861780F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3455"/>
          <a:stretch/>
        </p:blipFill>
        <p:spPr>
          <a:xfrm>
            <a:off x="6334125" y="2333625"/>
            <a:ext cx="5238750" cy="2085975"/>
          </a:xfrm>
          <a:prstGeom prst="rect">
            <a:avLst/>
          </a:prstGeom>
        </p:spPr>
      </p:pic>
      <p:pic>
        <p:nvPicPr>
          <p:cNvPr id="12" name="Image 3" descr="image.png">
            <a:extLst>
              <a:ext uri="{FF2B5EF4-FFF2-40B4-BE49-F238E27FC236}">
                <a16:creationId xmlns:a16="http://schemas.microsoft.com/office/drawing/2014/main" id="{8FE0055E-FF5C-EE8C-C090-51269E12A67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6638925" y="4742408"/>
            <a:ext cx="152400" cy="26670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9A5D1C9B-395C-767E-47D4-F560C2E59437}"/>
              </a:ext>
            </a:extLst>
          </p:cNvPr>
          <p:cNvSpPr/>
          <p:nvPr/>
        </p:nvSpPr>
        <p:spPr>
          <a:xfrm>
            <a:off x="6905625" y="4723358"/>
            <a:ext cx="2514600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Uso de synchronized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57AF001-2679-86A4-AAA6-4BF3E255EA19}"/>
              </a:ext>
            </a:extLst>
          </p:cNvPr>
          <p:cNvSpPr/>
          <p:nvPr/>
        </p:nvSpPr>
        <p:spPr>
          <a:xfrm>
            <a:off x="6638925" y="5142458"/>
            <a:ext cx="466344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Implementamos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>
                <a:solidFill>
                  <a:srgbClr val="B07D00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synchronized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para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monitores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y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bloqueos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. Esto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asegura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operaciones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atómicas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y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seguras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,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evitando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el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gasto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doble de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recursos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el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sistema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.</a:t>
            </a:r>
            <a:endParaRPr lang="en-US" sz="10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73F9DBFC-C7FB-628F-B525-4C8990AA3E85}"/>
              </a:ext>
            </a:extLst>
          </p:cNvPr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4" descr="image.png">
            <a:extLst>
              <a:ext uri="{FF2B5EF4-FFF2-40B4-BE49-F238E27FC236}">
                <a16:creationId xmlns:a16="http://schemas.microsoft.com/office/drawing/2014/main" id="{06293D56-EA8F-7792-150A-4570DEF34ED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8C4ECA7-EE1C-0A8E-C512-9E514A1C80A8}"/>
              </a:ext>
            </a:extLst>
          </p:cNvPr>
          <p:cNvSpPr/>
          <p:nvPr/>
        </p:nvSpPr>
        <p:spPr>
          <a:xfrm>
            <a:off x="1255440" y="519113"/>
            <a:ext cx="20939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A41F4C61-2321-9ECE-D5D9-F44CBC21C972}"/>
              </a:ext>
            </a:extLst>
          </p:cNvPr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445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86000"/>
            <a:ext cx="5524500" cy="3429000"/>
          </a:xfrm>
          <a:prstGeom prst="roundRect">
            <a:avLst>
              <a:gd name="adj" fmla="val 4444"/>
            </a:avLst>
          </a:prstGeom>
          <a:noFill/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 b="7093"/>
          <a:stretch/>
        </p:blipFill>
        <p:spPr>
          <a:xfrm>
            <a:off x="619125" y="2295525"/>
            <a:ext cx="5505450" cy="3409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7725" y="5276850"/>
            <a:ext cx="1828800" cy="276225"/>
          </a:xfrm>
          <a:prstGeom prst="roundRect">
            <a:avLst>
              <a:gd name="adj" fmla="val 100000"/>
            </a:avLst>
          </a:prstGeom>
          <a:solidFill>
            <a:srgbClr val="000000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47725" y="5276850"/>
            <a:ext cx="1856232" cy="283464"/>
          </a:xfrm>
          <a:prstGeom prst="rect">
            <a:avLst/>
          </a:prstGeom>
          <a:noFill/>
          <a:ln/>
        </p:spPr>
        <p:txBody>
          <a:bodyPr vert="horz" wrap="square" lIns="114300" tIns="57150" rIns="114300" bIns="5715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kern="0" spc="70">
                <a:solidFill>
                  <a:srgbClr val="12284B">
                    <a:alpha val="70000"/>
                  </a:srgbClr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ESTÁNDAR DE DOCUMENTACIÓN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286500" y="2362200"/>
            <a:ext cx="5295900" cy="3395663"/>
          </a:xfrm>
          <a:prstGeom prst="roundRect">
            <a:avLst>
              <a:gd name="adj" fmla="val 4488"/>
            </a:avLst>
          </a:prstGeom>
          <a:solidFill>
            <a:srgbClr val="F2F5FA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86500" y="2366963"/>
            <a:ext cx="52959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11582400" y="2362200"/>
            <a:ext cx="0" cy="3395663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6286500" y="5753100"/>
            <a:ext cx="52959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6286500" y="2362200"/>
            <a:ext cx="0" cy="3395663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6629400" y="26765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C72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124700" y="2733675"/>
            <a:ext cx="192024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¿Qué es Javadoc?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29400" y="3286125"/>
            <a:ext cx="4681728" cy="11155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Es el estándar de la industria que garantiza la claridad y el mantenimiento del software. Un código sin documentar es una "caja negra" que genera retrasos críticos y deuda técnica empresarial.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629400" y="4710112"/>
            <a:ext cx="4638675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6627019" y="4943475"/>
            <a:ext cx="2313432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Analogía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627019" y="5283994"/>
            <a:ext cx="228600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8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AUTO SIN MANUAL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9060656" y="4943475"/>
            <a:ext cx="2313432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060656" y="5283994"/>
            <a:ext cx="228600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8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ADAPTABILIDAD VITAL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290542" y="914400"/>
            <a:ext cx="9729216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6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TEMA 3: </a:t>
            </a:r>
            <a:r>
              <a:rPr lang="en-US" sz="3600" b="1" kern="0" spc="-9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Javadoc</a:t>
            </a:r>
            <a:r>
              <a:rPr lang="en-US" sz="36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- La Memoria del Código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3671888" y="1781175"/>
            <a:ext cx="609600" cy="19050"/>
          </a:xfrm>
          <a:prstGeom prst="rect">
            <a:avLst/>
          </a:prstGeom>
          <a:solidFill>
            <a:srgbClr val="C9D3E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433888" y="1714500"/>
            <a:ext cx="341985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45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GUÍA DINÁMICA DE SOFTWARE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10512" y="1781175"/>
            <a:ext cx="609600" cy="19050"/>
          </a:xfrm>
          <a:prstGeom prst="rect">
            <a:avLst/>
          </a:prstGeom>
          <a:solidFill>
            <a:srgbClr val="C9D3E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255440" y="519113"/>
            <a:ext cx="235000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&amp;</a:t>
            </a: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Java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738188" y="533400"/>
            <a:ext cx="200025" cy="304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57300" y="519113"/>
            <a:ext cx="19933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257300" y="823913"/>
            <a:ext cx="1895475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09600" y="1443038"/>
            <a:ext cx="304800" cy="9525"/>
          </a:xfrm>
          <a:prstGeom prst="rect">
            <a:avLst/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914400" y="1371600"/>
            <a:ext cx="10917936" cy="18288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270">
                <a:solidFill>
                  <a:srgbClr val="2E5FA3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GUÍA DINÁMICA JAVA: THREADS &amp; JAVADOC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09600" y="1600200"/>
            <a:ext cx="11338560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500" b="1" kern="0" spc="-12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Caso de Crisis: La Renuncia de Juan</a:t>
            </a:r>
            <a:endParaRPr lang="en-US" sz="4500" dirty="0"/>
          </a:p>
        </p:txBody>
      </p:sp>
      <p:sp>
        <p:nvSpPr>
          <p:cNvPr id="11" name="Text 7"/>
          <p:cNvSpPr/>
          <p:nvPr/>
        </p:nvSpPr>
        <p:spPr>
          <a:xfrm>
            <a:off x="609600" y="2628900"/>
            <a:ext cx="2571750" cy="342900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409950" y="2628900"/>
            <a:ext cx="2571750" cy="342900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210300" y="2628900"/>
            <a:ext cx="2571750" cy="342900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9010650" y="2628900"/>
            <a:ext cx="2571750" cy="342900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923925" y="294322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1057275" y="3038475"/>
            <a:ext cx="190500" cy="2667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3925" y="4293394"/>
            <a:ext cx="20208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PROBLEMA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923925" y="4560094"/>
            <a:ext cx="207568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Threads</a:t>
            </a:r>
            <a:endParaRPr lang="en-US" sz="2700" dirty="0"/>
          </a:p>
        </p:txBody>
      </p:sp>
      <p:sp>
        <p:nvSpPr>
          <p:cNvPr id="19" name="Text 14"/>
          <p:cNvSpPr/>
          <p:nvPr/>
        </p:nvSpPr>
        <p:spPr>
          <a:xfrm>
            <a:off x="923925" y="5094684"/>
            <a:ext cx="198424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Juan desarrolló el núcleo logístico usando hilos sin una sola línea de documentación técnica.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724275" y="294322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3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3843338" y="3038475"/>
            <a:ext cx="219075" cy="2667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24275" y="4293394"/>
            <a:ext cx="20208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 FUGA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724275" y="4560094"/>
            <a:ext cx="207568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Renuncia</a:t>
            </a:r>
            <a:endParaRPr lang="en-US" sz="2700" dirty="0"/>
          </a:p>
        </p:txBody>
      </p:sp>
      <p:sp>
        <p:nvSpPr>
          <p:cNvPr id="24" name="Text 18"/>
          <p:cNvSpPr/>
          <p:nvPr/>
        </p:nvSpPr>
        <p:spPr>
          <a:xfrm>
            <a:off x="3724275" y="5094684"/>
            <a:ext cx="198424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Juan acepta una mejor oferta, dejando atrás un sistema crítico que es una "caja negra".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524625" y="294322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6667500" y="3038475"/>
            <a:ext cx="171450" cy="2667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24625" y="4293394"/>
            <a:ext cx="20208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IMPACTO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524625" y="4560094"/>
            <a:ext cx="207568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Javadoc</a:t>
            </a:r>
            <a:endParaRPr lang="en-US" sz="2700" dirty="0"/>
          </a:p>
        </p:txBody>
      </p:sp>
      <p:sp>
        <p:nvSpPr>
          <p:cNvPr id="29" name="Text 22"/>
          <p:cNvSpPr/>
          <p:nvPr/>
        </p:nvSpPr>
        <p:spPr>
          <a:xfrm>
            <a:off x="6524625" y="5094684"/>
            <a:ext cx="198424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María llega en 2026 para actualizar el sistema, perdiendo tiempo descifrando la lógica.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9324975" y="294322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5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9458325" y="3038475"/>
            <a:ext cx="190500" cy="2667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24975" y="3988594"/>
            <a:ext cx="20208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REFLEXIÓN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9324975" y="4255294"/>
            <a:ext cx="2020824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B07D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Deuda Técnica</a:t>
            </a:r>
            <a:endParaRPr lang="en-US" sz="2250" dirty="0"/>
          </a:p>
        </p:txBody>
      </p:sp>
      <p:sp>
        <p:nvSpPr>
          <p:cNvPr id="34" name="Text 26"/>
          <p:cNvSpPr/>
          <p:nvPr/>
        </p:nvSpPr>
        <p:spPr>
          <a:xfrm>
            <a:off x="9324975" y="5094684"/>
            <a:ext cx="198424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Sin documentación técnica, el código no es un activo de la empresa, es una deuda peligrosa.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762000" y="2043113"/>
            <a:ext cx="4305300" cy="4000500"/>
          </a:xfrm>
          <a:prstGeom prst="roundRect">
            <a:avLst>
              <a:gd name="adj" fmla="val 5714"/>
            </a:avLst>
          </a:prstGeom>
          <a:solidFill>
            <a:srgbClr val="FFC72C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609600" y="1890713"/>
            <a:ext cx="4305300" cy="400050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3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125" y="1900238"/>
            <a:ext cx="4286250" cy="39814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676900" y="135255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5866507" y="1295400"/>
            <a:ext cx="22219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20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DOCUMENTACIÓN TÉCNICA</a:t>
            </a:r>
            <a:endParaRPr lang="en-US" sz="1050" dirty="0"/>
          </a:p>
        </p:txBody>
      </p:sp>
      <p:sp>
        <p:nvSpPr>
          <p:cNvPr id="10" name="Text 4"/>
          <p:cNvSpPr/>
          <p:nvPr/>
        </p:nvSpPr>
        <p:spPr>
          <a:xfrm>
            <a:off x="5676900" y="1714500"/>
            <a:ext cx="6025896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Código: Con vs Sin 
</a:t>
            </a:r>
            <a:r>
              <a:rPr lang="en-US" sz="3600" b="1">
                <a:gradFill rotWithShape="1">
                  <a:gsLst>
                    <a:gs pos="0">
                      <a:srgbClr val="2E5FA3"/>
                    </a:gs>
                    <a:gs pos="100000">
                      <a:srgbClr val="12284B"/>
                    </a:gs>
                  </a:gsLst>
                </a:gradFill>
                <a:latin typeface="Lexend" pitchFamily="34" charset="0"/>
                <a:ea typeface="Lexend" pitchFamily="34" charset="-122"/>
                <a:cs typeface="Lexend" pitchFamily="34" charset="-120"/>
              </a:rPr>
              <a:t>Documentación</a:t>
            </a:r>
            <a:endParaRPr lang="en-US" sz="3600" dirty="0"/>
          </a:p>
        </p:txBody>
      </p:sp>
      <p:sp>
        <p:nvSpPr>
          <p:cNvPr id="11" name="Text 5"/>
          <p:cNvSpPr/>
          <p:nvPr/>
        </p:nvSpPr>
        <p:spPr>
          <a:xfrm>
            <a:off x="5676900" y="2762300"/>
            <a:ext cx="5905500" cy="247650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6"/>
          <p:cNvSpPr/>
          <p:nvPr/>
        </p:nvSpPr>
        <p:spPr>
          <a:xfrm>
            <a:off x="5676900" y="3167063"/>
            <a:ext cx="5905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7"/>
          <p:cNvSpPr/>
          <p:nvPr/>
        </p:nvSpPr>
        <p:spPr>
          <a:xfrm>
            <a:off x="11582400" y="2762300"/>
            <a:ext cx="0" cy="247650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8"/>
          <p:cNvSpPr/>
          <p:nvPr/>
        </p:nvSpPr>
        <p:spPr>
          <a:xfrm>
            <a:off x="5676900" y="5234038"/>
            <a:ext cx="5905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9"/>
          <p:cNvSpPr/>
          <p:nvPr/>
        </p:nvSpPr>
        <p:spPr>
          <a:xfrm>
            <a:off x="5676900" y="2762300"/>
            <a:ext cx="0" cy="2476500"/>
          </a:xfrm>
          <a:prstGeom prst="line">
            <a:avLst/>
          </a:prstGeom>
          <a:noFill/>
          <a:ln w="571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0"/>
          <p:cNvSpPr/>
          <p:nvPr/>
        </p:nvSpPr>
        <p:spPr>
          <a:xfrm>
            <a:off x="5753100" y="5543600"/>
            <a:ext cx="63093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100</a:t>
            </a:r>
            <a:endParaRPr lang="en-US" sz="2250" dirty="0"/>
          </a:p>
        </p:txBody>
      </p:sp>
      <p:sp>
        <p:nvSpPr>
          <p:cNvPr id="17" name="Text 11"/>
          <p:cNvSpPr/>
          <p:nvPr/>
        </p:nvSpPr>
        <p:spPr>
          <a:xfrm>
            <a:off x="6334125" y="5629325"/>
            <a:ext cx="21945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%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753100" y="5934125"/>
            <a:ext cx="795528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kern="0" spc="4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LEGIBILIDAD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6877050" y="5543600"/>
            <a:ext cx="9525" cy="381000"/>
          </a:xfrm>
          <a:prstGeom prst="rect">
            <a:avLst/>
          </a:prstGeom>
          <a:solidFill>
            <a:srgbClr val="C9D3E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7267575" y="5543600"/>
            <a:ext cx="658368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JAR</a:t>
            </a:r>
            <a:endParaRPr lang="en-US" sz="2250" dirty="0"/>
          </a:p>
        </p:txBody>
      </p:sp>
      <p:sp>
        <p:nvSpPr>
          <p:cNvPr id="21" name="Text 15"/>
          <p:cNvSpPr/>
          <p:nvPr/>
        </p:nvSpPr>
        <p:spPr>
          <a:xfrm>
            <a:off x="7877175" y="5629325"/>
            <a:ext cx="38404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dist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66682" y="5934125"/>
            <a:ext cx="126187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kern="0" spc="4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ESTÁNDAR LOGISMART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55440" y="519113"/>
            <a:ext cx="18379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 </a:t>
            </a:r>
            <a:r>
              <a:rPr lang="en-US" sz="1800" b="1" kern="0" spc="4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S.A.S.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5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3609975"/>
            <a:ext cx="171450" cy="2667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40984" y="3552825"/>
            <a:ext cx="458114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Críptico:</a:t>
            </a:r>
            <a:r>
              <a:rPr lang="en-US" sz="1350">
                <a:solidFill>
                  <a:srgbClr val="B07D00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void p(int n)</a:t>
            </a: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genera deuda técnica y confusión.</a:t>
            </a:r>
            <a:endParaRPr lang="en-US" sz="1350" dirty="0"/>
          </a:p>
        </p:txBody>
      </p:sp>
      <p:pic>
        <p:nvPicPr>
          <p:cNvPr id="29" name="Image 6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4086225"/>
            <a:ext cx="171450" cy="2667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438900" y="4029075"/>
            <a:ext cx="4800600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Javadoc:</a:t>
            </a: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Define parámetros como </a:t>
            </a:r>
            <a:r>
              <a:rPr lang="en-US" sz="1350">
                <a:solidFill>
                  <a:srgbClr val="B07D00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pedidos</a:t>
            </a: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para claridad absoluta.</a:t>
            </a:r>
            <a:endParaRPr lang="en-US" sz="1350" dirty="0"/>
          </a:p>
        </p:txBody>
      </p:sp>
      <p:pic>
        <p:nvPicPr>
          <p:cNvPr id="31" name="Image 7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4772025"/>
            <a:ext cx="171450" cy="2667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438900" y="4714875"/>
            <a:ext cx="4800600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Facilita el mantenimiento y la integración de nuevos desarrolladores.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5440" y="519113"/>
            <a:ext cx="18379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 </a:t>
            </a:r>
            <a:r>
              <a:rPr lang="en-US" sz="1800" b="1" kern="0" spc="40">
                <a:solidFill>
                  <a:srgbClr val="2E5FA3">
                    <a:alpha val="80000"/>
                  </a:srgbClr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S.A.S.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43995" y="1219200"/>
            <a:ext cx="115488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kern="0" spc="54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ANÁLISIS DE DESARROLLO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43186" y="1562100"/>
            <a:ext cx="11631168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kern="0" spc="-10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¿Documentar es </a:t>
            </a:r>
            <a:r>
              <a:rPr lang="en-US" sz="3900" b="1" kern="0" spc="-10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Perder Tiempo?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5181600" y="2286000"/>
            <a:ext cx="1828800" cy="38100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9600" y="2705100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image.png"/>
          <p:cNvPicPr>
            <a:picLocks noChangeAspect="1"/>
          </p:cNvPicPr>
          <p:nvPr/>
        </p:nvPicPr>
        <p:blipFill>
          <a:blip r:embed="rId4"/>
          <a:srcRect r="33639"/>
          <a:stretch/>
        </p:blipFill>
        <p:spPr>
          <a:xfrm>
            <a:off x="619125" y="2714625"/>
            <a:ext cx="2552700" cy="21621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43075" y="5027265"/>
            <a:ext cx="304800" cy="297061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1843088" y="5080546"/>
            <a:ext cx="104775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15794" y="5288000"/>
            <a:ext cx="181051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Mito del Código Solo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71525" y="5592800"/>
            <a:ext cx="228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La falta de documentación eleva costos en LogiSmart.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3409950" y="2705100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3" descr="image.png"/>
          <p:cNvPicPr>
            <a:picLocks noChangeAspect="1"/>
          </p:cNvPicPr>
          <p:nvPr/>
        </p:nvPicPr>
        <p:blipFill>
          <a:blip r:embed="rId6"/>
          <a:srcRect r="33571"/>
          <a:stretch/>
        </p:blipFill>
        <p:spPr>
          <a:xfrm>
            <a:off x="3419475" y="2714625"/>
            <a:ext cx="2552700" cy="21621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43425" y="5027265"/>
            <a:ext cx="304800" cy="297061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4643438" y="5080546"/>
            <a:ext cx="104775" cy="1905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616976" y="5288000"/>
            <a:ext cx="220370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Herramienta de Prestigio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3571875" y="5592800"/>
            <a:ext cx="228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Javadoc reduce deuda técnica y eleva el perfil profesional.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210300" y="2705100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5" descr="image.png"/>
          <p:cNvPicPr>
            <a:picLocks noChangeAspect="1"/>
          </p:cNvPicPr>
          <p:nvPr/>
        </p:nvPicPr>
        <p:blipFill>
          <a:blip r:embed="rId8"/>
          <a:srcRect r="37690"/>
          <a:stretch/>
        </p:blipFill>
        <p:spPr>
          <a:xfrm>
            <a:off x="6219825" y="2714625"/>
            <a:ext cx="2552700" cy="21621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43775" y="5027265"/>
            <a:ext cx="304800" cy="297061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6" descr="image.png"/>
          <p:cNvPicPr>
            <a:picLocks noChangeAspect="1"/>
          </p:cNvPicPr>
          <p:nvPr/>
        </p:nvPicPr>
        <p:blipFill>
          <a:blip r:embed="rId9">
            <a:duotone>
              <a:srgbClr val="12284B"/>
              <a:srgbClr val="12284B"/>
            </a:duotone>
          </a:blip>
          <a:srcRect/>
          <a:stretch/>
        </p:blipFill>
        <p:spPr>
          <a:xfrm>
            <a:off x="7410450" y="5080546"/>
            <a:ext cx="171450" cy="1905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660213" y="5288000"/>
            <a:ext cx="17190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Transición Eficiente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6372225" y="5592800"/>
            <a:ext cx="228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Facilita la integración de nuevos miembros como María.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9010650" y="2705100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7" descr="image.png"/>
          <p:cNvPicPr>
            <a:picLocks noChangeAspect="1"/>
          </p:cNvPicPr>
          <p:nvPr/>
        </p:nvPicPr>
        <p:blipFill>
          <a:blip r:embed="rId10"/>
          <a:srcRect r="21871"/>
          <a:stretch/>
        </p:blipFill>
        <p:spPr>
          <a:xfrm>
            <a:off x="9020175" y="2714625"/>
            <a:ext cx="2552700" cy="216217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144125" y="5027265"/>
            <a:ext cx="304800" cy="297061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8" descr="image.png"/>
          <p:cNvPicPr>
            <a:picLocks noChangeAspect="1"/>
          </p:cNvPicPr>
          <p:nvPr/>
        </p:nvPicPr>
        <p:blipFill>
          <a:blip r:embed="rId11">
            <a:duotone>
              <a:srgbClr val="12284B"/>
              <a:srgbClr val="12284B"/>
            </a:duotone>
          </a:blip>
          <a:srcRect/>
          <a:stretch/>
        </p:blipFill>
        <p:spPr>
          <a:xfrm>
            <a:off x="10229850" y="5080546"/>
            <a:ext cx="133350" cy="1905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489710" y="5288000"/>
            <a:ext cx="166420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Garantía de Futuro</a:t>
            </a:r>
            <a:endParaRPr lang="en-US" sz="1350" dirty="0"/>
          </a:p>
        </p:txBody>
      </p:sp>
      <p:sp>
        <p:nvSpPr>
          <p:cNvPr id="33" name="Text 22"/>
          <p:cNvSpPr/>
          <p:nvPr/>
        </p:nvSpPr>
        <p:spPr>
          <a:xfrm>
            <a:off x="9172575" y="5592800"/>
            <a:ext cx="228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Asegura la estabilidad operativa de la empresa mañana.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8729" y="1066800"/>
            <a:ext cx="11311128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TEMA 4: Archivo JAR - El Paquete Profesional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991100" y="1709738"/>
            <a:ext cx="914400" cy="9525"/>
          </a:xfrm>
          <a:prstGeom prst="rect">
            <a:avLst/>
          </a:prstGeom>
          <a:solidFill>
            <a:srgbClr val="FFC72C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57900" y="16764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0" y="1709738"/>
            <a:ext cx="914400" cy="9525"/>
          </a:xfrm>
          <a:prstGeom prst="rect">
            <a:avLst/>
          </a:prstGeom>
          <a:solidFill>
            <a:srgbClr val="FFC72C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2209800"/>
            <a:ext cx="5295900" cy="1714500"/>
          </a:xfrm>
          <a:prstGeom prst="roundRect">
            <a:avLst>
              <a:gd name="adj" fmla="val 13333"/>
            </a:avLst>
          </a:prstGeom>
          <a:solidFill>
            <a:srgbClr val="F2F5FA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 r="16135"/>
          <a:stretch/>
        </p:blipFill>
        <p:spPr>
          <a:xfrm>
            <a:off x="619125" y="2219325"/>
            <a:ext cx="1762125" cy="16954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06576" y="2620566"/>
            <a:ext cx="384048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01.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997101" y="2649141"/>
            <a:ext cx="129844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Concepto JAR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608138" y="2962275"/>
            <a:ext cx="3099816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Estándar para empaquetar aplicaciones Java, agrupando cientos de clases en un ejecutable eficiente.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86500" y="2209800"/>
            <a:ext cx="5295900" cy="1714500"/>
          </a:xfrm>
          <a:prstGeom prst="roundRect">
            <a:avLst>
              <a:gd name="adj" fmla="val 13333"/>
            </a:avLst>
          </a:prstGeom>
          <a:solidFill>
            <a:srgbClr val="F2F5FA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image.png"/>
          <p:cNvPicPr>
            <a:picLocks noChangeAspect="1"/>
          </p:cNvPicPr>
          <p:nvPr/>
        </p:nvPicPr>
        <p:blipFill>
          <a:blip r:embed="rId4"/>
          <a:srcRect r="58437"/>
          <a:stretch/>
        </p:blipFill>
        <p:spPr>
          <a:xfrm>
            <a:off x="6296025" y="2219325"/>
            <a:ext cx="1762125" cy="1695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83476" y="2620566"/>
            <a:ext cx="384048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02.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674001" y="2649141"/>
            <a:ext cx="118872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Auto Listo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285038" y="2962275"/>
            <a:ext cx="3099816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Como ensamblar un auto: no entregamos piezas sueltas a LogiSmart, sino el vehículo listo para conducir.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09600" y="4305300"/>
            <a:ext cx="5295900" cy="1714500"/>
          </a:xfrm>
          <a:prstGeom prst="roundRect">
            <a:avLst>
              <a:gd name="adj" fmla="val 13333"/>
            </a:avLst>
          </a:prstGeom>
          <a:solidFill>
            <a:srgbClr val="F2F5FA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image.png"/>
          <p:cNvPicPr>
            <a:picLocks noChangeAspect="1"/>
          </p:cNvPicPr>
          <p:nvPr/>
        </p:nvPicPr>
        <p:blipFill>
          <a:blip r:embed="rId5"/>
          <a:srcRect r="48034"/>
          <a:stretch/>
        </p:blipFill>
        <p:spPr>
          <a:xfrm>
            <a:off x="4137124" y="4314825"/>
            <a:ext cx="1762125" cy="1695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86770" y="4716066"/>
            <a:ext cx="384048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03.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2584454" y="4744641"/>
            <a:ext cx="97840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49437" y="5057775"/>
            <a:ext cx="3099816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Encapsula recursos, facilitando distribución profesional y actualizaciones de seguridad constantes.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86500" y="4305300"/>
            <a:ext cx="5295900" cy="1714500"/>
          </a:xfrm>
          <a:prstGeom prst="roundRect">
            <a:avLst>
              <a:gd name="adj" fmla="val 13333"/>
            </a:avLst>
          </a:prstGeom>
          <a:solidFill>
            <a:srgbClr val="F2F5FA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image.png"/>
          <p:cNvPicPr>
            <a:picLocks noChangeAspect="1"/>
          </p:cNvPicPr>
          <p:nvPr/>
        </p:nvPicPr>
        <p:blipFill>
          <a:blip r:embed="rId6"/>
          <a:srcRect r="43283"/>
          <a:stretch/>
        </p:blipFill>
        <p:spPr>
          <a:xfrm>
            <a:off x="9814024" y="4314825"/>
            <a:ext cx="1762125" cy="1695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63670" y="4807744"/>
            <a:ext cx="384048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8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04.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096190" y="4836319"/>
            <a:ext cx="114300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Distribución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526337" y="5148263"/>
            <a:ext cx="3099816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 instala el sistema en 120 computadores usando un solo archivo con total integridad.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4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55440" y="519113"/>
            <a:ext cx="20939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73405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174778" y="1285875"/>
            <a:ext cx="95250" cy="9525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386263" y="1238250"/>
            <a:ext cx="352958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41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DESPLIEGUE DE PRODUCCIÓN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921972" y="1285875"/>
            <a:ext cx="95250" cy="9525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17042" y="1657350"/>
            <a:ext cx="10908792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12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Caso Empresarial: </a:t>
            </a:r>
            <a:r>
              <a:rPr lang="en-US" sz="4500" b="1" kern="0" spc="-12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Instalación Masiva</a:t>
            </a:r>
            <a:endParaRPr lang="en-US" sz="4500" dirty="0"/>
          </a:p>
        </p:txBody>
      </p:sp>
      <p:sp>
        <p:nvSpPr>
          <p:cNvPr id="9" name="Text 5"/>
          <p:cNvSpPr/>
          <p:nvPr/>
        </p:nvSpPr>
        <p:spPr>
          <a:xfrm>
            <a:off x="1571625" y="2609850"/>
            <a:ext cx="9048750" cy="3124200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1581150" y="2619375"/>
            <a:ext cx="76200" cy="3105150"/>
          </a:xfrm>
          <a:prstGeom prst="rect">
            <a:avLst/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962150" y="3000375"/>
            <a:ext cx="403250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7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RETO Y PROBLEMA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962150" y="3419475"/>
            <a:ext cx="3950208" cy="11155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94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</a:t>
            </a: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enfrenta el desafío de implementar software en 120 sedes nacionales. Copiar cientos de archivos </a:t>
            </a:r>
            <a:r>
              <a:rPr lang="en-US" sz="1350">
                <a:solidFill>
                  <a:srgbClr val="B07D00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.class</a:t>
            </a: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manualmente resulta ineficiente y genera errores críticos de versión.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24600" y="3000375"/>
            <a:ext cx="403250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7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SOLUCIÓN PROFESIONAL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24600" y="3419475"/>
            <a:ext cx="3950208" cy="11155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El uso de un </a:t>
            </a:r>
            <a:r>
              <a:rPr lang="en-US" sz="1350" b="1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archivo JAR</a:t>
            </a: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único permite un ejecutable portable y seguro. Esta técnica garantiza la integridad del software y facilita el despliegue masivo en entornos de producción reales.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1962150" y="4843463"/>
            <a:ext cx="82677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2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1962150" y="5076825"/>
            <a:ext cx="219075" cy="2667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57425" y="5114925"/>
            <a:ext cx="13075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>
                <a:solidFill>
                  <a:srgbClr val="3F4A5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Empaquetado JAR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3733800" y="5076825"/>
            <a:ext cx="9525" cy="152400"/>
          </a:xfrm>
          <a:prstGeom prst="rect">
            <a:avLst/>
          </a:prstGeom>
          <a:solidFill>
            <a:srgbClr val="C9D3E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3971925" y="5076825"/>
            <a:ext cx="190500" cy="2667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238625" y="5114925"/>
            <a:ext cx="117957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>
                <a:solidFill>
                  <a:srgbClr val="3F4A5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Integridad Total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284690" y="5133975"/>
            <a:ext cx="3035808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>
                <a:solidFill>
                  <a:srgbClr val="12284B">
                    <a:alpha val="4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GUÍA DINÁMICA JAVA - LOGISMART S.A.S.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57300" y="519113"/>
            <a:ext cx="19933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1257300" y="823913"/>
            <a:ext cx="1895475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609600" y="1543050"/>
            <a:ext cx="190500" cy="152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7267" y="1524000"/>
            <a:ext cx="232257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PARTE 1: IMPLEMENTACIÓN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9600" y="1866900"/>
            <a:ext cx="4398264" cy="8595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7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Estructura de Código
</a:t>
            </a:r>
            <a:r>
              <a:rPr lang="en-US" sz="27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SIN Threads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09600" y="2952750"/>
            <a:ext cx="4305300" cy="2436019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09600" y="2952750"/>
            <a:ext cx="0" cy="2436019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952500" y="3256359"/>
            <a:ext cx="3703320" cy="8412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En este modelo secuencial, el sistema procesa cada tarea una tras otra. Se utiliza </a:t>
            </a:r>
            <a:r>
              <a:rPr lang="en-US" sz="1350">
                <a:solidFill>
                  <a:srgbClr val="B07D00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Thread.sleep()</a:t>
            </a: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para simular la carga de trabajo real del negocio.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52500" y="4326731"/>
            <a:ext cx="36576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952500" y="4560094"/>
            <a:ext cx="978408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12s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952500" y="4941094"/>
            <a:ext cx="93268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TIEMPO TOTAL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143125" y="4560094"/>
            <a:ext cx="9525" cy="457200"/>
          </a:xfrm>
          <a:prstGeom prst="rect">
            <a:avLst/>
          </a:prstGeom>
          <a:solidFill>
            <a:srgbClr val="C9D3E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457450" y="4560094"/>
            <a:ext cx="1115568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100%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2457450" y="4941094"/>
            <a:ext cx="106984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BLOQUEO LINEAL</a:t>
            </a:r>
            <a:endParaRPr lang="en-US" sz="750" dirty="0"/>
          </a:p>
        </p:txBody>
      </p:sp>
      <p:sp>
        <p:nvSpPr>
          <p:cNvPr id="905" name="Panel IUB"/>
          <p:cNvSpPr/>
          <p:nvPr/>
        </p:nvSpPr>
        <p:spPr>
          <a:xfrm>
            <a:off x="5252100" y="1175400"/>
            <a:ext cx="6450300" cy="5002500"/>
          </a:xfrm>
          <a:prstGeom prst="roundRect">
            <a:avLst>
              <a:gd name="adj" fmla="val 4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72100" y="1295400"/>
            <a:ext cx="6210300" cy="4762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57300" y="519113"/>
            <a:ext cx="19933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257300" y="823913"/>
            <a:ext cx="1895475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791200" y="6000800"/>
            <a:ext cx="3048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172200" y="60008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6324600" y="60008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6" name="Panel IUB"/>
          <p:cNvSpPr/>
          <p:nvPr/>
        </p:nvSpPr>
        <p:spPr>
          <a:xfrm>
            <a:off x="0" y="2928000"/>
            <a:ext cx="3930000" cy="3930000"/>
          </a:xfrm>
          <a:prstGeom prst="roundRect">
            <a:avLst>
              <a:gd name="adj" fmla="val 4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-952500" y="3048000"/>
            <a:ext cx="4762500" cy="4762500"/>
          </a:xfrm>
          <a:prstGeom prst="rect">
            <a:avLst/>
          </a:prstGeom>
        </p:spPr>
      </p:pic>
      <p:pic>
        <p:nvPicPr>
          <p:cNvPr id="5" name="Image 2" descr="image.png"/>
          <p:cNvPicPr>
            <a:picLocks noChangeAspect="1"/>
          </p:cNvPicPr>
          <p:nvPr/>
        </p:nvPicPr>
        <p:blipFill>
          <a:blip r:embed="rId4"/>
          <a:srcRect r="20000"/>
          <a:stretch/>
        </p:blipFill>
        <p:spPr>
          <a:xfrm>
            <a:off x="762000" y="533400"/>
            <a:ext cx="4000500" cy="50006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90600" y="4905375"/>
            <a:ext cx="1291679" cy="400050"/>
          </a:xfrm>
          <a:prstGeom prst="roundRect">
            <a:avLst>
              <a:gd name="adj" fmla="val 19048"/>
            </a:avLst>
          </a:prstGeom>
          <a:solidFill>
            <a:srgbClr val="C9D3E0">
              <a:alpha val="10000"/>
            </a:srgbClr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1150665" y="5038725"/>
            <a:ext cx="1005840" cy="1645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MODELO LINEAL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5676900" y="553641"/>
            <a:ext cx="6053328" cy="1719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5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Análisis de 
</a:t>
            </a:r>
            <a:r>
              <a:rPr lang="en-US" sz="45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Rendimiento
</a:t>
            </a:r>
            <a:r>
              <a:rPr lang="en-US" sz="45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Secuencial</a:t>
            </a:r>
            <a:endParaRPr lang="en-US" sz="4500" dirty="0"/>
          </a:p>
        </p:txBody>
      </p:sp>
      <p:sp>
        <p:nvSpPr>
          <p:cNvPr id="9" name="Text 4"/>
          <p:cNvSpPr/>
          <p:nvPr/>
        </p:nvSpPr>
        <p:spPr>
          <a:xfrm>
            <a:off x="5676900" y="2496741"/>
            <a:ext cx="5905500" cy="2102644"/>
          </a:xfrm>
          <a:prstGeom prst="roundRect">
            <a:avLst>
              <a:gd name="adj" fmla="val 7248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5"/>
          <p:cNvSpPr/>
          <p:nvPr/>
        </p:nvSpPr>
        <p:spPr>
          <a:xfrm>
            <a:off x="5676900" y="2501503"/>
            <a:ext cx="5905500" cy="0"/>
          </a:xfrm>
          <a:prstGeom prst="line">
            <a:avLst/>
          </a:prstGeom>
          <a:noFill/>
          <a:ln w="9525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6"/>
          <p:cNvSpPr/>
          <p:nvPr/>
        </p:nvSpPr>
        <p:spPr>
          <a:xfrm>
            <a:off x="11582400" y="2496741"/>
            <a:ext cx="0" cy="2102644"/>
          </a:xfrm>
          <a:prstGeom prst="line">
            <a:avLst/>
          </a:prstGeom>
          <a:noFill/>
          <a:ln w="9525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7"/>
          <p:cNvSpPr/>
          <p:nvPr/>
        </p:nvSpPr>
        <p:spPr>
          <a:xfrm>
            <a:off x="5676900" y="4594622"/>
            <a:ext cx="5905500" cy="0"/>
          </a:xfrm>
          <a:prstGeom prst="line">
            <a:avLst/>
          </a:prstGeom>
          <a:noFill/>
          <a:ln w="9525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8"/>
          <p:cNvSpPr/>
          <p:nvPr/>
        </p:nvSpPr>
        <p:spPr>
          <a:xfrm>
            <a:off x="5676900" y="2496741"/>
            <a:ext cx="0" cy="2102644"/>
          </a:xfrm>
          <a:prstGeom prst="line">
            <a:avLst/>
          </a:prstGeom>
          <a:noFill/>
          <a:ln w="571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9"/>
          <p:cNvSpPr/>
          <p:nvPr/>
        </p:nvSpPr>
        <p:spPr>
          <a:xfrm>
            <a:off x="6038850" y="2811066"/>
            <a:ext cx="342900" cy="485775"/>
          </a:xfrm>
          <a:prstGeom prst="roundRect">
            <a:avLst>
              <a:gd name="adj" fmla="val 22222"/>
            </a:avLst>
          </a:prstGeom>
          <a:solidFill>
            <a:srgbClr val="FFC72C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3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2887266"/>
            <a:ext cx="190500" cy="2667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96050" y="2920603"/>
            <a:ext cx="244144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Ineficiencia del Sistema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038850" y="3448050"/>
            <a:ext cx="5276088" cy="8412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Ejecución lineal de Factura, Inventario, Correo y Reporte. La CPU permanece ociosa esperando procesos lentos, desperdiciando el potencial de cálculo del sistema actual.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674519" y="4904184"/>
            <a:ext cx="1060704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kern="0" spc="-7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12s</a:t>
            </a:r>
            <a:endParaRPr lang="en-US" sz="2700" dirty="0"/>
          </a:p>
        </p:txBody>
      </p:sp>
      <p:sp>
        <p:nvSpPr>
          <p:cNvPr id="19" name="Text 13"/>
          <p:cNvSpPr/>
          <p:nvPr/>
        </p:nvSpPr>
        <p:spPr>
          <a:xfrm>
            <a:off x="5674519" y="5285184"/>
            <a:ext cx="9966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TIEMPO POR PEDIDO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005638" y="4904184"/>
            <a:ext cx="9525" cy="381000"/>
          </a:xfrm>
          <a:prstGeom prst="rect">
            <a:avLst/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7396162" y="4904184"/>
            <a:ext cx="1097280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kern="0" spc="-70">
                <a:solidFill>
                  <a:srgbClr val="B07D00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ALTO</a:t>
            </a:r>
            <a:endParaRPr lang="en-US" sz="2700" dirty="0"/>
          </a:p>
        </p:txBody>
      </p:sp>
      <p:sp>
        <p:nvSpPr>
          <p:cNvPr id="22" name="Text 16"/>
          <p:cNvSpPr/>
          <p:nvPr/>
        </p:nvSpPr>
        <p:spPr>
          <a:xfrm>
            <a:off x="7396162" y="5285184"/>
            <a:ext cx="10241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TIEMPO DE OCIO CPU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55440" y="519113"/>
            <a:ext cx="20939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1257300" y="823913"/>
            <a:ext cx="1987004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219200"/>
            <a:ext cx="1109167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IMPLEMENTACIÓN - Parte 2: Código CON Threads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38800" y="2362200"/>
            <a:ext cx="914400" cy="38100"/>
          </a:xfrm>
          <a:prstGeom prst="roundRect">
            <a:avLst>
              <a:gd name="adj" fmla="val 100000"/>
            </a:avLst>
          </a:prstGeom>
          <a:solidFill>
            <a:srgbClr val="FFC72C">
              <a:alpha val="8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781300"/>
            <a:ext cx="5257800" cy="3886200"/>
          </a:xfrm>
          <a:prstGeom prst="roundRect">
            <a:avLst>
              <a:gd name="adj" fmla="val 5882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9125" y="2790825"/>
            <a:ext cx="5238750" cy="20955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image.png"/>
          <p:cNvPicPr>
            <a:picLocks noChangeAspect="1"/>
          </p:cNvPicPr>
          <p:nvPr/>
        </p:nvPicPr>
        <p:blipFill>
          <a:blip r:embed="rId3"/>
          <a:srcRect b="40000"/>
          <a:stretch/>
        </p:blipFill>
        <p:spPr>
          <a:xfrm>
            <a:off x="619125" y="2790825"/>
            <a:ext cx="5238750" cy="2095500"/>
          </a:xfrm>
          <a:prstGeom prst="rect">
            <a:avLst/>
          </a:prstGeom>
        </p:spPr>
      </p:pic>
      <p:pic>
        <p:nvPicPr>
          <p:cNvPr id="8" name="Image 1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923925" y="5210175"/>
            <a:ext cx="190500" cy="2667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28725" y="5191125"/>
            <a:ext cx="3776472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Creación de Clases y Extensión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23925" y="5300192"/>
            <a:ext cx="4672584" cy="7498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50"/>
              </a:lnSpc>
              <a:buNone/>
            </a:pPr>
            <a:r>
              <a:rPr lang="en-US" sz="12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Creamos las clases Facturacion, Inventario, Correo y Reporte usando "extends Thread" y el método "run()". Es vital invocar "start()" para la concurrencia real.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324600" y="2781300"/>
            <a:ext cx="5257800" cy="3886200"/>
          </a:xfrm>
          <a:prstGeom prst="roundRect">
            <a:avLst>
              <a:gd name="adj" fmla="val 5882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334125" y="2790825"/>
            <a:ext cx="5238750" cy="20955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5"/>
          <a:srcRect b="60000"/>
          <a:stretch/>
        </p:blipFill>
        <p:spPr>
          <a:xfrm>
            <a:off x="6334125" y="2790825"/>
            <a:ext cx="5238750" cy="2095500"/>
          </a:xfrm>
          <a:prstGeom prst="rect">
            <a:avLst/>
          </a:prstGeom>
        </p:spPr>
      </p:pic>
      <p:pic>
        <p:nvPicPr>
          <p:cNvPr id="14" name="Image 3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6638925" y="5210175"/>
            <a:ext cx="152400" cy="2667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05625" y="5191125"/>
            <a:ext cx="3694176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Eficiencia en el Procesamiento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6638925" y="5300192"/>
            <a:ext cx="4672584" cy="7498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5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Esta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implementación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permite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que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los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procesos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logísticos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se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ejecuten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simultáneamente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,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reduciendo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drásticamente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el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tiempo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total de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procesamiento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12 a solo 3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segundos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4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57300" y="538163"/>
            <a:ext cx="173736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500" b="1" kern="0" spc="30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257300" y="804863"/>
            <a:ext cx="1647825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86000"/>
            <a:ext cx="5524500" cy="3429000"/>
          </a:xfrm>
          <a:prstGeom prst="roundRect">
            <a:avLst>
              <a:gd name="adj" fmla="val 4444"/>
            </a:avLst>
          </a:prstGeom>
          <a:noFill/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 r="9536"/>
          <a:stretch/>
        </p:blipFill>
        <p:spPr>
          <a:xfrm>
            <a:off x="619125" y="2295525"/>
            <a:ext cx="5505450" cy="3409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7725" y="5276850"/>
            <a:ext cx="2133600" cy="276225"/>
          </a:xfrm>
          <a:prstGeom prst="roundRect">
            <a:avLst>
              <a:gd name="adj" fmla="val 100000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971550" y="5367338"/>
            <a:ext cx="95250" cy="95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5343525"/>
            <a:ext cx="177393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kern="0" spc="70">
                <a:solidFill>
                  <a:srgbClr val="12284B">
                    <a:alpha val="70000"/>
                  </a:srgbClr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SIMULACIÓN DE PARALELISMO REAL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6286500" y="2362200"/>
            <a:ext cx="5295900" cy="3457575"/>
          </a:xfrm>
          <a:prstGeom prst="roundRect">
            <a:avLst>
              <a:gd name="adj" fmla="val 4408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6286500" y="2366963"/>
            <a:ext cx="52959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6"/>
          <p:cNvSpPr/>
          <p:nvPr/>
        </p:nvSpPr>
        <p:spPr>
          <a:xfrm>
            <a:off x="11582400" y="2362200"/>
            <a:ext cx="0" cy="3457575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6286500" y="5815013"/>
            <a:ext cx="52959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6286500" y="2362200"/>
            <a:ext cx="0" cy="3457575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6629400" y="26765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C72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700838" y="2733675"/>
            <a:ext cx="238125" cy="2667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22319" y="2733675"/>
            <a:ext cx="232257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Gestión del Scheduler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629400" y="3286125"/>
            <a:ext cx="4681728" cy="11155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El Scheduler de Java reparte tiempo de CPU eficientemente. Las trazas mezcladas reflejan la competencia de hilos por recursos. Con Virtual Threads optimizamos el rendimiento de LogiSmart al máximo.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629400" y="4710112"/>
            <a:ext cx="4638675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3"/>
          <p:cNvSpPr/>
          <p:nvPr/>
        </p:nvSpPr>
        <p:spPr>
          <a:xfrm>
            <a:off x="6627019" y="4943475"/>
            <a:ext cx="235000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kern="0" spc="-1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12s → 3s</a:t>
            </a:r>
            <a:endParaRPr lang="en-US" sz="2700" dirty="0"/>
          </a:p>
        </p:txBody>
      </p:sp>
      <p:sp>
        <p:nvSpPr>
          <p:cNvPr id="19" name="Text 14"/>
          <p:cNvSpPr/>
          <p:nvPr/>
        </p:nvSpPr>
        <p:spPr>
          <a:xfrm>
            <a:off x="6627019" y="5362575"/>
            <a:ext cx="228600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MEJORA DE EFICIENCIA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9060656" y="4943475"/>
            <a:ext cx="235000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kern="0" spc="-140">
                <a:solidFill>
                  <a:srgbClr val="B07D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EXITO</a:t>
            </a:r>
            <a:endParaRPr lang="en-US" sz="2700" dirty="0"/>
          </a:p>
        </p:txBody>
      </p:sp>
      <p:sp>
        <p:nvSpPr>
          <p:cNvPr id="21" name="Text 16"/>
          <p:cNvSpPr/>
          <p:nvPr/>
        </p:nvSpPr>
        <p:spPr>
          <a:xfrm>
            <a:off x="9060656" y="5362575"/>
            <a:ext cx="228600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ESTADO DEL PROCESO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2296022" y="914400"/>
            <a:ext cx="7717536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6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Explicación del </a:t>
            </a:r>
            <a:r>
              <a:rPr lang="en-US" sz="3600" b="1" kern="0" spc="-9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Flujo Concurrente</a:t>
            </a:r>
            <a:endParaRPr lang="en-US" sz="3600" dirty="0"/>
          </a:p>
        </p:txBody>
      </p:sp>
      <p:sp>
        <p:nvSpPr>
          <p:cNvPr id="23" name="Text 18"/>
          <p:cNvSpPr/>
          <p:nvPr/>
        </p:nvSpPr>
        <p:spPr>
          <a:xfrm>
            <a:off x="3433763" y="1781175"/>
            <a:ext cx="609600" cy="19050"/>
          </a:xfrm>
          <a:prstGeom prst="rect">
            <a:avLst/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195763" y="1714500"/>
            <a:ext cx="391363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45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GUÍA DINÁMICA JAVA: THREADS &amp; JAR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148638" y="1781175"/>
            <a:ext cx="609600" cy="19050"/>
          </a:xfrm>
          <a:prstGeom prst="rect">
            <a:avLst/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55440" y="519113"/>
            <a:ext cx="20939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7300" y="519113"/>
            <a:ext cx="19933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1443038"/>
            <a:ext cx="304800" cy="9525"/>
          </a:xfrm>
          <a:prstGeom prst="rect">
            <a:avLst/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14400" y="1371600"/>
            <a:ext cx="10917936" cy="18288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270">
                <a:solidFill>
                  <a:srgbClr val="2E5FA3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GUÍA DINÁMICA JAVA: THREADS &amp; DOCUMENTATION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9600" y="1600200"/>
            <a:ext cx="1109167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IMPLEMENTACIÓN: Mejores Prácticas con Javadoc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09600" y="2971800"/>
            <a:ext cx="2571750" cy="342900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image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619125" y="2981325"/>
            <a:ext cx="2552700" cy="34099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9950" y="2971800"/>
            <a:ext cx="2571750" cy="342900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3419475" y="2981325"/>
            <a:ext cx="2552700" cy="34099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0300" y="2971800"/>
            <a:ext cx="2571750" cy="342900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3" descr="image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6219825" y="2981325"/>
            <a:ext cx="2552700" cy="34099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10650" y="2971800"/>
            <a:ext cx="2571750" cy="342900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4" descr="image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9020175" y="2981325"/>
            <a:ext cx="2552700" cy="34099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3925" y="328612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5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1066800" y="3381375"/>
            <a:ext cx="171450" cy="2667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23925" y="4636294"/>
            <a:ext cx="20208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ETIQUETAS BASE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923925" y="4902994"/>
            <a:ext cx="207568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@author</a:t>
            </a:r>
            <a:endParaRPr lang="en-US" sz="2700" dirty="0"/>
          </a:p>
        </p:txBody>
      </p:sp>
      <p:sp>
        <p:nvSpPr>
          <p:cNvPr id="22" name="Text 14"/>
          <p:cNvSpPr/>
          <p:nvPr/>
        </p:nvSpPr>
        <p:spPr>
          <a:xfrm>
            <a:off x="923925" y="5400776"/>
            <a:ext cx="198424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Uso de @author y @version para el control de autoría y ciclo de vida del código Java.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3724275" y="328612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6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3857625" y="3381375"/>
            <a:ext cx="190500" cy="2667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724275" y="4636294"/>
            <a:ext cx="20208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PARÁMETROS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3724275" y="4902994"/>
            <a:ext cx="207568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@param</a:t>
            </a:r>
            <a:endParaRPr lang="en-US" sz="2700" dirty="0"/>
          </a:p>
        </p:txBody>
      </p:sp>
      <p:sp>
        <p:nvSpPr>
          <p:cNvPr id="27" name="Text 18"/>
          <p:cNvSpPr/>
          <p:nvPr/>
        </p:nvSpPr>
        <p:spPr>
          <a:xfrm>
            <a:off x="3724275" y="5400776"/>
            <a:ext cx="198424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Documentación de métodos mediante @param y @return para definir entradas y salidas lógicas.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6524625" y="328612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7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6681788" y="3381375"/>
            <a:ext cx="142875" cy="2667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524625" y="4636294"/>
            <a:ext cx="20208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APLICACIÓN</a:t>
            </a:r>
            <a:endParaRPr lang="en-US" sz="1050" dirty="0"/>
          </a:p>
        </p:txBody>
      </p:sp>
      <p:sp>
        <p:nvSpPr>
          <p:cNvPr id="31" name="Text 21"/>
          <p:cNvSpPr/>
          <p:nvPr/>
        </p:nvSpPr>
        <p:spPr>
          <a:xfrm>
            <a:off x="6524625" y="4902994"/>
            <a:ext cx="207568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Facturación</a:t>
            </a:r>
            <a:endParaRPr lang="en-US" sz="2700" dirty="0"/>
          </a:p>
        </p:txBody>
      </p:sp>
      <p:sp>
        <p:nvSpPr>
          <p:cNvPr id="32" name="Text 22"/>
          <p:cNvSpPr/>
          <p:nvPr/>
        </p:nvSpPr>
        <p:spPr>
          <a:xfrm>
            <a:off x="6524625" y="5400776"/>
            <a:ext cx="198424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Documentación aplicada a la clase Facturacion para facilitar el mantenimiento y flujo lógico.</a:t>
            </a:r>
            <a:endParaRPr lang="en-US" sz="1050" dirty="0"/>
          </a:p>
        </p:txBody>
      </p:sp>
      <p:sp>
        <p:nvSpPr>
          <p:cNvPr id="33" name="Text 23"/>
          <p:cNvSpPr/>
          <p:nvPr/>
        </p:nvSpPr>
        <p:spPr>
          <a:xfrm>
            <a:off x="9324975" y="328612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8" descr="image.png"/>
          <p:cNvPicPr>
            <a:picLocks noChangeAspect="1"/>
          </p:cNvPicPr>
          <p:nvPr/>
        </p:nvPicPr>
        <p:blipFill>
          <a:blip r:embed="rId8">
            <a:duotone>
              <a:srgbClr val="12284B"/>
              <a:srgbClr val="12284B"/>
            </a:duotone>
          </a:blip>
          <a:srcRect/>
          <a:stretch/>
        </p:blipFill>
        <p:spPr>
          <a:xfrm>
            <a:off x="9434513" y="3381375"/>
            <a:ext cx="238125" cy="2667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324975" y="4636294"/>
            <a:ext cx="20208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AUTOMATIZACIÓN</a:t>
            </a:r>
            <a:endParaRPr lang="en-US" sz="1050" dirty="0"/>
          </a:p>
        </p:txBody>
      </p:sp>
      <p:sp>
        <p:nvSpPr>
          <p:cNvPr id="36" name="Text 25"/>
          <p:cNvSpPr/>
          <p:nvPr/>
        </p:nvSpPr>
        <p:spPr>
          <a:xfrm>
            <a:off x="9324975" y="4902994"/>
            <a:ext cx="207568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HTML Help</a:t>
            </a:r>
            <a:endParaRPr lang="en-US" sz="2700" dirty="0"/>
          </a:p>
        </p:txBody>
      </p:sp>
      <p:sp>
        <p:nvSpPr>
          <p:cNvPr id="37" name="Text 26"/>
          <p:cNvSpPr/>
          <p:nvPr/>
        </p:nvSpPr>
        <p:spPr>
          <a:xfrm>
            <a:off x="9324975" y="5400776"/>
            <a:ext cx="198424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Generación automática de manuales en HTML para asegurar el futuro del software logístico.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2000" y="2157413"/>
            <a:ext cx="4305300" cy="4000500"/>
          </a:xfrm>
          <a:prstGeom prst="roundRect">
            <a:avLst>
              <a:gd name="adj" fmla="val 5714"/>
            </a:avLst>
          </a:prstGeom>
          <a:solidFill>
            <a:srgbClr val="FFC72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2005013"/>
            <a:ext cx="4305300" cy="400050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1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125" y="2014538"/>
            <a:ext cx="4286250" cy="398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76900" y="135255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868367" y="1295400"/>
            <a:ext cx="144475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20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PASOS TÉCNICOS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676900" y="1714500"/>
            <a:ext cx="6025896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GENERACIÓN DEL 
</a:t>
            </a:r>
            <a:r>
              <a:rPr lang="en-US" sz="36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ARCHIVO JAR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5676900" y="2762300"/>
            <a:ext cx="5905500" cy="2705100"/>
          </a:xfrm>
          <a:prstGeom prst="roundRect">
            <a:avLst>
              <a:gd name="adj" fmla="val 5634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676900" y="3167063"/>
            <a:ext cx="5905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9"/>
          <p:cNvSpPr/>
          <p:nvPr/>
        </p:nvSpPr>
        <p:spPr>
          <a:xfrm>
            <a:off x="11582400" y="2762300"/>
            <a:ext cx="0" cy="270510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5676900" y="5462638"/>
            <a:ext cx="5905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5676900" y="2762300"/>
            <a:ext cx="0" cy="2705100"/>
          </a:xfrm>
          <a:prstGeom prst="line">
            <a:avLst/>
          </a:prstGeom>
          <a:noFill/>
          <a:ln w="57150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2"/>
          <p:cNvSpPr/>
          <p:nvPr/>
        </p:nvSpPr>
        <p:spPr>
          <a:xfrm>
            <a:off x="5753100" y="5772200"/>
            <a:ext cx="59436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120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6296025" y="5857925"/>
            <a:ext cx="37490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PCs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755035" y="6162725"/>
            <a:ext cx="101498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kern="0" spc="4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IMPLEMENTACIÓN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099995" y="5772200"/>
            <a:ext cx="9525" cy="381000"/>
          </a:xfrm>
          <a:prstGeom prst="rect">
            <a:avLst/>
          </a:prstGeom>
          <a:solidFill>
            <a:srgbClr val="C9D3E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490520" y="5772200"/>
            <a:ext cx="5760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.jar</a:t>
            </a:r>
            <a:endParaRPr lang="en-US" sz="2250" dirty="0"/>
          </a:p>
        </p:txBody>
      </p:sp>
      <p:sp>
        <p:nvSpPr>
          <p:cNvPr id="21" name="Text 17"/>
          <p:cNvSpPr/>
          <p:nvPr/>
        </p:nvSpPr>
        <p:spPr>
          <a:xfrm>
            <a:off x="8014395" y="5857925"/>
            <a:ext cx="35661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BIN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492454" y="6162725"/>
            <a:ext cx="96926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kern="0" spc="4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FORMATO SALIDA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55440" y="519113"/>
            <a:ext cx="18379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 </a:t>
            </a:r>
            <a:r>
              <a:rPr lang="en-US" sz="1800" b="1" kern="0" spc="4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S.A.S.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53150" y="3648075"/>
            <a:ext cx="171450" cy="2667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77000" y="3590925"/>
            <a:ext cx="464515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Limpiar y Construir: Use el comando "Clean and Build Project".</a:t>
            </a:r>
            <a:endParaRPr lang="en-US" sz="1350" dirty="0"/>
          </a:p>
        </p:txBody>
      </p:sp>
      <p:pic>
        <p:nvPicPr>
          <p:cNvPr id="29" name="Image 4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53150" y="4200525"/>
            <a:ext cx="171450" cy="2667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77000" y="4143375"/>
            <a:ext cx="4727448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Localización: El ejecutable aparecerá en la carpeta /dist/ del proyecto.</a:t>
            </a:r>
            <a:endParaRPr lang="en-US" sz="1350" dirty="0"/>
          </a:p>
        </p:txBody>
      </p:sp>
      <p:pic>
        <p:nvPicPr>
          <p:cNvPr id="31" name="Image 5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53150" y="4962525"/>
            <a:ext cx="171450" cy="2667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7000" y="4905375"/>
            <a:ext cx="4727448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Distribución: Copie el archivo .jar para los 120 equipos de la empresa.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5440" y="519113"/>
            <a:ext cx="18379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 </a:t>
            </a:r>
            <a:r>
              <a:rPr lang="en-US" sz="1800" b="1" kern="0" spc="40">
                <a:solidFill>
                  <a:srgbClr val="2E5FA3">
                    <a:alpha val="80000"/>
                  </a:srgbClr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S.A.S.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57300" y="823913"/>
            <a:ext cx="1739354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43995" y="1219200"/>
            <a:ext cx="115488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kern="0" spc="54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GUÍA DINÁMICA JAVA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43091" y="1562100"/>
            <a:ext cx="11640312" cy="5943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kern="0" spc="-11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Ventajas de </a:t>
            </a:r>
            <a:r>
              <a:rPr lang="en-US" sz="4200" b="1" kern="0" spc="-11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Distribución del JAR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181600" y="2324100"/>
            <a:ext cx="1828800" cy="381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9600" y="2743200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image.png"/>
          <p:cNvPicPr>
            <a:picLocks noChangeAspect="1"/>
          </p:cNvPicPr>
          <p:nvPr/>
        </p:nvPicPr>
        <p:blipFill>
          <a:blip r:embed="rId4"/>
          <a:srcRect r="11454"/>
          <a:stretch/>
        </p:blipFill>
        <p:spPr>
          <a:xfrm>
            <a:off x="619125" y="2752725"/>
            <a:ext cx="2552700" cy="21621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43075" y="5023396"/>
            <a:ext cx="304800" cy="1905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1843088" y="5023396"/>
            <a:ext cx="104775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7470" y="5290096"/>
            <a:ext cx="226771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8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Compresión de archivos</a:t>
            </a:r>
            <a:endParaRPr lang="en-US" sz="1380" dirty="0"/>
          </a:p>
        </p:txBody>
      </p:sp>
      <p:sp>
        <p:nvSpPr>
          <p:cNvPr id="15" name="Text 10"/>
          <p:cNvSpPr/>
          <p:nvPr/>
        </p:nvSpPr>
        <p:spPr>
          <a:xfrm>
            <a:off x="771525" y="5364200"/>
            <a:ext cx="2286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6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Agrupa cientos de clases en un paquete ligero, optimizando el almacenamiento logístico.</a:t>
            </a:r>
            <a:endParaRPr lang="en-US" sz="960" dirty="0"/>
          </a:p>
        </p:txBody>
      </p:sp>
      <p:sp>
        <p:nvSpPr>
          <p:cNvPr id="16" name="Text 11"/>
          <p:cNvSpPr/>
          <p:nvPr/>
        </p:nvSpPr>
        <p:spPr>
          <a:xfrm>
            <a:off x="3409950" y="2743200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3" descr="image.png"/>
          <p:cNvPicPr>
            <a:picLocks noChangeAspect="1"/>
          </p:cNvPicPr>
          <p:nvPr/>
        </p:nvPicPr>
        <p:blipFill>
          <a:blip r:embed="rId6"/>
          <a:srcRect r="33590"/>
          <a:stretch/>
        </p:blipFill>
        <p:spPr>
          <a:xfrm>
            <a:off x="3419475" y="2752725"/>
            <a:ext cx="2552700" cy="21621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43425" y="5080546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4629150" y="5137696"/>
            <a:ext cx="133350" cy="1905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64712" y="5268950"/>
            <a:ext cx="170992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8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Seguridad y firma</a:t>
            </a:r>
            <a:endParaRPr lang="en-US" sz="1380" dirty="0"/>
          </a:p>
        </p:txBody>
      </p:sp>
      <p:sp>
        <p:nvSpPr>
          <p:cNvPr id="21" name="Text 14"/>
          <p:cNvSpPr/>
          <p:nvPr/>
        </p:nvSpPr>
        <p:spPr>
          <a:xfrm>
            <a:off x="3571875" y="5535650"/>
            <a:ext cx="228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6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Garantiza que el software no sea alterado, protegiendo la integridad de la operación.</a:t>
            </a:r>
            <a:endParaRPr lang="en-US" sz="960" dirty="0"/>
          </a:p>
        </p:txBody>
      </p:sp>
      <p:sp>
        <p:nvSpPr>
          <p:cNvPr id="22" name="Text 15"/>
          <p:cNvSpPr/>
          <p:nvPr/>
        </p:nvSpPr>
        <p:spPr>
          <a:xfrm>
            <a:off x="6210300" y="2743200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5" descr="image.png"/>
          <p:cNvPicPr>
            <a:picLocks noChangeAspect="1"/>
          </p:cNvPicPr>
          <p:nvPr/>
        </p:nvPicPr>
        <p:blipFill>
          <a:blip r:embed="rId8"/>
          <a:srcRect r="33834"/>
          <a:stretch/>
        </p:blipFill>
        <p:spPr>
          <a:xfrm>
            <a:off x="6219825" y="2752725"/>
            <a:ext cx="2552700" cy="21621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43775" y="5080546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6" descr="image.png"/>
          <p:cNvPicPr>
            <a:picLocks noChangeAspect="1"/>
          </p:cNvPicPr>
          <p:nvPr/>
        </p:nvPicPr>
        <p:blipFill>
          <a:blip r:embed="rId9">
            <a:duotone>
              <a:srgbClr val="12284B"/>
              <a:srgbClr val="12284B"/>
            </a:duotone>
          </a:blip>
          <a:srcRect/>
          <a:stretch/>
        </p:blipFill>
        <p:spPr>
          <a:xfrm>
            <a:off x="7429500" y="5137696"/>
            <a:ext cx="133350" cy="1905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383312" y="5268950"/>
            <a:ext cx="227685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8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Actualización Constante</a:t>
            </a:r>
            <a:endParaRPr lang="en-US" sz="1380" dirty="0"/>
          </a:p>
        </p:txBody>
      </p:sp>
      <p:sp>
        <p:nvSpPr>
          <p:cNvPr id="27" name="Text 18"/>
          <p:cNvSpPr/>
          <p:nvPr/>
        </p:nvSpPr>
        <p:spPr>
          <a:xfrm>
            <a:off x="6372225" y="5535650"/>
            <a:ext cx="228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6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Mantenemos el sistema blindado ante nuevas vulnerabilidades del entorno Java.</a:t>
            </a:r>
            <a:endParaRPr lang="en-US" sz="960" dirty="0"/>
          </a:p>
        </p:txBody>
      </p:sp>
      <p:sp>
        <p:nvSpPr>
          <p:cNvPr id="28" name="Text 19"/>
          <p:cNvSpPr/>
          <p:nvPr/>
        </p:nvSpPr>
        <p:spPr>
          <a:xfrm>
            <a:off x="9010650" y="2743200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7" descr="image.png"/>
          <p:cNvPicPr>
            <a:picLocks noChangeAspect="1"/>
          </p:cNvPicPr>
          <p:nvPr/>
        </p:nvPicPr>
        <p:blipFill>
          <a:blip r:embed="rId10"/>
          <a:srcRect r="34309"/>
          <a:stretch/>
        </p:blipFill>
        <p:spPr>
          <a:xfrm>
            <a:off x="9020175" y="2752725"/>
            <a:ext cx="2552700" cy="216217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144125" y="5080546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8" descr="image.png"/>
          <p:cNvPicPr>
            <a:picLocks noChangeAspect="1"/>
          </p:cNvPicPr>
          <p:nvPr/>
        </p:nvPicPr>
        <p:blipFill>
          <a:blip r:embed="rId11">
            <a:duotone>
              <a:srgbClr val="12284B"/>
              <a:srgbClr val="12284B"/>
            </a:duotone>
          </a:blip>
          <a:srcRect/>
          <a:stretch/>
        </p:blipFill>
        <p:spPr>
          <a:xfrm>
            <a:off x="10220325" y="5137696"/>
            <a:ext cx="152400" cy="1905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446057" y="5268950"/>
            <a:ext cx="173736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4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Facilidad de ejecución</a:t>
            </a:r>
            <a:endParaRPr lang="en-US" sz="1140" dirty="0"/>
          </a:p>
        </p:txBody>
      </p:sp>
      <p:sp>
        <p:nvSpPr>
          <p:cNvPr id="33" name="Text 22"/>
          <p:cNvSpPr/>
          <p:nvPr/>
        </p:nvSpPr>
        <p:spPr>
          <a:xfrm>
            <a:off x="9172575" y="5535650"/>
            <a:ext cx="228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6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Uso de "java -jar LogiSmart.jar" para inicio instantáneo sin configuraciones complejas.</a:t>
            </a:r>
            <a:endParaRPr lang="en-US" sz="9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1066800"/>
            <a:ext cx="1109167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ACTIVIDAD CENTRAL: Reto Empresarial Integrador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991100" y="2090738"/>
            <a:ext cx="914400" cy="9525"/>
          </a:xfrm>
          <a:prstGeom prst="rect">
            <a:avLst/>
          </a:prstGeom>
          <a:solidFill>
            <a:srgbClr val="FFC72C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57900" y="20574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286500" y="2090738"/>
            <a:ext cx="914400" cy="9525"/>
          </a:xfrm>
          <a:prstGeom prst="rect">
            <a:avLst/>
          </a:prstGeom>
          <a:solidFill>
            <a:srgbClr val="FFC72C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243840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F2F5FA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image.png"/>
          <p:cNvPicPr>
            <a:picLocks noChangeAspect="1"/>
          </p:cNvPicPr>
          <p:nvPr/>
        </p:nvPicPr>
        <p:blipFill>
          <a:blip r:embed="rId3"/>
          <a:srcRect b="48387"/>
          <a:stretch/>
        </p:blipFill>
        <p:spPr>
          <a:xfrm>
            <a:off x="619125" y="2447925"/>
            <a:ext cx="1771650" cy="1600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19375" y="2912269"/>
            <a:ext cx="32918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01.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962275" y="2912269"/>
            <a:ext cx="127101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Misión Crítica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619375" y="3214688"/>
            <a:ext cx="3127248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Refactorizar el sistema completo de LogiSmart para resolver cuellos de botella como consultores senior.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09600" y="388625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F2F5FA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4"/>
          <a:srcRect r="37951"/>
          <a:stretch/>
        </p:blipFill>
        <p:spPr>
          <a:xfrm>
            <a:off x="619125" y="3895775"/>
            <a:ext cx="1771650" cy="1600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19375" y="4760119"/>
            <a:ext cx="32918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02.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2962275" y="4760119"/>
            <a:ext cx="181965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Requisitos Técnicos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2619375" y="5062538"/>
            <a:ext cx="3127248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Implementar 4 hilos activos: Pedidos, Inventario, Correo y Reportes usando concurrencia de Oracle.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248400" y="243840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F2F5FA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3" descr="image.png"/>
          <p:cNvPicPr>
            <a:picLocks noChangeAspect="1"/>
          </p:cNvPicPr>
          <p:nvPr/>
        </p:nvPicPr>
        <p:blipFill>
          <a:blip r:embed="rId5"/>
          <a:srcRect b="9677"/>
          <a:stretch/>
        </p:blipFill>
        <p:spPr>
          <a:xfrm>
            <a:off x="9801225" y="2447925"/>
            <a:ext cx="1771650" cy="1600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99639" y="2912269"/>
            <a:ext cx="32918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03.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606379" y="2912269"/>
            <a:ext cx="167335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Entregables Clave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486525" y="3214688"/>
            <a:ext cx="3127248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Código fuente con concurrencia, Javadoc para mantenimiento y archivo JAR ejecutable nacional.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248400" y="388625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F2F5FA">
              <a:alpha val="40000"/>
            </a:srgbClr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image.png"/>
          <p:cNvPicPr>
            <a:picLocks noChangeAspect="1"/>
          </p:cNvPicPr>
          <p:nvPr/>
        </p:nvPicPr>
        <p:blipFill>
          <a:blip r:embed="rId6"/>
          <a:srcRect r="26190"/>
          <a:stretch/>
        </p:blipFill>
        <p:spPr>
          <a:xfrm>
            <a:off x="9801225" y="3895775"/>
            <a:ext cx="1771650" cy="1600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99639" y="4760119"/>
            <a:ext cx="32918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04.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878413" y="4760119"/>
            <a:ext cx="139903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Reflexión Final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486525" y="5062538"/>
            <a:ext cx="3127248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444"/>
              </a:lnSpc>
              <a:buNone/>
            </a:pPr>
            <a:r>
              <a:rPr lang="en-US" sz="10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¿Qué tareas son prioritarias? ¿Cómo asegura el JAR la portabilidad en todas las sedes logísticas?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499586" y="5886500"/>
            <a:ext cx="1122883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kern="0" spc="90">
                <a:solidFill>
                  <a:srgbClr val="B07D00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CICLO DE DESARROLLO 2026 - ESCALABILIDAD Y PROFESIONALISMO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609600" y="3810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5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457200"/>
            <a:ext cx="228600" cy="3048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257300" y="461963"/>
            <a:ext cx="173736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500" b="1" kern="0" spc="30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1257300" y="72866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905000" y="-2857500"/>
            <a:ext cx="7620000" cy="7620000"/>
          </a:xfrm>
          <a:prstGeom prst="roundRect">
            <a:avLst>
              <a:gd name="adj" fmla="val 120000"/>
            </a:avLst>
          </a:prstGeom>
          <a:solidFill>
            <a:srgbClr val="E9EE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53250" y="2571750"/>
            <a:ext cx="6667500" cy="6667500"/>
          </a:xfrm>
          <a:prstGeom prst="roundRect">
            <a:avLst>
              <a:gd name="adj" fmla="val 137143"/>
            </a:avLst>
          </a:prstGeom>
          <a:solidFill>
            <a:srgbClr val="E9EE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14850" y="581025"/>
            <a:ext cx="95250" cy="9525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24400" y="533400"/>
            <a:ext cx="283464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41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DESARROLLO JAVA 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1900" y="581025"/>
            <a:ext cx="95250" cy="9525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55420" y="952500"/>
            <a:ext cx="9427464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12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Taller: Análisis de </a:t>
            </a:r>
            <a:r>
              <a:rPr lang="en-US" sz="4500" b="1" kern="0" spc="-12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Tareas Críticas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333500" y="1905000"/>
            <a:ext cx="9525000" cy="3409950"/>
          </a:xfrm>
          <a:prstGeom prst="roundRect">
            <a:avLst>
              <a:gd name="adj" fmla="val 6704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43025" y="1914525"/>
            <a:ext cx="76200" cy="3390900"/>
          </a:xfrm>
          <a:prstGeom prst="rect">
            <a:avLst/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724025" y="2643187"/>
            <a:ext cx="2711351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722388" y="2295525"/>
            <a:ext cx="282549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Concurrencia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22388" y="2800350"/>
            <a:ext cx="2761488" cy="12435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50"/>
              </a:lnSpc>
              <a:buNone/>
            </a:pPr>
            <a:r>
              <a:rPr lang="en-US" sz="12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Identifiquen procesos de alta latencia para implementar </a:t>
            </a:r>
            <a:r>
              <a:rPr lang="en-US" sz="1200" b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Threads</a:t>
            </a:r>
            <a:r>
              <a:rPr lang="en-US" sz="12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. Optimicen la ejecución paralela en flujos logísticos críticos para evitar bloqueos del sistema principal.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40176" y="2643187"/>
            <a:ext cx="2711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738613" y="2295525"/>
            <a:ext cx="282549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Documentación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38613" y="2800350"/>
            <a:ext cx="2761488" cy="12435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50"/>
              </a:lnSpc>
              <a:buNone/>
            </a:pPr>
            <a:r>
              <a:rPr lang="en-US" sz="12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Utilicen </a:t>
            </a:r>
            <a:r>
              <a:rPr lang="en-US" sz="1200" b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Javadoc</a:t>
            </a:r>
            <a:r>
              <a:rPr lang="en-US" sz="12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para detallar elementos técnicos. Es vital para el equipo de soporte identificar parámetros, excepciones y comportamientos de los hilos implementados.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56475" y="2643187"/>
            <a:ext cx="2711351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754838" y="2295525"/>
            <a:ext cx="282549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Portabilidad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54838" y="2800350"/>
            <a:ext cx="2761488" cy="12435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50"/>
              </a:lnSpc>
              <a:buNone/>
            </a:pPr>
            <a:r>
              <a:rPr lang="en-US" sz="12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Aseguren la funcionalidad mediante pruebas del </a:t>
            </a:r>
            <a:r>
              <a:rPr lang="en-US" sz="1200" b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JAR</a:t>
            </a:r>
            <a:r>
              <a:rPr lang="en-US" sz="12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en diversos entornos. Sigan las tendencias de 2026 para garantizar la compatibilidad multiplataforma.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24025" y="4424362"/>
            <a:ext cx="874395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1" name="Image 0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1724025" y="4657725"/>
            <a:ext cx="219075" cy="2667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019300" y="4695825"/>
            <a:ext cx="136245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>
                <a:solidFill>
                  <a:srgbClr val="3F4A5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Threads &amp; Javadoc</a:t>
            </a:r>
            <a:endParaRPr lang="en-US" sz="1050" dirty="0"/>
          </a:p>
        </p:txBody>
      </p:sp>
      <p:pic>
        <p:nvPicPr>
          <p:cNvPr id="23" name="Image 1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3543300" y="4657725"/>
            <a:ext cx="171450" cy="2667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90950" y="4695825"/>
            <a:ext cx="13075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>
                <a:solidFill>
                  <a:srgbClr val="3F4A5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Empaquetado JAR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953375" y="4714875"/>
            <a:ext cx="259689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>
                <a:solidFill>
                  <a:srgbClr val="12284B">
                    <a:alpha val="4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GUÍA DINÁMICA JAVA - LOGISMART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257300" y="519113"/>
            <a:ext cx="19933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19200" y="-952500"/>
            <a:ext cx="3810000" cy="3810000"/>
          </a:xfrm>
          <a:prstGeom prst="roundRect">
            <a:avLst>
              <a:gd name="adj" fmla="val 100000"/>
            </a:avLst>
          </a:prstGeom>
          <a:solidFill>
            <a:srgbClr val="FFC72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19900" y="3048000"/>
            <a:ext cx="4762500" cy="4762500"/>
          </a:xfrm>
          <a:prstGeom prst="roundRect">
            <a:avLst>
              <a:gd name="adj" fmla="val 100000"/>
            </a:avLst>
          </a:prstGeom>
          <a:solidFill>
            <a:srgbClr val="2E5FA3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609600" y="1695450"/>
            <a:ext cx="190500" cy="152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6300" y="1676400"/>
            <a:ext cx="141732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METODOLOGÍA ABR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9600" y="2019300"/>
            <a:ext cx="4425696" cy="1719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Aprendizaje Basado 
</a:t>
            </a:r>
            <a:r>
              <a:rPr lang="en-US" sz="36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 Retos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09600" y="3638600"/>
            <a:ext cx="4305300" cy="257175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09600" y="4043363"/>
            <a:ext cx="43053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914900" y="3638600"/>
            <a:ext cx="0" cy="257175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609600" y="6205588"/>
            <a:ext cx="43053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609600" y="3638600"/>
            <a:ext cx="0" cy="2571750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952500" y="4352925"/>
            <a:ext cx="3694176" cy="11155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Cada equipo actúa como una Consultora de Software en una defensa técnica ante el Gerente. Se debe justificar la arquitectura mediante la gestión de hilos y estándares profesionales.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52500" y="5372150"/>
            <a:ext cx="109728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Java 8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952500" y="5753150"/>
            <a:ext cx="105156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HILOS ESTÁNDAR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257425" y="5372150"/>
            <a:ext cx="9525" cy="457200"/>
          </a:xfrm>
          <a:prstGeom prst="rect">
            <a:avLst/>
          </a:prstGeom>
          <a:solidFill>
            <a:srgbClr val="C9D3E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571750" y="5372150"/>
            <a:ext cx="1289304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Valhalla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571750" y="5753150"/>
            <a:ext cx="124358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RENDIMIENTO</a:t>
            </a:r>
            <a:endParaRPr lang="en-US" sz="750" dirty="0"/>
          </a:p>
        </p:txBody>
      </p:sp>
      <p:sp>
        <p:nvSpPr>
          <p:cNvPr id="907" name="Panel IUB"/>
          <p:cNvSpPr/>
          <p:nvPr/>
        </p:nvSpPr>
        <p:spPr>
          <a:xfrm>
            <a:off x="5252100" y="1175400"/>
            <a:ext cx="6450300" cy="5193000"/>
          </a:xfrm>
          <a:prstGeom prst="roundRect">
            <a:avLst>
              <a:gd name="adj" fmla="val 4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9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72100" y="1295400"/>
            <a:ext cx="6210300" cy="4953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55440" y="519113"/>
            <a:ext cx="209397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791200" y="60008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943600" y="6000800"/>
            <a:ext cx="3048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6324600" y="60008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29500" y="-1905000"/>
            <a:ext cx="5715000" cy="5715000"/>
          </a:xfrm>
          <a:prstGeom prst="roundRect">
            <a:avLst>
              <a:gd name="adj" fmla="val 100000"/>
            </a:avLst>
          </a:prstGeom>
          <a:solidFill>
            <a:srgbClr val="FFC72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952500" y="3048000"/>
            <a:ext cx="4762500" cy="4762500"/>
          </a:xfrm>
          <a:prstGeom prst="roundRect">
            <a:avLst>
              <a:gd name="adj" fmla="val 100000"/>
            </a:avLst>
          </a:prstGeom>
          <a:solidFill>
            <a:srgbClr val="FFC72C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image.png"/>
          <p:cNvPicPr>
            <a:picLocks noChangeAspect="1"/>
          </p:cNvPicPr>
          <p:nvPr/>
        </p:nvPicPr>
        <p:blipFill>
          <a:blip r:embed="rId3"/>
          <a:srcRect r="54286"/>
          <a:stretch/>
        </p:blipFill>
        <p:spPr>
          <a:xfrm>
            <a:off x="762000" y="1462088"/>
            <a:ext cx="4000500" cy="50006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0600" y="5434063"/>
            <a:ext cx="1438275" cy="400050"/>
          </a:xfrm>
          <a:prstGeom prst="roundRect">
            <a:avLst>
              <a:gd name="adj" fmla="val 19048"/>
            </a:avLst>
          </a:prstGeom>
          <a:solidFill>
            <a:srgbClr val="F2F5FA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152525" y="5567413"/>
            <a:ext cx="1143000" cy="1645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DEFENSA TÉCNICA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76900" y="742950"/>
            <a:ext cx="6016752" cy="10789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125"/>
              </a:lnSpc>
              <a:buNone/>
            </a:pPr>
            <a:r>
              <a:rPr lang="en-US" sz="33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Preguntas del Gerente: 
</a:t>
            </a:r>
            <a:r>
              <a:rPr lang="en-US" sz="33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Examen Final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5676900" y="2047875"/>
            <a:ext cx="5905500" cy="4257675"/>
          </a:xfrm>
          <a:prstGeom prst="roundRect">
            <a:avLst>
              <a:gd name="adj" fmla="val 3579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676900" y="2052638"/>
            <a:ext cx="5905500" cy="0"/>
          </a:xfrm>
          <a:prstGeom prst="line">
            <a:avLst/>
          </a:prstGeom>
          <a:noFill/>
          <a:ln w="9525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11582400" y="2047875"/>
            <a:ext cx="0" cy="4257675"/>
          </a:xfrm>
          <a:prstGeom prst="line">
            <a:avLst/>
          </a:prstGeom>
          <a:noFill/>
          <a:ln w="9525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5676900" y="5900788"/>
            <a:ext cx="5905500" cy="0"/>
          </a:xfrm>
          <a:prstGeom prst="line">
            <a:avLst/>
          </a:prstGeom>
          <a:noFill/>
          <a:ln w="9525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5676900" y="2047875"/>
            <a:ext cx="0" cy="4257675"/>
          </a:xfrm>
          <a:prstGeom prst="line">
            <a:avLst/>
          </a:prstGeom>
          <a:noFill/>
          <a:ln w="571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6038850" y="2362200"/>
            <a:ext cx="304800" cy="485775"/>
          </a:xfrm>
          <a:prstGeom prst="roundRect">
            <a:avLst>
              <a:gd name="adj" fmla="val 25000"/>
            </a:avLst>
          </a:prstGeom>
          <a:solidFill>
            <a:srgbClr val="FFC72C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2438400"/>
            <a:ext cx="152400" cy="2667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57950" y="2471738"/>
            <a:ext cx="189280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Integridad de Datos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038850" y="2924175"/>
            <a:ext cx="5276088" cy="50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¿Cómo garantizan que el inventario no falle con 100 hilos simultáneos? Defensa de la solución ante desafíos críticos.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038850" y="3648075"/>
            <a:ext cx="371475" cy="485775"/>
          </a:xfrm>
          <a:prstGeom prst="roundRect">
            <a:avLst>
              <a:gd name="adj" fmla="val 20513"/>
            </a:avLst>
          </a:prstGeom>
          <a:solidFill>
            <a:srgbClr val="FFC72C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3724275"/>
            <a:ext cx="219075" cy="2667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24625" y="3757613"/>
            <a:ext cx="139903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Mantenibilidad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038850" y="4210050"/>
            <a:ext cx="5276088" cy="50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¿Quién podrá dar soporte al código en 5 años? Aseguren la continuidad mediante documentación técnica profesional.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038850" y="4933950"/>
            <a:ext cx="323850" cy="485775"/>
          </a:xfrm>
          <a:prstGeom prst="roundRect">
            <a:avLst>
              <a:gd name="adj" fmla="val 23529"/>
            </a:avLst>
          </a:prstGeom>
          <a:solidFill>
            <a:srgbClr val="FFC72C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5010150"/>
            <a:ext cx="171450" cy="2667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77000" y="5043488"/>
            <a:ext cx="12618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Escalabilidad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038850" y="5303689"/>
            <a:ext cx="5276088" cy="50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¿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Cómo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planean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escalar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el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sistema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a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nivel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internacional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usando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empaquetado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JAR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eficiente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para el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futuro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la </a:t>
            </a:r>
            <a:r>
              <a:rPr lang="en-US" sz="120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empresa</a:t>
            </a:r>
            <a:r>
              <a:rPr lang="en-US" sz="120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?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674519" y="6210350"/>
            <a:ext cx="108813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kern="0" spc="-6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100</a:t>
            </a:r>
            <a:endParaRPr lang="en-US" sz="2250" dirty="0"/>
          </a:p>
        </p:txBody>
      </p:sp>
      <p:sp>
        <p:nvSpPr>
          <p:cNvPr id="27" name="Text 21"/>
          <p:cNvSpPr/>
          <p:nvPr/>
        </p:nvSpPr>
        <p:spPr>
          <a:xfrm>
            <a:off x="5674519" y="6553250"/>
            <a:ext cx="103327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HILOS SIMULTÁNEOS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043738" y="6210350"/>
            <a:ext cx="9525" cy="381000"/>
          </a:xfrm>
          <a:prstGeom prst="rect">
            <a:avLst/>
          </a:prstGeom>
          <a:solidFill>
            <a:srgbClr val="C9D3E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7431881" y="6210350"/>
            <a:ext cx="130759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kern="0" spc="-6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JAR</a:t>
            </a:r>
            <a:endParaRPr lang="en-US" sz="2250" dirty="0"/>
          </a:p>
        </p:txBody>
      </p:sp>
      <p:sp>
        <p:nvSpPr>
          <p:cNvPr id="30" name="Text 24"/>
          <p:cNvSpPr/>
          <p:nvPr/>
        </p:nvSpPr>
        <p:spPr>
          <a:xfrm>
            <a:off x="7431881" y="6553250"/>
            <a:ext cx="12527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EMPAQUETADO EFICIENTE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255440" y="509587"/>
            <a:ext cx="2048256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1257300" y="833438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6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image.png"/>
          <p:cNvPicPr>
            <a:picLocks noChangeAspect="1"/>
          </p:cNvPicPr>
          <p:nvPr/>
        </p:nvPicPr>
        <p:blipFill>
          <a:blip r:embed="rId3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533400"/>
            <a:ext cx="28575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519113"/>
            <a:ext cx="19933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57300" y="8239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9600" y="1443038"/>
            <a:ext cx="304800" cy="9525"/>
          </a:xfrm>
          <a:prstGeom prst="rect">
            <a:avLst/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14400" y="1371600"/>
            <a:ext cx="10917936" cy="18288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270">
                <a:solidFill>
                  <a:srgbClr val="2E5FA3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DESARROLLO DE SOFTWARE JAVA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9600" y="1600200"/>
            <a:ext cx="11311128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9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Actividad Integradora: Requerimientos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9600" y="2514600"/>
            <a:ext cx="2571750" cy="342900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603123" y="2870366"/>
            <a:ext cx="2552700" cy="3409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9950" y="2514600"/>
            <a:ext cx="2571750" cy="342900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image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3419475" y="2524125"/>
            <a:ext cx="2552700" cy="34099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0300" y="2514600"/>
            <a:ext cx="2571750" cy="342900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3" descr="image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6219825" y="2524125"/>
            <a:ext cx="2552700" cy="34099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10650" y="2514600"/>
            <a:ext cx="2571750" cy="342900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4" descr="image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9020175" y="2524125"/>
            <a:ext cx="2552700" cy="34099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9600" y="5876264"/>
            <a:ext cx="145389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CASO LOGISMART S.A.S.</a:t>
            </a:r>
            <a:endParaRPr lang="en-US" sz="750" dirty="0"/>
          </a:p>
        </p:txBody>
      </p:sp>
      <p:sp>
        <p:nvSpPr>
          <p:cNvPr id="20" name="Text 13"/>
          <p:cNvSpPr/>
          <p:nvPr/>
        </p:nvSpPr>
        <p:spPr>
          <a:xfrm>
            <a:off x="2085975" y="5876264"/>
            <a:ext cx="219456" cy="173736"/>
          </a:xfrm>
          <a:prstGeom prst="rect">
            <a:avLst/>
          </a:prstGeom>
          <a:noFill/>
          <a:ln/>
        </p:spPr>
        <p:txBody>
          <a:bodyPr vert="horz" wrap="none" lIns="76200" tIns="0" rIns="7620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|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2352675" y="5876264"/>
            <a:ext cx="149961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>
                <a:solidFill>
                  <a:srgbClr val="2E5FA3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CONCURRENCIA EN JAVA</a:t>
            </a:r>
            <a:endParaRPr lang="en-US" sz="750" dirty="0"/>
          </a:p>
        </p:txBody>
      </p:sp>
      <p:sp>
        <p:nvSpPr>
          <p:cNvPr id="22" name="Text 15"/>
          <p:cNvSpPr/>
          <p:nvPr/>
        </p:nvSpPr>
        <p:spPr>
          <a:xfrm>
            <a:off x="923925" y="282892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5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1057275" y="2924175"/>
            <a:ext cx="190500" cy="2667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23925" y="4217194"/>
            <a:ext cx="20208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NUEVAS FUNCIONES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923925" y="4483894"/>
            <a:ext cx="205740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Módulos</a:t>
            </a:r>
            <a:endParaRPr lang="en-US" sz="2250" dirty="0"/>
          </a:p>
        </p:txBody>
      </p:sp>
      <p:sp>
        <p:nvSpPr>
          <p:cNvPr id="26" name="Text 18"/>
          <p:cNvSpPr/>
          <p:nvPr/>
        </p:nvSpPr>
        <p:spPr>
          <a:xfrm>
            <a:off x="893164" y="4868107"/>
            <a:ext cx="198424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Implementación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Guía de Transporte y Copia de Seguridad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automática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la Nube.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3724275" y="282892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6" descr="image.png"/>
          <p:cNvPicPr>
            <a:picLocks noChangeAspect="1"/>
          </p:cNvPicPr>
          <p:nvPr/>
        </p:nvPicPr>
        <p:blipFill>
          <a:blip r:embed="rId6">
            <a:duotone>
              <a:srgbClr val="12284B"/>
              <a:srgbClr val="12284B"/>
            </a:duotone>
          </a:blip>
          <a:srcRect/>
          <a:stretch/>
        </p:blipFill>
        <p:spPr>
          <a:xfrm>
            <a:off x="3843338" y="2924175"/>
            <a:ext cx="219075" cy="2667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724275" y="4217194"/>
            <a:ext cx="20208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FLUJO DE HILOS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3724275" y="4483894"/>
            <a:ext cx="205740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Threads</a:t>
            </a:r>
            <a:endParaRPr lang="en-US" sz="2250" dirty="0"/>
          </a:p>
        </p:txBody>
      </p:sp>
      <p:sp>
        <p:nvSpPr>
          <p:cNvPr id="31" name="Text 22"/>
          <p:cNvSpPr/>
          <p:nvPr/>
        </p:nvSpPr>
        <p:spPr>
          <a:xfrm>
            <a:off x="3724275" y="4793550"/>
            <a:ext cx="198424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Diseño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flujo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donde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las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tareas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operan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como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clases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que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extienden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Thread.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6524625" y="282892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7" descr="image.png"/>
          <p:cNvPicPr>
            <a:picLocks noChangeAspect="1"/>
          </p:cNvPicPr>
          <p:nvPr/>
        </p:nvPicPr>
        <p:blipFill>
          <a:blip r:embed="rId7">
            <a:duotone>
              <a:srgbClr val="12284B"/>
              <a:srgbClr val="12284B"/>
            </a:duotone>
          </a:blip>
          <a:srcRect/>
          <a:stretch/>
        </p:blipFill>
        <p:spPr>
          <a:xfrm>
            <a:off x="6667500" y="2924175"/>
            <a:ext cx="171450" cy="2667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524625" y="4217194"/>
            <a:ext cx="20208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ESTÁNDAR JAVA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6524625" y="4483894"/>
            <a:ext cx="205740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API Docs</a:t>
            </a:r>
            <a:endParaRPr lang="en-US" sz="2250" dirty="0"/>
          </a:p>
        </p:txBody>
      </p:sp>
      <p:sp>
        <p:nvSpPr>
          <p:cNvPr id="36" name="Text 26"/>
          <p:cNvSpPr/>
          <p:nvPr/>
        </p:nvSpPr>
        <p:spPr>
          <a:xfrm>
            <a:off x="6524625" y="4838566"/>
            <a:ext cx="198424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Aplicación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métodos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administración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oficiales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para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integridad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logística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.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9324975" y="282892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72C">
              <a:alpha val="10000"/>
            </a:srgbClr>
          </a:solidFill>
          <a:ln w="9525">
            <a:solidFill>
              <a:srgbClr val="FFC72C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8" descr="image.png"/>
          <p:cNvPicPr>
            <a:picLocks noChangeAspect="1"/>
          </p:cNvPicPr>
          <p:nvPr/>
        </p:nvPicPr>
        <p:blipFill>
          <a:blip r:embed="rId8">
            <a:duotone>
              <a:srgbClr val="12284B"/>
              <a:srgbClr val="12284B"/>
            </a:duotone>
          </a:blip>
          <a:srcRect/>
          <a:stretch/>
        </p:blipFill>
        <p:spPr>
          <a:xfrm>
            <a:off x="9458325" y="2924175"/>
            <a:ext cx="190500" cy="26670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324975" y="4217194"/>
            <a:ext cx="20208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>
                <a:solidFill>
                  <a:srgbClr val="12284B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DESPLIEGUE</a:t>
            </a:r>
            <a:endParaRPr lang="en-US" sz="1050" dirty="0"/>
          </a:p>
        </p:txBody>
      </p:sp>
      <p:sp>
        <p:nvSpPr>
          <p:cNvPr id="40" name="Text 29"/>
          <p:cNvSpPr/>
          <p:nvPr/>
        </p:nvSpPr>
        <p:spPr>
          <a:xfrm>
            <a:off x="9324975" y="4483894"/>
            <a:ext cx="205740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JAR Final</a:t>
            </a:r>
            <a:endParaRPr lang="en-US" sz="2250" dirty="0"/>
          </a:p>
        </p:txBody>
      </p:sp>
      <p:sp>
        <p:nvSpPr>
          <p:cNvPr id="41" name="Text 30"/>
          <p:cNvSpPr/>
          <p:nvPr/>
        </p:nvSpPr>
        <p:spPr>
          <a:xfrm>
            <a:off x="9342692" y="4901585"/>
            <a:ext cx="198424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Identificación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concurrencia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,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uso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 Javadoc y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preparación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del </a:t>
            </a:r>
            <a:r>
              <a:rPr lang="en-US" sz="1050" dirty="0" err="1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archivo</a:t>
            </a:r>
            <a:r>
              <a:rPr lang="en-US" sz="1050" dirty="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 JAR.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1776413"/>
            <a:ext cx="4305300" cy="381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125" y="1785938"/>
            <a:ext cx="4286250" cy="37909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76900" y="135255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867400" y="1295400"/>
            <a:ext cx="192938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200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FASE DE FINALIZACIÓN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676900" y="1714500"/>
            <a:ext cx="6025896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Documentación y 
</a:t>
            </a:r>
            <a:r>
              <a:rPr lang="en-US" sz="3600" b="1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Empaquetado Final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5676900" y="3162300"/>
            <a:ext cx="5905500" cy="2057400"/>
          </a:xfrm>
          <a:prstGeom prst="roundRect">
            <a:avLst>
              <a:gd name="adj" fmla="val 7407"/>
            </a:avLst>
          </a:prstGeom>
          <a:solidFill>
            <a:srgbClr val="F2F5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676900" y="3167063"/>
            <a:ext cx="5905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11582400" y="3162300"/>
            <a:ext cx="0" cy="205740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5676900" y="5214938"/>
            <a:ext cx="5905500" cy="0"/>
          </a:xfrm>
          <a:prstGeom prst="line">
            <a:avLst/>
          </a:prstGeom>
          <a:noFill/>
          <a:ln w="9525">
            <a:solidFill>
              <a:srgbClr val="C9D3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9"/>
          <p:cNvSpPr/>
          <p:nvPr/>
        </p:nvSpPr>
        <p:spPr>
          <a:xfrm>
            <a:off x="5676900" y="3162300"/>
            <a:ext cx="0" cy="2057400"/>
          </a:xfrm>
          <a:prstGeom prst="line">
            <a:avLst/>
          </a:prstGeom>
          <a:noFill/>
          <a:ln w="571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0"/>
          <p:cNvSpPr/>
          <p:nvPr/>
        </p:nvSpPr>
        <p:spPr>
          <a:xfrm>
            <a:off x="5753100" y="5476595"/>
            <a:ext cx="521208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3.0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6229350" y="5562320"/>
            <a:ext cx="3474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seg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754067" y="5867120"/>
            <a:ext cx="115214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kern="0" spc="4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TIEMPO DE PROCESO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231410" y="5476595"/>
            <a:ext cx="9525" cy="381000"/>
          </a:xfrm>
          <a:prstGeom prst="rect">
            <a:avLst/>
          </a:prstGeom>
          <a:solidFill>
            <a:srgbClr val="C9D3E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621935" y="5476595"/>
            <a:ext cx="63093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100</a:t>
            </a:r>
            <a:endParaRPr lang="en-US" sz="2250" dirty="0"/>
          </a:p>
        </p:txBody>
      </p:sp>
      <p:sp>
        <p:nvSpPr>
          <p:cNvPr id="19" name="Text 15"/>
          <p:cNvSpPr/>
          <p:nvPr/>
        </p:nvSpPr>
        <p:spPr>
          <a:xfrm>
            <a:off x="8202960" y="5562320"/>
            <a:ext cx="21945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2E5FA3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%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621042" y="5867120"/>
            <a:ext cx="118872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kern="0" spc="4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TRAZABILIDAD TOTAL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09600" y="4572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723900" y="533400"/>
            <a:ext cx="228600" cy="3048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55440" y="481012"/>
            <a:ext cx="2093976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kern="0" spc="4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LogiSmart </a:t>
            </a:r>
            <a:r>
              <a:rPr lang="en-US" sz="1800" b="1" kern="0" spc="4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S.A.S.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1257300" y="862013"/>
            <a:ext cx="304800" cy="28575"/>
          </a:xfrm>
          <a:prstGeom prst="roundRect">
            <a:avLst>
              <a:gd name="adj" fmla="val 100000"/>
            </a:avLst>
          </a:prstGeom>
          <a:solidFill>
            <a:srgbClr val="FFC7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3609975"/>
            <a:ext cx="171450" cy="2667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38900" y="3552825"/>
            <a:ext cx="384048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Actualización del Javadoc con los nuevos módulos.</a:t>
            </a:r>
            <a:endParaRPr lang="en-US" sz="1350" dirty="0"/>
          </a:p>
        </p:txBody>
      </p:sp>
      <p:pic>
        <p:nvPicPr>
          <p:cNvPr id="27" name="Image 4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4086225"/>
            <a:ext cx="171450" cy="2667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38900" y="4029075"/>
            <a:ext cx="310896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Creación del archivo JAR final versionado.</a:t>
            </a:r>
            <a:endParaRPr lang="en-US" sz="1350" dirty="0"/>
          </a:p>
        </p:txBody>
      </p:sp>
      <p:pic>
        <p:nvPicPr>
          <p:cNvPr id="29" name="Image 5" descr="image.png"/>
          <p:cNvPicPr>
            <a:picLocks noChangeAspect="1"/>
          </p:cNvPicPr>
          <p:nvPr/>
        </p:nvPicPr>
        <p:blipFill>
          <a:blip r:embed="rId5">
            <a:duotone>
              <a:srgbClr val="12284B"/>
              <a:srgbClr val="12284B"/>
            </a:duotone>
          </a:blip>
          <a:srcRect/>
          <a:stretch/>
        </p:blipFill>
        <p:spPr>
          <a:xfrm>
            <a:off x="6115050" y="4562475"/>
            <a:ext cx="171450" cy="2667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438900" y="4505325"/>
            <a:ext cx="407822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Prueba de ejecución del sistema completo optimizado.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0" y="3048000"/>
            <a:ext cx="4762500" cy="4762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3810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 w="9525">
            <a:solidFill>
              <a:srgbClr val="C9D3E0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3" descr="image.png"/>
          <p:cNvPicPr>
            <a:picLocks noChangeAspect="1"/>
          </p:cNvPicPr>
          <p:nvPr/>
        </p:nvPicPr>
        <p:blipFill>
          <a:blip r:embed="rId4">
            <a:duotone>
              <a:srgbClr val="12284B"/>
              <a:srgbClr val="12284B"/>
            </a:duotone>
          </a:blip>
          <a:srcRect/>
          <a:stretch/>
        </p:blipFill>
        <p:spPr>
          <a:xfrm>
            <a:off x="695325" y="457200"/>
            <a:ext cx="285750" cy="3048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257300" y="461963"/>
            <a:ext cx="15361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0">
                <a:solidFill>
                  <a:srgbClr val="12284B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LogiSmart </a:t>
            </a:r>
            <a:r>
              <a:rPr lang="en-US" sz="1500" b="1" kern="0" spc="30">
                <a:solidFill>
                  <a:srgbClr val="2E5FA3">
                    <a:alpha val="80000"/>
                  </a:srgbClr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S.A.S.</a:t>
            </a:r>
            <a:endParaRPr lang="en-US" sz="1500" dirty="0"/>
          </a:p>
        </p:txBody>
      </p:sp>
      <p:sp>
        <p:nvSpPr>
          <p:cNvPr id="8" name="Text 2"/>
          <p:cNvSpPr/>
          <p:nvPr/>
        </p:nvSpPr>
        <p:spPr>
          <a:xfrm>
            <a:off x="1257300" y="728663"/>
            <a:ext cx="457200" cy="28575"/>
          </a:xfrm>
          <a:prstGeom prst="roundRect">
            <a:avLst>
              <a:gd name="adj" fmla="val 100000"/>
            </a:avLst>
          </a:prstGeom>
          <a:solidFill>
            <a:srgbClr val="FFC72C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344043" y="1066800"/>
            <a:ext cx="1154887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kern="0" spc="360">
                <a:solidFill>
                  <a:srgbClr val="2E5FA3">
                    <a:alpha val="8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CIERRE Y REFLEXIÓN PROFESIONAL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343186" y="1371600"/>
            <a:ext cx="11631168" cy="685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875"/>
              </a:lnSpc>
              <a:buNone/>
            </a:pPr>
            <a:r>
              <a:rPr lang="en-US" sz="3900" b="1" kern="0" spc="-100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¿Qué software quieres </a:t>
            </a:r>
            <a:r>
              <a:rPr lang="en-US" sz="3900" b="1" kern="0" spc="-100">
                <a:solidFill>
                  <a:srgbClr val="2E5FA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entregar al mundo?</a:t>
            </a:r>
            <a:endParaRPr lang="en-US" sz="3900" dirty="0"/>
          </a:p>
        </p:txBody>
      </p:sp>
      <p:sp>
        <p:nvSpPr>
          <p:cNvPr id="11" name="Text 5"/>
          <p:cNvSpPr/>
          <p:nvPr/>
        </p:nvSpPr>
        <p:spPr>
          <a:xfrm>
            <a:off x="5181600" y="2143125"/>
            <a:ext cx="1828800" cy="38100"/>
          </a:xfrm>
          <a:prstGeom prst="roundRect">
            <a:avLst>
              <a:gd name="adj" fmla="val 100000"/>
            </a:avLst>
          </a:prstGeom>
          <a:solidFill>
            <a:srgbClr val="FFC72C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609600" y="2486025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4" descr="image.png"/>
          <p:cNvPicPr>
            <a:picLocks noChangeAspect="1"/>
          </p:cNvPicPr>
          <p:nvPr/>
        </p:nvPicPr>
        <p:blipFill>
          <a:blip r:embed="rId5"/>
          <a:srcRect r="29275"/>
          <a:stretch/>
        </p:blipFill>
        <p:spPr>
          <a:xfrm>
            <a:off x="619125" y="2495550"/>
            <a:ext cx="2552700" cy="21621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409950" y="2486025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5" descr="image.png"/>
          <p:cNvPicPr>
            <a:picLocks noChangeAspect="1"/>
          </p:cNvPicPr>
          <p:nvPr/>
        </p:nvPicPr>
        <p:blipFill>
          <a:blip r:embed="rId6"/>
          <a:srcRect r="40969"/>
          <a:stretch/>
        </p:blipFill>
        <p:spPr>
          <a:xfrm>
            <a:off x="3419475" y="2495550"/>
            <a:ext cx="2552700" cy="21621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210300" y="2486025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6" descr="image.png"/>
          <p:cNvPicPr>
            <a:picLocks noChangeAspect="1"/>
          </p:cNvPicPr>
          <p:nvPr/>
        </p:nvPicPr>
        <p:blipFill>
          <a:blip r:embed="rId7"/>
          <a:srcRect r="21675"/>
          <a:stretch/>
        </p:blipFill>
        <p:spPr>
          <a:xfrm>
            <a:off x="6219825" y="2495550"/>
            <a:ext cx="2552700" cy="21621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010650" y="2486025"/>
            <a:ext cx="2571750" cy="361950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C9D3E0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7" descr="image.png"/>
          <p:cNvPicPr>
            <a:picLocks noChangeAspect="1"/>
          </p:cNvPicPr>
          <p:nvPr/>
        </p:nvPicPr>
        <p:blipFill>
          <a:blip r:embed="rId8"/>
          <a:srcRect r="24886"/>
          <a:stretch/>
        </p:blipFill>
        <p:spPr>
          <a:xfrm>
            <a:off x="9020175" y="2495550"/>
            <a:ext cx="2552700" cy="216217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44091" y="6010325"/>
            <a:ext cx="1153972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>
                <a:solidFill>
                  <a:srgbClr val="3F4A5A">
                    <a:alpha val="70000"/>
                  </a:srgbClr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Conexión final: Rendimiento (Threads) + Mantenimiento (Javadoc) + Profesionalismo (JAR)</a:t>
            </a:r>
            <a:endParaRPr lang="en-US" sz="1050" dirty="0"/>
          </a:p>
        </p:txBody>
      </p:sp>
      <p:sp>
        <p:nvSpPr>
          <p:cNvPr id="21" name="Text 11"/>
          <p:cNvSpPr/>
          <p:nvPr/>
        </p:nvSpPr>
        <p:spPr>
          <a:xfrm>
            <a:off x="1743075" y="4905821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8" descr="image.png"/>
          <p:cNvPicPr>
            <a:picLocks noChangeAspect="1"/>
          </p:cNvPicPr>
          <p:nvPr/>
        </p:nvPicPr>
        <p:blipFill>
          <a:blip r:embed="rId9">
            <a:duotone>
              <a:srgbClr val="12284B"/>
              <a:srgbClr val="12284B"/>
            </a:duotone>
          </a:blip>
          <a:srcRect/>
          <a:stretch/>
        </p:blipFill>
        <p:spPr>
          <a:xfrm>
            <a:off x="1843088" y="4962971"/>
            <a:ext cx="104775" cy="1905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312107" y="5286821"/>
            <a:ext cx="121615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8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Rendimiento</a:t>
            </a:r>
            <a:endParaRPr lang="en-US" sz="1380" dirty="0"/>
          </a:p>
        </p:txBody>
      </p:sp>
      <p:sp>
        <p:nvSpPr>
          <p:cNvPr id="24" name="Text 13"/>
          <p:cNvSpPr/>
          <p:nvPr/>
        </p:nvSpPr>
        <p:spPr>
          <a:xfrm>
            <a:off x="771525" y="5152033"/>
            <a:ext cx="2286000" cy="301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52"/>
              </a:lnSpc>
              <a:buNone/>
            </a:pPr>
            <a:r>
              <a:rPr lang="en-US" sz="96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Los Threads optimizan la ejecución de LogiSmart según la necesidad del sistema.</a:t>
            </a:r>
            <a:endParaRPr lang="en-US" sz="960" dirty="0"/>
          </a:p>
        </p:txBody>
      </p:sp>
      <p:sp>
        <p:nvSpPr>
          <p:cNvPr id="25" name="Text 14"/>
          <p:cNvSpPr/>
          <p:nvPr/>
        </p:nvSpPr>
        <p:spPr>
          <a:xfrm>
            <a:off x="4543425" y="4905821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9" descr="image.png"/>
          <p:cNvPicPr>
            <a:picLocks noChangeAspect="1"/>
          </p:cNvPicPr>
          <p:nvPr/>
        </p:nvPicPr>
        <p:blipFill>
          <a:blip r:embed="rId10">
            <a:duotone>
              <a:srgbClr val="12284B"/>
              <a:srgbClr val="12284B"/>
            </a:duotone>
          </a:blip>
          <a:srcRect/>
          <a:stretch/>
        </p:blipFill>
        <p:spPr>
          <a:xfrm>
            <a:off x="4610100" y="4962971"/>
            <a:ext cx="171450" cy="1905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4151319" y="5286821"/>
            <a:ext cx="113385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8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Paralelismo</a:t>
            </a:r>
            <a:endParaRPr lang="en-US" sz="1380" dirty="0"/>
          </a:p>
        </p:txBody>
      </p:sp>
      <p:sp>
        <p:nvSpPr>
          <p:cNvPr id="28" name="Text 16"/>
          <p:cNvSpPr/>
          <p:nvPr/>
        </p:nvSpPr>
        <p:spPr>
          <a:xfrm>
            <a:off x="3571875" y="5152033"/>
            <a:ext cx="2286000" cy="301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52"/>
              </a:lnSpc>
              <a:buNone/>
            </a:pPr>
            <a:r>
              <a:rPr lang="en-US" sz="96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La clase Thread permite ejecutar procesos paralelos mejorando la respuesta global.</a:t>
            </a:r>
            <a:endParaRPr lang="en-US" sz="960" dirty="0"/>
          </a:p>
        </p:txBody>
      </p:sp>
      <p:sp>
        <p:nvSpPr>
          <p:cNvPr id="29" name="Text 17"/>
          <p:cNvSpPr/>
          <p:nvPr/>
        </p:nvSpPr>
        <p:spPr>
          <a:xfrm>
            <a:off x="7343775" y="4905821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10" descr="image.png"/>
          <p:cNvPicPr>
            <a:picLocks noChangeAspect="1"/>
          </p:cNvPicPr>
          <p:nvPr/>
        </p:nvPicPr>
        <p:blipFill>
          <a:blip r:embed="rId11">
            <a:duotone>
              <a:srgbClr val="12284B"/>
              <a:srgbClr val="12284B"/>
            </a:duotone>
          </a:blip>
          <a:srcRect/>
          <a:stretch/>
        </p:blipFill>
        <p:spPr>
          <a:xfrm>
            <a:off x="7429500" y="4962971"/>
            <a:ext cx="133350" cy="1905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757359" y="5286821"/>
            <a:ext cx="152704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8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Profesionalismo</a:t>
            </a:r>
            <a:endParaRPr lang="en-US" sz="1380" dirty="0"/>
          </a:p>
        </p:txBody>
      </p:sp>
      <p:sp>
        <p:nvSpPr>
          <p:cNvPr id="32" name="Text 19"/>
          <p:cNvSpPr/>
          <p:nvPr/>
        </p:nvSpPr>
        <p:spPr>
          <a:xfrm>
            <a:off x="6372225" y="5152033"/>
            <a:ext cx="2286000" cy="301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52"/>
              </a:lnSpc>
              <a:buNone/>
            </a:pPr>
            <a:r>
              <a:rPr lang="en-US" sz="96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Javadoc garantiza mantenimiento y los JAR aseguran una distribución profesional.</a:t>
            </a:r>
            <a:endParaRPr lang="en-US" sz="960" dirty="0"/>
          </a:p>
        </p:txBody>
      </p:sp>
      <p:sp>
        <p:nvSpPr>
          <p:cNvPr id="33" name="Text 20"/>
          <p:cNvSpPr/>
          <p:nvPr/>
        </p:nvSpPr>
        <p:spPr>
          <a:xfrm>
            <a:off x="10144125" y="4905821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E9EE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11" descr="image.png"/>
          <p:cNvPicPr>
            <a:picLocks noChangeAspect="1"/>
          </p:cNvPicPr>
          <p:nvPr/>
        </p:nvPicPr>
        <p:blipFill>
          <a:blip r:embed="rId12">
            <a:duotone>
              <a:srgbClr val="12284B"/>
              <a:srgbClr val="12284B"/>
            </a:duotone>
          </a:blip>
          <a:srcRect/>
          <a:stretch/>
        </p:blipFill>
        <p:spPr>
          <a:xfrm>
            <a:off x="10244138" y="4962971"/>
            <a:ext cx="104775" cy="19050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9800596" y="5286821"/>
            <a:ext cx="104241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80" b="1">
                <a:solidFill>
                  <a:srgbClr val="12284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Soluciones</a:t>
            </a:r>
            <a:endParaRPr lang="en-US" sz="1380" dirty="0"/>
          </a:p>
        </p:txBody>
      </p:sp>
      <p:sp>
        <p:nvSpPr>
          <p:cNvPr id="36" name="Text 22"/>
          <p:cNvSpPr/>
          <p:nvPr/>
        </p:nvSpPr>
        <p:spPr>
          <a:xfrm>
            <a:off x="9172575" y="5152033"/>
            <a:ext cx="2286000" cy="301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52"/>
              </a:lnSpc>
              <a:buNone/>
            </a:pPr>
            <a:r>
              <a:rPr lang="en-US" sz="960">
                <a:solidFill>
                  <a:srgbClr val="3F4A5A"/>
                </a:solidFill>
                <a:latin typeface="Source Sans 3 ExtraLight" pitchFamily="34" charset="0"/>
                <a:ea typeface="Source Sans 3 ExtraLight" pitchFamily="34" charset="-122"/>
                <a:cs typeface="Source Sans 3 ExtraLight" pitchFamily="34" charset="-120"/>
              </a:rPr>
              <a:t>¡Construye soluciones Java rápidas, eficientes y bien documentadas hoy!</a:t>
            </a:r>
            <a:endParaRPr lang="en-US" sz="9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184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6105</TotalTime>
  <Words>2739</Words>
  <Application>Microsoft Office PowerPoint</Application>
  <PresentationFormat>Panorámica</PresentationFormat>
  <Paragraphs>435</Paragraphs>
  <Slides>38</Slides>
  <Notes>36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7" baseType="lpstr">
      <vt:lpstr>Aptos</vt:lpstr>
      <vt:lpstr>Arial</vt:lpstr>
      <vt:lpstr>Calibri</vt:lpstr>
      <vt:lpstr>Calibri Light</vt:lpstr>
      <vt:lpstr>Helvetica</vt:lpstr>
      <vt:lpstr>Lexend</vt:lpstr>
      <vt:lpstr>Source Sans 3</vt:lpstr>
      <vt:lpstr>Source Sans 3 ExtraLight</vt:lpstr>
      <vt:lpstr>Tema de Office</vt:lpstr>
      <vt:lpstr>COM28  DESARROLLO DE SOFTWARE ORIENTADA A OBJETOS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Edinson Jose Castillo Zabala</cp:lastModifiedBy>
  <cp:revision>48</cp:revision>
  <dcterms:created xsi:type="dcterms:W3CDTF">2018-08-01T15:48:14Z</dcterms:created>
  <dcterms:modified xsi:type="dcterms:W3CDTF">2026-07-29T23:25:22Z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67fb3e-ac31-4c8c-a672-17639f3ff98d_Enabled">
    <vt:lpwstr>true</vt:lpwstr>
  </property>
  <property fmtid="{D5CDD505-2E9C-101B-9397-08002B2CF9AE}" pid="3" name="MSIP_Label_cd67fb3e-ac31-4c8c-a672-17639f3ff98d_SetDate">
    <vt:lpwstr>2023-05-16T03:27:00Z</vt:lpwstr>
  </property>
  <property fmtid="{D5CDD505-2E9C-101B-9397-08002B2CF9AE}" pid="4" name="MSIP_Label_cd67fb3e-ac31-4c8c-a672-17639f3ff98d_Method">
    <vt:lpwstr>Standard</vt:lpwstr>
  </property>
  <property fmtid="{D5CDD505-2E9C-101B-9397-08002B2CF9AE}" pid="5" name="MSIP_Label_cd67fb3e-ac31-4c8c-a672-17639f3ff98d_Name">
    <vt:lpwstr>cédula</vt:lpwstr>
  </property>
  <property fmtid="{D5CDD505-2E9C-101B-9397-08002B2CF9AE}" pid="6" name="MSIP_Label_cd67fb3e-ac31-4c8c-a672-17639f3ff98d_SiteId">
    <vt:lpwstr>1e9aabe8-67f8-4f1c-a329-a754e92499ae</vt:lpwstr>
  </property>
  <property fmtid="{D5CDD505-2E9C-101B-9397-08002B2CF9AE}" pid="7" name="MSIP_Label_cd67fb3e-ac31-4c8c-a672-17639f3ff98d_ActionId">
    <vt:lpwstr>23cae690-9009-4ef8-ba5f-937c4fa8b5b8</vt:lpwstr>
  </property>
  <property fmtid="{D5CDD505-2E9C-101B-9397-08002B2CF9AE}" pid="8" name="MSIP_Label_cd67fb3e-ac31-4c8c-a672-17639f3ff98d_ContentBits">
    <vt:lpwstr>0</vt:lpwstr>
  </property>
</Properties>
</file>