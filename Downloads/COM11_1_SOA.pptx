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5"/>
  </p:notesMasterIdLst>
  <p:sldIdLst>
    <p:sldId id="256" r:id="rId2"/>
    <p:sldId id="287" r:id="rId3"/>
    <p:sldId id="285" r:id="rId4"/>
    <p:sldId id="288" r:id="rId5"/>
    <p:sldId id="289" r:id="rId6"/>
    <p:sldId id="290" r:id="rId7"/>
    <p:sldId id="291" r:id="rId8"/>
    <p:sldId id="292" r:id="rId9"/>
    <p:sldId id="293" r:id="rId10"/>
    <p:sldId id="294" r:id="rId11"/>
    <p:sldId id="295" r:id="rId12"/>
    <p:sldId id="296" r:id="rId13"/>
    <p:sldId id="297" r:id="rId14"/>
    <p:sldId id="299" r:id="rId15"/>
    <p:sldId id="300" r:id="rId16"/>
    <p:sldId id="301" r:id="rId17"/>
    <p:sldId id="302" r:id="rId18"/>
    <p:sldId id="305" r:id="rId19"/>
    <p:sldId id="303" r:id="rId20"/>
    <p:sldId id="306" r:id="rId21"/>
    <p:sldId id="298" r:id="rId22"/>
    <p:sldId id="286" r:id="rId23"/>
    <p:sldId id="258" r:id="rId24"/>
  </p:sldIdLst>
  <p:sldSz cx="9144000" cy="6858000" type="screen4x3"/>
  <p:notesSz cx="6858000" cy="9144000"/>
  <p:defaultText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0341F0D9-A177-480D-9C1D-B55204DC4947}">
          <p14:sldIdLst>
            <p14:sldId id="256"/>
            <p14:sldId id="287"/>
            <p14:sldId id="285"/>
            <p14:sldId id="288"/>
            <p14:sldId id="289"/>
            <p14:sldId id="290"/>
            <p14:sldId id="291"/>
            <p14:sldId id="292"/>
            <p14:sldId id="293"/>
            <p14:sldId id="294"/>
            <p14:sldId id="295"/>
            <p14:sldId id="296"/>
            <p14:sldId id="297"/>
            <p14:sldId id="299"/>
            <p14:sldId id="300"/>
            <p14:sldId id="301"/>
            <p14:sldId id="302"/>
            <p14:sldId id="305"/>
            <p14:sldId id="303"/>
            <p14:sldId id="306"/>
            <p14:sldId id="298"/>
            <p14:sldId id="286"/>
          </p14:sldIdLst>
        </p14:section>
        <p14:section name="Sección sin título" id="{08BED16D-A868-4C23-B427-E9128FF4CC2D}">
          <p14:sldIdLst>
            <p14:sldId id="258"/>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3E8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51"/>
  </p:normalViewPr>
  <p:slideViewPr>
    <p:cSldViewPr snapToGrid="0" snapToObjects="1">
      <p:cViewPr varScale="1">
        <p:scale>
          <a:sx n="69" d="100"/>
          <a:sy n="69" d="100"/>
        </p:scale>
        <p:origin x="1416"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CD016E-2354-4DA4-866C-79ED6CCBB236}" type="datetimeFigureOut">
              <a:rPr lang="es-CO" smtClean="0"/>
              <a:t>6/05/2021</a:t>
            </a:fld>
            <a:endParaRPr lang="es-CO"/>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A673C3-6D18-4C01-B13A-483B83245998}" type="slidenum">
              <a:rPr lang="es-CO" smtClean="0"/>
              <a:t>‹Nº›</a:t>
            </a:fld>
            <a:endParaRPr lang="es-CO"/>
          </a:p>
        </p:txBody>
      </p:sp>
    </p:spTree>
    <p:extLst>
      <p:ext uri="{BB962C8B-B14F-4D97-AF65-F5344CB8AC3E}">
        <p14:creationId xmlns:p14="http://schemas.microsoft.com/office/powerpoint/2010/main" val="34835645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pic>
        <p:nvPicPr>
          <p:cNvPr id="3" name="Imagen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ctrTitle"/>
          </p:nvPr>
        </p:nvSpPr>
        <p:spPr>
          <a:xfrm>
            <a:off x="5712822" y="3579211"/>
            <a:ext cx="3213464" cy="409303"/>
          </a:xfrm>
        </p:spPr>
        <p:txBody>
          <a:bodyPr anchor="b">
            <a:normAutofit/>
          </a:bodyPr>
          <a:lstStyle>
            <a:lvl1pPr algn="ctr">
              <a:defRPr sz="2200">
                <a:solidFill>
                  <a:schemeClr val="bg1"/>
                </a:solidFill>
              </a:defRPr>
            </a:lvl1pPr>
          </a:lstStyle>
          <a:p>
            <a:r>
              <a:rPr lang="es-ES_tradnl" dirty="0" smtClean="0"/>
              <a:t>Clic para editar título</a:t>
            </a:r>
            <a:endParaRPr lang="en-US" dirty="0"/>
          </a:p>
        </p:txBody>
      </p:sp>
    </p:spTree>
    <p:extLst>
      <p:ext uri="{BB962C8B-B14F-4D97-AF65-F5344CB8AC3E}">
        <p14:creationId xmlns:p14="http://schemas.microsoft.com/office/powerpoint/2010/main" val="588892078"/>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dirty="0" smtClean="0"/>
              <a:t>Clic para editar título</a:t>
            </a:r>
            <a:endParaRPr lang="en-US" dirty="0"/>
          </a:p>
        </p:txBody>
      </p:sp>
      <p:sp>
        <p:nvSpPr>
          <p:cNvPr id="3" name="Content Placeholder 2"/>
          <p:cNvSpPr>
            <a:spLocks noGrp="1"/>
          </p:cNvSpPr>
          <p:nvPr>
            <p:ph idx="1"/>
          </p:nvPr>
        </p:nvSpPr>
        <p:spPr/>
        <p:txBody>
          <a:bodyPr/>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lang="en-US" dirty="0"/>
          </a:p>
        </p:txBody>
      </p:sp>
      <p:sp>
        <p:nvSpPr>
          <p:cNvPr id="4" name="Date Placeholder 3"/>
          <p:cNvSpPr>
            <a:spLocks noGrp="1"/>
          </p:cNvSpPr>
          <p:nvPr>
            <p:ph type="dt" sz="half" idx="10"/>
          </p:nvPr>
        </p:nvSpPr>
        <p:spPr/>
        <p:txBody>
          <a:bodyPr/>
          <a:lstStyle/>
          <a:p>
            <a:fld id="{0F016410-C1F3-F445-AFA9-69A0F4D0A58D}" type="datetimeFigureOut">
              <a:rPr lang="es-ES_tradnl" smtClean="0"/>
              <a:t>06/05/2021</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30286BD1-B9C2-744F-8E97-255DE502F743}" type="slidenum">
              <a:rPr lang="es-ES_tradnl" smtClean="0"/>
              <a:t>‹Nº›</a:t>
            </a:fld>
            <a:endParaRPr lang="es-ES_tradnl"/>
          </a:p>
        </p:txBody>
      </p:sp>
    </p:spTree>
    <p:extLst>
      <p:ext uri="{BB962C8B-B14F-4D97-AF65-F5344CB8AC3E}">
        <p14:creationId xmlns:p14="http://schemas.microsoft.com/office/powerpoint/2010/main" val="19045095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ncabezado de sección">
    <p:spTree>
      <p:nvGrpSpPr>
        <p:cNvPr id="1" name=""/>
        <p:cNvGrpSpPr/>
        <p:nvPr/>
      </p:nvGrpSpPr>
      <p:grpSpPr>
        <a:xfrm>
          <a:off x="0" y="0"/>
          <a:ext cx="0" cy="0"/>
          <a:chOff x="0" y="0"/>
          <a:chExt cx="0" cy="0"/>
        </a:xfrm>
      </p:grpSpPr>
      <p:pic>
        <p:nvPicPr>
          <p:cNvPr id="7" name="Imagen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84858445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smtClean="0"/>
              <a:t>Clic para editar título</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lang="en-US" dirty="0"/>
          </a:p>
        </p:txBody>
      </p:sp>
      <p:sp>
        <p:nvSpPr>
          <p:cNvPr id="5" name="Date Placeholder 4"/>
          <p:cNvSpPr>
            <a:spLocks noGrp="1"/>
          </p:cNvSpPr>
          <p:nvPr>
            <p:ph type="dt" sz="half" idx="10"/>
          </p:nvPr>
        </p:nvSpPr>
        <p:spPr/>
        <p:txBody>
          <a:bodyPr/>
          <a:lstStyle/>
          <a:p>
            <a:fld id="{0F016410-C1F3-F445-AFA9-69A0F4D0A58D}" type="datetimeFigureOut">
              <a:rPr lang="es-ES_tradnl" smtClean="0"/>
              <a:t>06/05/2021</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30286BD1-B9C2-744F-8E97-255DE502F743}" type="slidenum">
              <a:rPr lang="es-ES_tradnl" smtClean="0"/>
              <a:t>‹Nº›</a:t>
            </a:fld>
            <a:endParaRPr lang="es-ES_tradnl"/>
          </a:p>
        </p:txBody>
      </p:sp>
    </p:spTree>
    <p:extLst>
      <p:ext uri="{BB962C8B-B14F-4D97-AF65-F5344CB8AC3E}">
        <p14:creationId xmlns:p14="http://schemas.microsoft.com/office/powerpoint/2010/main" val="7200354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s-ES_tradnl" smtClean="0"/>
              <a:t>Clic para editar título</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smtClean="0"/>
              <a:t>Haga clic para modificar el estilo de texto del patrón</a:t>
            </a:r>
          </a:p>
        </p:txBody>
      </p:sp>
      <p:sp>
        <p:nvSpPr>
          <p:cNvPr id="4" name="Content Placeholder 3"/>
          <p:cNvSpPr>
            <a:spLocks noGrp="1"/>
          </p:cNvSpPr>
          <p:nvPr>
            <p:ph sz="half" idx="2"/>
          </p:nvPr>
        </p:nvSpPr>
        <p:spPr>
          <a:xfrm>
            <a:off x="629842" y="2505075"/>
            <a:ext cx="3868340" cy="3684588"/>
          </a:xfrm>
        </p:spPr>
        <p:txBody>
          <a:bodyPr/>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smtClean="0"/>
              <a:t>Haga clic para modificar el estilo de texto del patrón</a:t>
            </a:r>
          </a:p>
        </p:txBody>
      </p:sp>
      <p:sp>
        <p:nvSpPr>
          <p:cNvPr id="6" name="Content Placeholder 5"/>
          <p:cNvSpPr>
            <a:spLocks noGrp="1"/>
          </p:cNvSpPr>
          <p:nvPr>
            <p:ph sz="quarter" idx="4"/>
          </p:nvPr>
        </p:nvSpPr>
        <p:spPr>
          <a:xfrm>
            <a:off x="4629150" y="2505075"/>
            <a:ext cx="3887391" cy="3684588"/>
          </a:xfrm>
        </p:spPr>
        <p:txBody>
          <a:bodyPr/>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lang="en-US" dirty="0"/>
          </a:p>
        </p:txBody>
      </p:sp>
      <p:sp>
        <p:nvSpPr>
          <p:cNvPr id="7" name="Date Placeholder 6"/>
          <p:cNvSpPr>
            <a:spLocks noGrp="1"/>
          </p:cNvSpPr>
          <p:nvPr>
            <p:ph type="dt" sz="half" idx="10"/>
          </p:nvPr>
        </p:nvSpPr>
        <p:spPr/>
        <p:txBody>
          <a:bodyPr/>
          <a:lstStyle/>
          <a:p>
            <a:fld id="{0F016410-C1F3-F445-AFA9-69A0F4D0A58D}" type="datetimeFigureOut">
              <a:rPr lang="es-ES_tradnl" smtClean="0"/>
              <a:t>06/05/2021</a:t>
            </a:fld>
            <a:endParaRPr lang="es-ES_tradnl"/>
          </a:p>
        </p:txBody>
      </p:sp>
      <p:sp>
        <p:nvSpPr>
          <p:cNvPr id="8" name="Footer Placeholder 7"/>
          <p:cNvSpPr>
            <a:spLocks noGrp="1"/>
          </p:cNvSpPr>
          <p:nvPr>
            <p:ph type="ftr" sz="quarter" idx="11"/>
          </p:nvPr>
        </p:nvSpPr>
        <p:spPr/>
        <p:txBody>
          <a:bodyPr/>
          <a:lstStyle/>
          <a:p>
            <a:endParaRPr lang="es-ES_tradnl"/>
          </a:p>
        </p:txBody>
      </p:sp>
      <p:sp>
        <p:nvSpPr>
          <p:cNvPr id="9" name="Slide Number Placeholder 8"/>
          <p:cNvSpPr>
            <a:spLocks noGrp="1"/>
          </p:cNvSpPr>
          <p:nvPr>
            <p:ph type="sldNum" sz="quarter" idx="12"/>
          </p:nvPr>
        </p:nvSpPr>
        <p:spPr/>
        <p:txBody>
          <a:bodyPr/>
          <a:lstStyle/>
          <a:p>
            <a:fld id="{30286BD1-B9C2-744F-8E97-255DE502F743}" type="slidenum">
              <a:rPr lang="es-ES_tradnl" smtClean="0"/>
              <a:t>‹Nº›</a:t>
            </a:fld>
            <a:endParaRPr lang="es-ES_tradnl"/>
          </a:p>
        </p:txBody>
      </p:sp>
    </p:spTree>
    <p:extLst>
      <p:ext uri="{BB962C8B-B14F-4D97-AF65-F5344CB8AC3E}">
        <p14:creationId xmlns:p14="http://schemas.microsoft.com/office/powerpoint/2010/main" val="5655917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smtClean="0"/>
              <a:t>Clic para editar título</a:t>
            </a:r>
            <a:endParaRPr lang="en-US" dirty="0"/>
          </a:p>
        </p:txBody>
      </p:sp>
      <p:sp>
        <p:nvSpPr>
          <p:cNvPr id="3" name="Date Placeholder 2"/>
          <p:cNvSpPr>
            <a:spLocks noGrp="1"/>
          </p:cNvSpPr>
          <p:nvPr>
            <p:ph type="dt" sz="half" idx="10"/>
          </p:nvPr>
        </p:nvSpPr>
        <p:spPr/>
        <p:txBody>
          <a:bodyPr/>
          <a:lstStyle/>
          <a:p>
            <a:fld id="{0F016410-C1F3-F445-AFA9-69A0F4D0A58D}" type="datetimeFigureOut">
              <a:rPr lang="es-ES_tradnl" smtClean="0"/>
              <a:t>06/05/2021</a:t>
            </a:fld>
            <a:endParaRPr lang="es-ES_tradnl"/>
          </a:p>
        </p:txBody>
      </p:sp>
      <p:sp>
        <p:nvSpPr>
          <p:cNvPr id="4" name="Footer Placeholder 3"/>
          <p:cNvSpPr>
            <a:spLocks noGrp="1"/>
          </p:cNvSpPr>
          <p:nvPr>
            <p:ph type="ftr" sz="quarter" idx="11"/>
          </p:nvPr>
        </p:nvSpPr>
        <p:spPr/>
        <p:txBody>
          <a:bodyPr/>
          <a:lstStyle/>
          <a:p>
            <a:endParaRPr lang="es-ES_tradnl"/>
          </a:p>
        </p:txBody>
      </p:sp>
      <p:sp>
        <p:nvSpPr>
          <p:cNvPr id="5" name="Slide Number Placeholder 4"/>
          <p:cNvSpPr>
            <a:spLocks noGrp="1"/>
          </p:cNvSpPr>
          <p:nvPr>
            <p:ph type="sldNum" sz="quarter" idx="12"/>
          </p:nvPr>
        </p:nvSpPr>
        <p:spPr/>
        <p:txBody>
          <a:bodyPr/>
          <a:lstStyle/>
          <a:p>
            <a:fld id="{30286BD1-B9C2-744F-8E97-255DE502F743}" type="slidenum">
              <a:rPr lang="es-ES_tradnl" smtClean="0"/>
              <a:t>‹Nº›</a:t>
            </a:fld>
            <a:endParaRPr lang="es-ES_tradnl"/>
          </a:p>
        </p:txBody>
      </p:sp>
    </p:spTree>
    <p:extLst>
      <p:ext uri="{BB962C8B-B14F-4D97-AF65-F5344CB8AC3E}">
        <p14:creationId xmlns:p14="http://schemas.microsoft.com/office/powerpoint/2010/main" val="11381055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016410-C1F3-F445-AFA9-69A0F4D0A58D}" type="datetimeFigureOut">
              <a:rPr lang="es-ES_tradnl" smtClean="0"/>
              <a:t>06/05/2021</a:t>
            </a:fld>
            <a:endParaRPr lang="es-ES_tradnl"/>
          </a:p>
        </p:txBody>
      </p:sp>
      <p:sp>
        <p:nvSpPr>
          <p:cNvPr id="3" name="Footer Placeholder 2"/>
          <p:cNvSpPr>
            <a:spLocks noGrp="1"/>
          </p:cNvSpPr>
          <p:nvPr>
            <p:ph type="ftr" sz="quarter" idx="11"/>
          </p:nvPr>
        </p:nvSpPr>
        <p:spPr/>
        <p:txBody>
          <a:bodyPr/>
          <a:lstStyle/>
          <a:p>
            <a:endParaRPr lang="es-ES_tradnl"/>
          </a:p>
        </p:txBody>
      </p:sp>
      <p:sp>
        <p:nvSpPr>
          <p:cNvPr id="4" name="Slide Number Placeholder 3"/>
          <p:cNvSpPr>
            <a:spLocks noGrp="1"/>
          </p:cNvSpPr>
          <p:nvPr>
            <p:ph type="sldNum" sz="quarter" idx="12"/>
          </p:nvPr>
        </p:nvSpPr>
        <p:spPr/>
        <p:txBody>
          <a:bodyPr/>
          <a:lstStyle/>
          <a:p>
            <a:fld id="{30286BD1-B9C2-744F-8E97-255DE502F743}" type="slidenum">
              <a:rPr lang="es-ES_tradnl" smtClean="0"/>
              <a:t>‹Nº›</a:t>
            </a:fld>
            <a:endParaRPr lang="es-ES_tradnl"/>
          </a:p>
        </p:txBody>
      </p:sp>
    </p:spTree>
    <p:extLst>
      <p:ext uri="{BB962C8B-B14F-4D97-AF65-F5344CB8AC3E}">
        <p14:creationId xmlns:p14="http://schemas.microsoft.com/office/powerpoint/2010/main" val="5023787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_tradnl" smtClean="0"/>
              <a:t>Clic para editar título</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_tradnl" smtClean="0"/>
              <a:t>Haga clic para modificar el estilo de texto del patrón</a:t>
            </a:r>
          </a:p>
        </p:txBody>
      </p:sp>
      <p:sp>
        <p:nvSpPr>
          <p:cNvPr id="5" name="Date Placeholder 4"/>
          <p:cNvSpPr>
            <a:spLocks noGrp="1"/>
          </p:cNvSpPr>
          <p:nvPr>
            <p:ph type="dt" sz="half" idx="10"/>
          </p:nvPr>
        </p:nvSpPr>
        <p:spPr/>
        <p:txBody>
          <a:bodyPr/>
          <a:lstStyle/>
          <a:p>
            <a:fld id="{0F016410-C1F3-F445-AFA9-69A0F4D0A58D}" type="datetimeFigureOut">
              <a:rPr lang="es-ES_tradnl" smtClean="0"/>
              <a:t>06/05/2021</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30286BD1-B9C2-744F-8E97-255DE502F743}" type="slidenum">
              <a:rPr lang="es-ES_tradnl" smtClean="0"/>
              <a:t>‹Nº›</a:t>
            </a:fld>
            <a:endParaRPr lang="es-ES_tradnl"/>
          </a:p>
        </p:txBody>
      </p:sp>
    </p:spTree>
    <p:extLst>
      <p:ext uri="{BB962C8B-B14F-4D97-AF65-F5344CB8AC3E}">
        <p14:creationId xmlns:p14="http://schemas.microsoft.com/office/powerpoint/2010/main" val="17206953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_tradnl" smtClean="0"/>
              <a:t>Clic para editar título</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_tradnl" smtClean="0"/>
              <a:t>Arrastre la imagen al marcador de posición o haga clic en el icono para agregar</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_tradnl" smtClean="0"/>
              <a:t>Haga clic para modificar el estilo de texto del patrón</a:t>
            </a:r>
          </a:p>
        </p:txBody>
      </p:sp>
      <p:sp>
        <p:nvSpPr>
          <p:cNvPr id="5" name="Date Placeholder 4"/>
          <p:cNvSpPr>
            <a:spLocks noGrp="1"/>
          </p:cNvSpPr>
          <p:nvPr>
            <p:ph type="dt" sz="half" idx="10"/>
          </p:nvPr>
        </p:nvSpPr>
        <p:spPr/>
        <p:txBody>
          <a:bodyPr/>
          <a:lstStyle/>
          <a:p>
            <a:fld id="{0F016410-C1F3-F445-AFA9-69A0F4D0A58D}" type="datetimeFigureOut">
              <a:rPr lang="es-ES_tradnl" smtClean="0"/>
              <a:t>06/05/2021</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30286BD1-B9C2-744F-8E97-255DE502F743}" type="slidenum">
              <a:rPr lang="es-ES_tradnl" smtClean="0"/>
              <a:t>‹Nº›</a:t>
            </a:fld>
            <a:endParaRPr lang="es-ES_tradnl"/>
          </a:p>
        </p:txBody>
      </p:sp>
    </p:spTree>
    <p:extLst>
      <p:ext uri="{BB962C8B-B14F-4D97-AF65-F5344CB8AC3E}">
        <p14:creationId xmlns:p14="http://schemas.microsoft.com/office/powerpoint/2010/main" val="17125451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smtClean="0"/>
              <a:t>Clic para editar título</a:t>
            </a:r>
            <a:endParaRPr lang="en-US" dirty="0"/>
          </a:p>
        </p:txBody>
      </p:sp>
      <p:sp>
        <p:nvSpPr>
          <p:cNvPr id="3" name="Vertical Text Placeholder 2"/>
          <p:cNvSpPr>
            <a:spLocks noGrp="1"/>
          </p:cNvSpPr>
          <p:nvPr>
            <p:ph type="body" orient="vert" idx="1"/>
          </p:nvPr>
        </p:nvSpPr>
        <p:spPr/>
        <p:txBody>
          <a:bodyPr vert="eaVert"/>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lang="en-US" dirty="0"/>
          </a:p>
        </p:txBody>
      </p:sp>
      <p:sp>
        <p:nvSpPr>
          <p:cNvPr id="4" name="Date Placeholder 3"/>
          <p:cNvSpPr>
            <a:spLocks noGrp="1"/>
          </p:cNvSpPr>
          <p:nvPr>
            <p:ph type="dt" sz="half" idx="10"/>
          </p:nvPr>
        </p:nvSpPr>
        <p:spPr/>
        <p:txBody>
          <a:bodyPr/>
          <a:lstStyle/>
          <a:p>
            <a:fld id="{0F016410-C1F3-F445-AFA9-69A0F4D0A58D}" type="datetimeFigureOut">
              <a:rPr lang="es-ES_tradnl" smtClean="0"/>
              <a:t>06/05/2021</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30286BD1-B9C2-744F-8E97-255DE502F743}" type="slidenum">
              <a:rPr lang="es-ES_tradnl" smtClean="0"/>
              <a:t>‹Nº›</a:t>
            </a:fld>
            <a:endParaRPr lang="es-ES_tradnl"/>
          </a:p>
        </p:txBody>
      </p:sp>
    </p:spTree>
    <p:extLst>
      <p:ext uri="{BB962C8B-B14F-4D97-AF65-F5344CB8AC3E}">
        <p14:creationId xmlns:p14="http://schemas.microsoft.com/office/powerpoint/2010/main" val="237380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s-ES_tradnl" smtClean="0"/>
              <a:t>Clic para editar título</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s-ES_tradnl" smtClean="0"/>
              <a:t>Haga clic para modificar el estilo de texto del patrón</a:t>
            </a:r>
          </a:p>
          <a:p>
            <a:pPr lvl="1"/>
            <a:r>
              <a:rPr lang="es-ES_tradnl" smtClean="0"/>
              <a:t>Segundo nivel</a:t>
            </a:r>
          </a:p>
          <a:p>
            <a:pPr lvl="2"/>
            <a:r>
              <a:rPr lang="es-ES_tradnl" smtClean="0"/>
              <a:t>Tercer nivel</a:t>
            </a:r>
          </a:p>
          <a:p>
            <a:pPr lvl="3"/>
            <a:r>
              <a:rPr lang="es-ES_tradnl" smtClean="0"/>
              <a:t>Cuarto nivel</a:t>
            </a:r>
          </a:p>
          <a:p>
            <a:pPr lvl="4"/>
            <a:r>
              <a:rPr lang="es-ES_tradnl" smtClean="0"/>
              <a:t>Quinto nivel</a:t>
            </a:r>
            <a:endParaRPr lang="en-US" dirty="0"/>
          </a:p>
        </p:txBody>
      </p:sp>
      <p:sp>
        <p:nvSpPr>
          <p:cNvPr id="4" name="Date Placeholder 3"/>
          <p:cNvSpPr>
            <a:spLocks noGrp="1"/>
          </p:cNvSpPr>
          <p:nvPr>
            <p:ph type="dt" sz="half" idx="10"/>
          </p:nvPr>
        </p:nvSpPr>
        <p:spPr/>
        <p:txBody>
          <a:bodyPr/>
          <a:lstStyle/>
          <a:p>
            <a:fld id="{0F016410-C1F3-F445-AFA9-69A0F4D0A58D}" type="datetimeFigureOut">
              <a:rPr lang="es-ES_tradnl" smtClean="0"/>
              <a:t>06/05/2021</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30286BD1-B9C2-744F-8E97-255DE502F743}" type="slidenum">
              <a:rPr lang="es-ES_tradnl" smtClean="0"/>
              <a:t>‹Nº›</a:t>
            </a:fld>
            <a:endParaRPr lang="es-ES_tradnl"/>
          </a:p>
        </p:txBody>
      </p:sp>
    </p:spTree>
    <p:extLst>
      <p:ext uri="{BB962C8B-B14F-4D97-AF65-F5344CB8AC3E}">
        <p14:creationId xmlns:p14="http://schemas.microsoft.com/office/powerpoint/2010/main" val="16802593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Imagen 6"/>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Placeholder 1"/>
          <p:cNvSpPr>
            <a:spLocks noGrp="1"/>
          </p:cNvSpPr>
          <p:nvPr>
            <p:ph type="title"/>
          </p:nvPr>
        </p:nvSpPr>
        <p:spPr>
          <a:xfrm>
            <a:off x="106134" y="34836"/>
            <a:ext cx="7886700" cy="1325563"/>
          </a:xfrm>
          <a:prstGeom prst="rect">
            <a:avLst/>
          </a:prstGeom>
        </p:spPr>
        <p:txBody>
          <a:bodyPr vert="horz" lIns="91440" tIns="45720" rIns="91440" bIns="45720" rtlCol="0" anchor="ctr">
            <a:normAutofit/>
          </a:bodyPr>
          <a:lstStyle/>
          <a:p>
            <a:r>
              <a:rPr lang="es-ES_tradnl" dirty="0" smtClean="0"/>
              <a:t>Clic para editar título</a:t>
            </a:r>
            <a:endParaRPr lang="en-US" dirty="0"/>
          </a:p>
        </p:txBody>
      </p:sp>
      <p:sp>
        <p:nvSpPr>
          <p:cNvPr id="3" name="Text Placeholder 2"/>
          <p:cNvSpPr>
            <a:spLocks noGrp="1"/>
          </p:cNvSpPr>
          <p:nvPr>
            <p:ph type="body" idx="1"/>
          </p:nvPr>
        </p:nvSpPr>
        <p:spPr>
          <a:xfrm>
            <a:off x="106134" y="1412653"/>
            <a:ext cx="8828860" cy="4807174"/>
          </a:xfrm>
          <a:prstGeom prst="rect">
            <a:avLst/>
          </a:prstGeom>
        </p:spPr>
        <p:txBody>
          <a:bodyPr vert="horz" lIns="91440" tIns="45720" rIns="91440" bIns="45720" rtlCol="0">
            <a:normAutofit/>
          </a:bodyPr>
          <a:lstStyle/>
          <a:p>
            <a:pPr lvl="0"/>
            <a:r>
              <a:rPr lang="es-ES_tradnl" dirty="0" smtClean="0"/>
              <a:t>Haga clic para modificar el estilo de texto del patrón</a:t>
            </a:r>
          </a:p>
          <a:p>
            <a:pPr lvl="1"/>
            <a:r>
              <a:rPr lang="es-ES_tradnl" dirty="0" smtClean="0"/>
              <a:t>Segundo nivel</a:t>
            </a:r>
          </a:p>
          <a:p>
            <a:pPr lvl="2"/>
            <a:r>
              <a:rPr lang="es-ES_tradnl" dirty="0" smtClean="0"/>
              <a:t>Tercer nivel</a:t>
            </a:r>
          </a:p>
          <a:p>
            <a:pPr lvl="3"/>
            <a:r>
              <a:rPr lang="es-ES_tradnl" dirty="0" smtClean="0"/>
              <a:t>Cuarto nivel</a:t>
            </a:r>
          </a:p>
          <a:p>
            <a:pPr lvl="4"/>
            <a:r>
              <a:rPr lang="es-ES_tradnl" dirty="0" smtClean="0"/>
              <a:t>Quinto nivel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F016410-C1F3-F445-AFA9-69A0F4D0A58D}" type="datetimeFigureOut">
              <a:rPr lang="es-ES_tradnl" smtClean="0"/>
              <a:t>06/05/2021</a:t>
            </a:fld>
            <a:endParaRPr lang="es-ES_tradnl"/>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_tradnl"/>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286BD1-B9C2-744F-8E97-255DE502F743}" type="slidenum">
              <a:rPr lang="es-ES_tradnl" smtClean="0"/>
              <a:t>‹Nº›</a:t>
            </a:fld>
            <a:endParaRPr lang="es-ES_tradnl"/>
          </a:p>
        </p:txBody>
      </p:sp>
    </p:spTree>
    <p:extLst>
      <p:ext uri="{BB962C8B-B14F-4D97-AF65-F5344CB8AC3E}">
        <p14:creationId xmlns:p14="http://schemas.microsoft.com/office/powerpoint/2010/main" val="15412948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txStyles>
    <p:titleStyle>
      <a:lvl1pPr algn="l" defTabSz="914400" rtl="0" eaLnBrk="1" latinLnBrk="0" hangingPunct="1">
        <a:lnSpc>
          <a:spcPct val="90000"/>
        </a:lnSpc>
        <a:spcBef>
          <a:spcPct val="0"/>
        </a:spcBef>
        <a:buNone/>
        <a:defRPr sz="3200" b="1" kern="1200">
          <a:solidFill>
            <a:srgbClr val="023E82"/>
          </a:solidFill>
          <a:latin typeface="Century Gothic" charset="0"/>
          <a:ea typeface="Century Gothic" charset="0"/>
          <a:cs typeface="Century Gothic"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65000"/>
              <a:lumOff val="35000"/>
            </a:schemeClr>
          </a:solidFill>
          <a:latin typeface="Helvetica"/>
          <a:ea typeface="Century Gothic" charset="0"/>
          <a:cs typeface="Helvetica"/>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65000"/>
              <a:lumOff val="35000"/>
            </a:schemeClr>
          </a:solidFill>
          <a:latin typeface="Helvetica"/>
          <a:ea typeface="Century Gothic" charset="0"/>
          <a:cs typeface="Helvetica"/>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65000"/>
              <a:lumOff val="35000"/>
            </a:schemeClr>
          </a:solidFill>
          <a:latin typeface="Helvetica"/>
          <a:ea typeface="Century Gothic" charset="0"/>
          <a:cs typeface="Helvetica"/>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65000"/>
              <a:lumOff val="35000"/>
            </a:schemeClr>
          </a:solidFill>
          <a:latin typeface="Helvetica"/>
          <a:ea typeface="Century Gothic" charset="0"/>
          <a:cs typeface="Helvetica"/>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65000"/>
              <a:lumOff val="35000"/>
            </a:schemeClr>
          </a:solidFill>
          <a:latin typeface="Helvetica"/>
          <a:ea typeface="Century Gothic" charset="0"/>
          <a:cs typeface="Helvetic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youtube.com/watch?v=5BAgl-Jt2GU" TargetMode="External"/><Relationship Id="rId2" Type="http://schemas.openxmlformats.org/officeDocument/2006/relationships/hyperlink" Target="https://www.youtube.com/watch?v=8JDLM4G_bbw"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repositorio.utn.edu.ec/bitstream/123456789/587/1/CAPITULOS.pdf" TargetMode="External"/><Relationship Id="rId2" Type="http://schemas.openxmlformats.org/officeDocument/2006/relationships/hyperlink" Target="http://cic.javerianacali.edu.co/wiki/lib/exe/fetch.php?media=materias:s2_conceptosdemodelado.pdf"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p:cNvSpPr>
            <a:spLocks noGrp="1"/>
          </p:cNvSpPr>
          <p:nvPr>
            <p:ph type="ctrTitle"/>
          </p:nvPr>
        </p:nvSpPr>
        <p:spPr>
          <a:xfrm>
            <a:off x="5712822" y="3579211"/>
            <a:ext cx="3213464" cy="1754789"/>
          </a:xfrm>
        </p:spPr>
        <p:txBody>
          <a:bodyPr>
            <a:normAutofit/>
          </a:bodyPr>
          <a:lstStyle/>
          <a:p>
            <a:r>
              <a:rPr lang="es-ES" dirty="0" smtClean="0"/>
              <a:t>ARQUITECTURAS</a:t>
            </a:r>
            <a:endParaRPr lang="es-ES" dirty="0"/>
          </a:p>
        </p:txBody>
      </p:sp>
    </p:spTree>
    <p:extLst>
      <p:ext uri="{BB962C8B-B14F-4D97-AF65-F5344CB8AC3E}">
        <p14:creationId xmlns:p14="http://schemas.microsoft.com/office/powerpoint/2010/main" val="37518946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smtClean="0"/>
              <a:t>ARQUITECTURA</a:t>
            </a:r>
            <a:endParaRPr lang="es-MX" dirty="0"/>
          </a:p>
        </p:txBody>
      </p:sp>
      <p:sp>
        <p:nvSpPr>
          <p:cNvPr id="3" name="Marcador de contenido 2"/>
          <p:cNvSpPr>
            <a:spLocks noGrp="1"/>
          </p:cNvSpPr>
          <p:nvPr>
            <p:ph idx="1"/>
          </p:nvPr>
        </p:nvSpPr>
        <p:spPr/>
        <p:txBody>
          <a:bodyPr>
            <a:normAutofit/>
          </a:bodyPr>
          <a:lstStyle/>
          <a:p>
            <a:r>
              <a:rPr lang="es-MX" sz="2400" dirty="0">
                <a:solidFill>
                  <a:schemeClr val="tx1"/>
                </a:solidFill>
              </a:rPr>
              <a:t>Desarrollar  una aplicación involucra mucho más que tener la idea de lo que se quiere resolver o saber un lenguaje de programación para hacer la aplicación. Es necesario planear, definir las herramientas que vas a usar como </a:t>
            </a:r>
            <a:r>
              <a:rPr lang="es-MX" sz="2400" dirty="0" err="1">
                <a:solidFill>
                  <a:schemeClr val="tx1"/>
                </a:solidFill>
              </a:rPr>
              <a:t>frameworks</a:t>
            </a:r>
            <a:r>
              <a:rPr lang="es-MX" sz="2400" dirty="0">
                <a:solidFill>
                  <a:schemeClr val="tx1"/>
                </a:solidFill>
              </a:rPr>
              <a:t> qué mejor funcionen para este proyecto, conocer los procesos de negocio que están involucrados en la creación de  la aplicación</a:t>
            </a:r>
            <a:r>
              <a:rPr lang="es-MX" sz="2400" dirty="0" smtClean="0">
                <a:solidFill>
                  <a:schemeClr val="tx1"/>
                </a:solidFill>
              </a:rPr>
              <a:t>.</a:t>
            </a:r>
            <a:endParaRPr lang="es-MX" sz="2400" dirty="0">
              <a:solidFill>
                <a:schemeClr val="tx1"/>
              </a:solidFill>
            </a:endParaRPr>
          </a:p>
          <a:p>
            <a:r>
              <a:rPr lang="es-MX" sz="2400" dirty="0">
                <a:solidFill>
                  <a:schemeClr val="tx1"/>
                </a:solidFill>
              </a:rPr>
              <a:t>El proceso de desarrollo  implica muchas horas enfocadas a entender los requerimientos que el cliente necesita para automatizar, mejorar y  definir los cimientos que permitirán modelar un sistema ya sea una aplicación de escritorio,  un sistema web  , una aplicación móvil y cualquier dispositivo programable.</a:t>
            </a:r>
            <a:endParaRPr lang="es-MX" sz="2400" dirty="0">
              <a:solidFill>
                <a:schemeClr val="tx1"/>
              </a:solidFill>
            </a:endParaRPr>
          </a:p>
        </p:txBody>
      </p:sp>
    </p:spTree>
    <p:extLst>
      <p:ext uri="{BB962C8B-B14F-4D97-AF65-F5344CB8AC3E}">
        <p14:creationId xmlns:p14="http://schemas.microsoft.com/office/powerpoint/2010/main" val="5507134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smtClean="0"/>
              <a:t>ARQUITECTURA</a:t>
            </a:r>
            <a:endParaRPr lang="es-MX" dirty="0"/>
          </a:p>
        </p:txBody>
      </p:sp>
      <p:sp>
        <p:nvSpPr>
          <p:cNvPr id="3" name="Marcador de contenido 2"/>
          <p:cNvSpPr>
            <a:spLocks noGrp="1"/>
          </p:cNvSpPr>
          <p:nvPr>
            <p:ph idx="1"/>
          </p:nvPr>
        </p:nvSpPr>
        <p:spPr/>
        <p:txBody>
          <a:bodyPr>
            <a:normAutofit/>
          </a:bodyPr>
          <a:lstStyle/>
          <a:p>
            <a:r>
              <a:rPr lang="es-MX" sz="2400" dirty="0">
                <a:solidFill>
                  <a:schemeClr val="tx1"/>
                </a:solidFill>
              </a:rPr>
              <a:t>El concepto de </a:t>
            </a:r>
            <a:r>
              <a:rPr lang="es-MX" sz="2400" b="1" dirty="0">
                <a:solidFill>
                  <a:schemeClr val="tx1"/>
                </a:solidFill>
              </a:rPr>
              <a:t>arquitectura</a:t>
            </a:r>
            <a:r>
              <a:rPr lang="es-MX" sz="2400" dirty="0">
                <a:solidFill>
                  <a:schemeClr val="tx1"/>
                </a:solidFill>
              </a:rPr>
              <a:t> de software se refiere a la estructuración del sistema que, idealmente, se crea en etapas tempranas del desarrollo. Esta estructuración representa un diseño de alto nivel del sistema que tiene dos propósitos primarios: satisfacer los atributos de calidad (desempeño, seguridad, </a:t>
            </a:r>
            <a:r>
              <a:rPr lang="es-MX" sz="2400" dirty="0" err="1">
                <a:solidFill>
                  <a:schemeClr val="tx1"/>
                </a:solidFill>
              </a:rPr>
              <a:t>modificabilidad</a:t>
            </a:r>
            <a:r>
              <a:rPr lang="es-MX" sz="2400" dirty="0">
                <a:solidFill>
                  <a:schemeClr val="tx1"/>
                </a:solidFill>
              </a:rPr>
              <a:t>), y servir como guía en el </a:t>
            </a:r>
            <a:r>
              <a:rPr lang="es-MX" sz="2400" dirty="0" smtClean="0">
                <a:solidFill>
                  <a:schemeClr val="tx1"/>
                </a:solidFill>
              </a:rPr>
              <a:t>desarrollo.</a:t>
            </a:r>
          </a:p>
          <a:p>
            <a:endParaRPr lang="es-MX" sz="2400" dirty="0" smtClean="0">
              <a:solidFill>
                <a:schemeClr val="tx1"/>
              </a:solidFill>
            </a:endParaRPr>
          </a:p>
          <a:p>
            <a:r>
              <a:rPr lang="es-MX" sz="2400" dirty="0">
                <a:solidFill>
                  <a:schemeClr val="tx1"/>
                </a:solidFill>
              </a:rPr>
              <a:t>Una </a:t>
            </a:r>
            <a:r>
              <a:rPr lang="es-MX" sz="2400" b="1" dirty="0">
                <a:solidFill>
                  <a:schemeClr val="tx1"/>
                </a:solidFill>
              </a:rPr>
              <a:t>arquitectura</a:t>
            </a:r>
            <a:r>
              <a:rPr lang="es-MX" sz="2400" dirty="0">
                <a:solidFill>
                  <a:schemeClr val="tx1"/>
                </a:solidFill>
              </a:rPr>
              <a:t> de software define la forma de trabajar en un sistema, como construir nuevos módulos, pero también debe dejar intuir el tipo de aplicación que describe.</a:t>
            </a:r>
            <a:endParaRPr lang="es-MX" sz="2400" dirty="0">
              <a:solidFill>
                <a:schemeClr val="tx1"/>
              </a:solidFill>
            </a:endParaRPr>
          </a:p>
        </p:txBody>
      </p:sp>
    </p:spTree>
    <p:extLst>
      <p:ext uri="{BB962C8B-B14F-4D97-AF65-F5344CB8AC3E}">
        <p14:creationId xmlns:p14="http://schemas.microsoft.com/office/powerpoint/2010/main" val="19381940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smtClean="0"/>
              <a:t>ARQUITECTURA</a:t>
            </a:r>
            <a:endParaRPr lang="es-MX" dirty="0"/>
          </a:p>
        </p:txBody>
      </p:sp>
      <p:sp>
        <p:nvSpPr>
          <p:cNvPr id="3" name="Marcador de contenido 2"/>
          <p:cNvSpPr>
            <a:spLocks noGrp="1"/>
          </p:cNvSpPr>
          <p:nvPr>
            <p:ph idx="1"/>
          </p:nvPr>
        </p:nvSpPr>
        <p:spPr/>
        <p:txBody>
          <a:bodyPr>
            <a:normAutofit/>
          </a:bodyPr>
          <a:lstStyle/>
          <a:p>
            <a:r>
              <a:rPr lang="es-MX" sz="2400" dirty="0">
                <a:solidFill>
                  <a:schemeClr val="tx1"/>
                </a:solidFill>
              </a:rPr>
              <a:t>En palabras simples la arquitectura de software son patrones o lineamientos que ayudan a la construcción de un programa (aplicación). Estos patrones permiten tener una </a:t>
            </a:r>
            <a:r>
              <a:rPr lang="es-MX" sz="2400" dirty="0" err="1">
                <a:solidFill>
                  <a:schemeClr val="tx1"/>
                </a:solidFill>
              </a:rPr>
              <a:t>guia</a:t>
            </a:r>
            <a:r>
              <a:rPr lang="es-MX" sz="2400" dirty="0">
                <a:solidFill>
                  <a:schemeClr val="tx1"/>
                </a:solidFill>
              </a:rPr>
              <a:t> para los desarrolladores, analistas y todos los cargos relacionados para lograr cumplir con los requerimientos de la aplicación.</a:t>
            </a:r>
            <a:endParaRPr lang="es-MX" sz="2400" dirty="0">
              <a:solidFill>
                <a:schemeClr val="tx1"/>
              </a:solidFill>
            </a:endParaRPr>
          </a:p>
        </p:txBody>
      </p:sp>
      <p:pic>
        <p:nvPicPr>
          <p:cNvPr id="1026" name="Picture 2" descr="Arquitectura de Software: ¿Qué es, y cómo funciona? | Ingeniería de  Sistemas e Informátic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10814" y="3810001"/>
            <a:ext cx="3619500" cy="24098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57982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smtClean="0"/>
              <a:t>ARQUITECTURA</a:t>
            </a:r>
            <a:endParaRPr lang="es-MX" dirty="0"/>
          </a:p>
        </p:txBody>
      </p:sp>
      <p:sp>
        <p:nvSpPr>
          <p:cNvPr id="3" name="Marcador de contenido 2"/>
          <p:cNvSpPr>
            <a:spLocks noGrp="1"/>
          </p:cNvSpPr>
          <p:nvPr>
            <p:ph idx="1"/>
          </p:nvPr>
        </p:nvSpPr>
        <p:spPr/>
        <p:txBody>
          <a:bodyPr>
            <a:normAutofit/>
          </a:bodyPr>
          <a:lstStyle/>
          <a:p>
            <a:pPr marL="0" indent="0">
              <a:buNone/>
            </a:pPr>
            <a:r>
              <a:rPr lang="es-MX" sz="2400" b="1" dirty="0">
                <a:solidFill>
                  <a:schemeClr val="tx1"/>
                </a:solidFill>
              </a:rPr>
              <a:t>Estructura</a:t>
            </a:r>
            <a:r>
              <a:rPr lang="es-MX" sz="2400" dirty="0">
                <a:solidFill>
                  <a:schemeClr val="tx1"/>
                </a:solidFill>
              </a:rPr>
              <a:t>: Para definir de la mejor forma la estructura de nuestra aplicación con base en la arquitectura de software tenemos </a:t>
            </a:r>
            <a:r>
              <a:rPr lang="es-MX" sz="2400" dirty="0" smtClean="0">
                <a:solidFill>
                  <a:schemeClr val="tx1"/>
                </a:solidFill>
              </a:rPr>
              <a:t>etapas :</a:t>
            </a:r>
            <a:endParaRPr lang="es-MX" sz="2400" dirty="0">
              <a:solidFill>
                <a:schemeClr val="tx1"/>
              </a:solidFill>
            </a:endParaRPr>
          </a:p>
          <a:p>
            <a:r>
              <a:rPr lang="es-MX" sz="2400" b="1" dirty="0">
                <a:solidFill>
                  <a:schemeClr val="tx1"/>
                </a:solidFill>
              </a:rPr>
              <a:t>Requerimientos</a:t>
            </a:r>
            <a:r>
              <a:rPr lang="es-MX" sz="2400" dirty="0">
                <a:solidFill>
                  <a:schemeClr val="tx1"/>
                </a:solidFill>
              </a:rPr>
              <a:t>: En esta etapa se recolecta la información y se documentan los requerimientos que influyen en la arquitectura de la aplicación, por ejemplo que lenguaje se utilizara, que marcos de trabajo se requerirán, en que especificaciones de equipos esta destinado a funcionar el sistema o sistemas.</a:t>
            </a:r>
          </a:p>
          <a:p>
            <a:r>
              <a:rPr lang="es-MX" sz="2400" b="1" dirty="0">
                <a:solidFill>
                  <a:schemeClr val="tx1"/>
                </a:solidFill>
              </a:rPr>
              <a:t>Análisis</a:t>
            </a:r>
            <a:r>
              <a:rPr lang="es-MX" sz="2400" dirty="0">
                <a:solidFill>
                  <a:schemeClr val="tx1"/>
                </a:solidFill>
              </a:rPr>
              <a:t>:  En esta etapa se  profundiza en los procesos de negocio que están involucrados en el sistema, y se procede a generar los casos de uso a nivel de borrador hasta tener la información necesaria para cada caso.</a:t>
            </a:r>
            <a:endParaRPr lang="es-MX" sz="2400" dirty="0">
              <a:solidFill>
                <a:schemeClr val="tx1"/>
              </a:solidFill>
            </a:endParaRPr>
          </a:p>
        </p:txBody>
      </p:sp>
    </p:spTree>
    <p:extLst>
      <p:ext uri="{BB962C8B-B14F-4D97-AF65-F5344CB8AC3E}">
        <p14:creationId xmlns:p14="http://schemas.microsoft.com/office/powerpoint/2010/main" val="19304961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smtClean="0"/>
              <a:t>ARQUITECTURA</a:t>
            </a:r>
            <a:endParaRPr lang="es-MX" dirty="0"/>
          </a:p>
        </p:txBody>
      </p:sp>
      <p:sp>
        <p:nvSpPr>
          <p:cNvPr id="3" name="Marcador de contenido 2"/>
          <p:cNvSpPr>
            <a:spLocks noGrp="1"/>
          </p:cNvSpPr>
          <p:nvPr>
            <p:ph idx="1"/>
          </p:nvPr>
        </p:nvSpPr>
        <p:spPr/>
        <p:txBody>
          <a:bodyPr>
            <a:normAutofit fontScale="92500" lnSpcReduction="10000"/>
          </a:bodyPr>
          <a:lstStyle/>
          <a:p>
            <a:r>
              <a:rPr lang="es-MX" sz="2400" b="1" dirty="0">
                <a:solidFill>
                  <a:schemeClr val="tx1"/>
                </a:solidFill>
              </a:rPr>
              <a:t>Diseño</a:t>
            </a:r>
            <a:r>
              <a:rPr lang="es-MX" sz="2400" dirty="0">
                <a:solidFill>
                  <a:schemeClr val="tx1"/>
                </a:solidFill>
              </a:rPr>
              <a:t>: Es la etapa más crucial, aquí se define el uso de tecnologías adecuadas para resolver el problema y no solo porque una tecnología está de moda. También se tienen en cuenta los patrones de diseño  como por ejemplo MVC (Modelo, Vista, Controlador) o arquitectura de </a:t>
            </a:r>
            <a:r>
              <a:rPr lang="es-MX" sz="2400" dirty="0" err="1">
                <a:solidFill>
                  <a:schemeClr val="tx1"/>
                </a:solidFill>
              </a:rPr>
              <a:t>microservicios</a:t>
            </a:r>
            <a:r>
              <a:rPr lang="es-MX" sz="2400" dirty="0">
                <a:solidFill>
                  <a:schemeClr val="tx1"/>
                </a:solidFill>
              </a:rPr>
              <a:t>, Directorios de datos.</a:t>
            </a:r>
          </a:p>
          <a:p>
            <a:r>
              <a:rPr lang="es-MX" sz="2400" b="1" dirty="0">
                <a:solidFill>
                  <a:schemeClr val="tx1"/>
                </a:solidFill>
              </a:rPr>
              <a:t>Documentación</a:t>
            </a:r>
            <a:r>
              <a:rPr lang="es-MX" sz="2400" dirty="0">
                <a:solidFill>
                  <a:schemeClr val="tx1"/>
                </a:solidFill>
              </a:rPr>
              <a:t>: Una vez se ha definido el diseño es necesario comunicarlo de manera eficiente y eficaz a todos los involucrados, es importante crear documentación que sirva como referencia a todos y sea el marco de trabajo para todos,  esta parte incluye el documento Arquitectura General del sistema, y los documentos de Casos de Uso  </a:t>
            </a:r>
            <a:r>
              <a:rPr lang="es-MX" sz="2400" dirty="0" smtClean="0">
                <a:solidFill>
                  <a:schemeClr val="tx1"/>
                </a:solidFill>
              </a:rPr>
              <a:t>ejemplo </a:t>
            </a:r>
            <a:r>
              <a:rPr lang="es-MX" sz="2400" dirty="0">
                <a:solidFill>
                  <a:schemeClr val="tx1"/>
                </a:solidFill>
              </a:rPr>
              <a:t>Diagramas UML,  Diagramas de Procesos, Manuales, etc.</a:t>
            </a:r>
          </a:p>
          <a:p>
            <a:r>
              <a:rPr lang="es-MX" sz="2400" b="1" dirty="0">
                <a:solidFill>
                  <a:schemeClr val="tx1"/>
                </a:solidFill>
              </a:rPr>
              <a:t>Desarrollo</a:t>
            </a:r>
            <a:r>
              <a:rPr lang="es-MX" sz="2400" dirty="0">
                <a:solidFill>
                  <a:schemeClr val="tx1"/>
                </a:solidFill>
              </a:rPr>
              <a:t>:  En esta etapa los programadores tienen asignadas tareas especificas y el arquitecto de software estará  probando los diferentes módulos para poder hacer mejoras, o correcciones al sistema final.</a:t>
            </a:r>
            <a:endParaRPr lang="es-MX" sz="2400" dirty="0">
              <a:solidFill>
                <a:schemeClr val="tx1"/>
              </a:solidFill>
            </a:endParaRPr>
          </a:p>
        </p:txBody>
      </p:sp>
    </p:spTree>
    <p:extLst>
      <p:ext uri="{BB962C8B-B14F-4D97-AF65-F5344CB8AC3E}">
        <p14:creationId xmlns:p14="http://schemas.microsoft.com/office/powerpoint/2010/main" val="31595241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smtClean="0"/>
              <a:t>ARQUITECTURA</a:t>
            </a:r>
            <a:endParaRPr lang="es-MX" dirty="0"/>
          </a:p>
        </p:txBody>
      </p:sp>
      <p:sp>
        <p:nvSpPr>
          <p:cNvPr id="3" name="Marcador de contenido 2"/>
          <p:cNvSpPr>
            <a:spLocks noGrp="1"/>
          </p:cNvSpPr>
          <p:nvPr>
            <p:ph idx="1"/>
          </p:nvPr>
        </p:nvSpPr>
        <p:spPr/>
        <p:txBody>
          <a:bodyPr>
            <a:normAutofit/>
          </a:bodyPr>
          <a:lstStyle/>
          <a:p>
            <a:r>
              <a:rPr lang="es-MX" sz="2400" b="1" dirty="0">
                <a:solidFill>
                  <a:schemeClr val="tx1"/>
                </a:solidFill>
              </a:rPr>
              <a:t>Pruebas</a:t>
            </a:r>
            <a:r>
              <a:rPr lang="es-MX" sz="2400" dirty="0">
                <a:solidFill>
                  <a:schemeClr val="tx1"/>
                </a:solidFill>
              </a:rPr>
              <a:t>: Es importante luego de tener la documentación evaluar, esto se puede hacer incluso sin haber hecho una línea de código y ver con todos los involucrados si hay algo en el diseño que pueda no funcionar y reformarlo, esta evaluación se debería hacer posterior teniendo métricas por ejemplo del rendimiento de la aplicación y saber si un cambio mejora o no dicho rendimiento.</a:t>
            </a:r>
          </a:p>
          <a:p>
            <a:r>
              <a:rPr lang="es-MX" sz="2400" b="1" dirty="0">
                <a:solidFill>
                  <a:schemeClr val="tx1"/>
                </a:solidFill>
              </a:rPr>
              <a:t>Implementación</a:t>
            </a:r>
            <a:r>
              <a:rPr lang="es-MX" sz="2400" dirty="0">
                <a:solidFill>
                  <a:schemeClr val="tx1"/>
                </a:solidFill>
              </a:rPr>
              <a:t>: en esta etapa se realiza el montar el sistema  en producción y evaluar su comportamiento, verificando qué funciona correctamente.</a:t>
            </a:r>
            <a:endParaRPr lang="es-MX" sz="2400" dirty="0">
              <a:solidFill>
                <a:schemeClr val="tx1"/>
              </a:solidFill>
            </a:endParaRPr>
          </a:p>
        </p:txBody>
      </p:sp>
    </p:spTree>
    <p:extLst>
      <p:ext uri="{BB962C8B-B14F-4D97-AF65-F5344CB8AC3E}">
        <p14:creationId xmlns:p14="http://schemas.microsoft.com/office/powerpoint/2010/main" val="3987537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smtClean="0"/>
              <a:t>ARQUITECTURA</a:t>
            </a:r>
            <a:endParaRPr lang="es-MX" dirty="0"/>
          </a:p>
        </p:txBody>
      </p:sp>
      <p:pic>
        <p:nvPicPr>
          <p:cNvPr id="4" name="Marcador de contenido 3"/>
          <p:cNvPicPr>
            <a:picLocks noGrp="1" noChangeAspect="1"/>
          </p:cNvPicPr>
          <p:nvPr>
            <p:ph idx="1"/>
          </p:nvPr>
        </p:nvPicPr>
        <p:blipFill>
          <a:blip r:embed="rId2"/>
          <a:stretch>
            <a:fillRect/>
          </a:stretch>
        </p:blipFill>
        <p:spPr>
          <a:xfrm>
            <a:off x="374073" y="1524348"/>
            <a:ext cx="8492836" cy="4765615"/>
          </a:xfrm>
          <a:prstGeom prst="rect">
            <a:avLst/>
          </a:prstGeom>
        </p:spPr>
      </p:pic>
    </p:spTree>
    <p:extLst>
      <p:ext uri="{BB962C8B-B14F-4D97-AF65-F5344CB8AC3E}">
        <p14:creationId xmlns:p14="http://schemas.microsoft.com/office/powerpoint/2010/main" val="24782957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smtClean="0"/>
              <a:t>ARQUITECTURA</a:t>
            </a:r>
            <a:endParaRPr lang="es-MX" dirty="0"/>
          </a:p>
        </p:txBody>
      </p:sp>
      <p:pic>
        <p:nvPicPr>
          <p:cNvPr id="4" name="Marcador de contenido 3"/>
          <p:cNvPicPr>
            <a:picLocks noGrp="1" noChangeAspect="1"/>
          </p:cNvPicPr>
          <p:nvPr>
            <p:ph idx="1"/>
          </p:nvPr>
        </p:nvPicPr>
        <p:blipFill>
          <a:blip r:embed="rId2"/>
          <a:stretch>
            <a:fillRect/>
          </a:stretch>
        </p:blipFill>
        <p:spPr>
          <a:xfrm>
            <a:off x="326603" y="1468583"/>
            <a:ext cx="8492609" cy="4565794"/>
          </a:xfrm>
          <a:prstGeom prst="rect">
            <a:avLst/>
          </a:prstGeom>
        </p:spPr>
      </p:pic>
    </p:spTree>
    <p:extLst>
      <p:ext uri="{BB962C8B-B14F-4D97-AF65-F5344CB8AC3E}">
        <p14:creationId xmlns:p14="http://schemas.microsoft.com/office/powerpoint/2010/main" val="10460271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smtClean="0"/>
              <a:t>ARQUITECTURA</a:t>
            </a:r>
            <a:endParaRPr lang="es-MX" dirty="0"/>
          </a:p>
        </p:txBody>
      </p:sp>
      <p:sp>
        <p:nvSpPr>
          <p:cNvPr id="3" name="Marcador de contenido 2"/>
          <p:cNvSpPr>
            <a:spLocks noGrp="1"/>
          </p:cNvSpPr>
          <p:nvPr>
            <p:ph idx="1"/>
          </p:nvPr>
        </p:nvSpPr>
        <p:spPr/>
        <p:txBody>
          <a:bodyPr>
            <a:normAutofit/>
          </a:bodyPr>
          <a:lstStyle/>
          <a:p>
            <a:r>
              <a:rPr lang="pt-BR" sz="2400" b="1" dirty="0">
                <a:solidFill>
                  <a:schemeClr val="tx1"/>
                </a:solidFill>
              </a:rPr>
              <a:t>SaaS (Software as a Service) o software como </a:t>
            </a:r>
            <a:r>
              <a:rPr lang="pt-BR" sz="2400" b="1" dirty="0" err="1">
                <a:solidFill>
                  <a:schemeClr val="tx1"/>
                </a:solidFill>
              </a:rPr>
              <a:t>servicio</a:t>
            </a:r>
            <a:r>
              <a:rPr lang="es-MX" sz="2400" dirty="0" smtClean="0">
                <a:solidFill>
                  <a:schemeClr val="tx1"/>
                </a:solidFill>
              </a:rPr>
              <a:t>: </a:t>
            </a:r>
          </a:p>
          <a:p>
            <a:r>
              <a:rPr lang="es-MX" sz="2400" dirty="0">
                <a:solidFill>
                  <a:schemeClr val="tx1"/>
                </a:solidFill>
              </a:rPr>
              <a:t>“Aplicaciones de negocio modulares y </a:t>
            </a:r>
            <a:r>
              <a:rPr lang="es-MX" sz="2400" dirty="0" err="1">
                <a:solidFill>
                  <a:schemeClr val="tx1"/>
                </a:solidFill>
              </a:rPr>
              <a:t>autocontenidas</a:t>
            </a:r>
            <a:r>
              <a:rPr lang="es-MX" sz="2400" dirty="0">
                <a:solidFill>
                  <a:schemeClr val="tx1"/>
                </a:solidFill>
              </a:rPr>
              <a:t> que tienen interfaces abiertos</a:t>
            </a:r>
            <a:r>
              <a:rPr lang="es-MX" sz="2400" dirty="0" smtClean="0">
                <a:solidFill>
                  <a:schemeClr val="tx1"/>
                </a:solidFill>
              </a:rPr>
              <a:t>, orientados </a:t>
            </a:r>
            <a:r>
              <a:rPr lang="es-MX" sz="2400" dirty="0">
                <a:solidFill>
                  <a:schemeClr val="tx1"/>
                </a:solidFill>
              </a:rPr>
              <a:t>a Internet y basados en interfaces estándares</a:t>
            </a:r>
            <a:r>
              <a:rPr lang="es-MX" sz="2400" dirty="0" smtClean="0">
                <a:solidFill>
                  <a:schemeClr val="tx1"/>
                </a:solidFill>
              </a:rPr>
              <a:t>”</a:t>
            </a:r>
          </a:p>
          <a:p>
            <a:r>
              <a:rPr lang="es-MX" sz="2400" dirty="0">
                <a:solidFill>
                  <a:schemeClr val="tx1"/>
                </a:solidFill>
              </a:rPr>
              <a:t>“Una aplicación software identificada por un URI, cuyas interfaces se pueden definir</a:t>
            </a:r>
            <a:r>
              <a:rPr lang="es-MX" sz="2400" dirty="0" smtClean="0">
                <a:solidFill>
                  <a:schemeClr val="tx1"/>
                </a:solidFill>
              </a:rPr>
              <a:t>, describir </a:t>
            </a:r>
            <a:r>
              <a:rPr lang="es-MX" sz="2400" dirty="0">
                <a:solidFill>
                  <a:schemeClr val="tx1"/>
                </a:solidFill>
              </a:rPr>
              <a:t>y descubrir mediante documentos XML. Un servicio Web soporta </a:t>
            </a:r>
            <a:r>
              <a:rPr lang="es-MX" sz="2400" dirty="0" smtClean="0">
                <a:solidFill>
                  <a:schemeClr val="tx1"/>
                </a:solidFill>
              </a:rPr>
              <a:t>interacciones directas </a:t>
            </a:r>
            <a:r>
              <a:rPr lang="es-MX" sz="2400" dirty="0">
                <a:solidFill>
                  <a:schemeClr val="tx1"/>
                </a:solidFill>
              </a:rPr>
              <a:t>con otros agentes software utilizando mensajes XML intercambiados </a:t>
            </a:r>
            <a:r>
              <a:rPr lang="es-MX" sz="2400" dirty="0" smtClean="0">
                <a:solidFill>
                  <a:schemeClr val="tx1"/>
                </a:solidFill>
              </a:rPr>
              <a:t>mediante protocolos </a:t>
            </a:r>
            <a:r>
              <a:rPr lang="es-MX" sz="2400" dirty="0">
                <a:solidFill>
                  <a:schemeClr val="tx1"/>
                </a:solidFill>
              </a:rPr>
              <a:t>basados en Internet”. </a:t>
            </a:r>
            <a:endParaRPr lang="es-MX" sz="2400" dirty="0">
              <a:solidFill>
                <a:schemeClr val="tx1"/>
              </a:solidFill>
            </a:endParaRPr>
          </a:p>
        </p:txBody>
      </p:sp>
    </p:spTree>
    <p:extLst>
      <p:ext uri="{BB962C8B-B14F-4D97-AF65-F5344CB8AC3E}">
        <p14:creationId xmlns:p14="http://schemas.microsoft.com/office/powerpoint/2010/main" val="10548423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smtClean="0"/>
              <a:t>ARQUITECTURA</a:t>
            </a:r>
            <a:endParaRPr lang="es-MX" dirty="0"/>
          </a:p>
        </p:txBody>
      </p:sp>
      <p:pic>
        <p:nvPicPr>
          <p:cNvPr id="2050" name="Picture 2" descr="Software SAAS como método para reducir riesgos e inversiones delicada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68641" y="1412875"/>
            <a:ext cx="7503531" cy="4806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71165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smtClean="0"/>
              <a:t>ARQUITECTURA</a:t>
            </a:r>
            <a:endParaRPr lang="es-MX" dirty="0"/>
          </a:p>
        </p:txBody>
      </p:sp>
      <p:sp>
        <p:nvSpPr>
          <p:cNvPr id="3" name="Marcador de contenido 2"/>
          <p:cNvSpPr>
            <a:spLocks noGrp="1"/>
          </p:cNvSpPr>
          <p:nvPr>
            <p:ph idx="1"/>
          </p:nvPr>
        </p:nvSpPr>
        <p:spPr/>
        <p:txBody>
          <a:bodyPr>
            <a:normAutofit/>
          </a:bodyPr>
          <a:lstStyle/>
          <a:p>
            <a:r>
              <a:rPr lang="es-MX" sz="2400" dirty="0">
                <a:solidFill>
                  <a:schemeClr val="tx1"/>
                </a:solidFill>
              </a:rPr>
              <a:t>SaaS (Software as a </a:t>
            </a:r>
            <a:r>
              <a:rPr lang="es-MX" sz="2400" dirty="0" err="1">
                <a:solidFill>
                  <a:schemeClr val="tx1"/>
                </a:solidFill>
              </a:rPr>
              <a:t>Service</a:t>
            </a:r>
            <a:r>
              <a:rPr lang="es-MX" sz="2400" dirty="0">
                <a:solidFill>
                  <a:schemeClr val="tx1"/>
                </a:solidFill>
              </a:rPr>
              <a:t>) o software como servicio, es un término que se usa para describir cuando los usuarios "rentan" o usan prestado un software en línea, en lugar de comprarlo e instalarlo en sus propios equipos de hardware. </a:t>
            </a:r>
          </a:p>
          <a:p>
            <a:r>
              <a:rPr lang="es-MX" sz="2400" dirty="0">
                <a:solidFill>
                  <a:schemeClr val="tx1"/>
                </a:solidFill>
              </a:rPr>
              <a:t>SaaS es una idea que ve a negocios enteros y sus miles de empleados usando herramientas de software como productos rentados en línea, a través de Internet.</a:t>
            </a:r>
            <a:endParaRPr lang="es-MX" sz="2400" dirty="0">
              <a:solidFill>
                <a:schemeClr val="tx1"/>
              </a:solidFill>
            </a:endParaRPr>
          </a:p>
        </p:txBody>
      </p:sp>
    </p:spTree>
    <p:extLst>
      <p:ext uri="{BB962C8B-B14F-4D97-AF65-F5344CB8AC3E}">
        <p14:creationId xmlns:p14="http://schemas.microsoft.com/office/powerpoint/2010/main" val="31237502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smtClean="0"/>
              <a:t>ARQUITECTURA</a:t>
            </a:r>
            <a:endParaRPr lang="es-MX" dirty="0"/>
          </a:p>
        </p:txBody>
      </p:sp>
      <p:sp>
        <p:nvSpPr>
          <p:cNvPr id="3" name="Marcador de contenido 2"/>
          <p:cNvSpPr>
            <a:spLocks noGrp="1"/>
          </p:cNvSpPr>
          <p:nvPr>
            <p:ph idx="1"/>
          </p:nvPr>
        </p:nvSpPr>
        <p:spPr/>
        <p:txBody>
          <a:bodyPr>
            <a:normAutofit/>
          </a:bodyPr>
          <a:lstStyle/>
          <a:p>
            <a:r>
              <a:rPr lang="es-MX" sz="2400" dirty="0">
                <a:solidFill>
                  <a:schemeClr val="tx1"/>
                </a:solidFill>
              </a:rPr>
              <a:t>SOA: La arquitectura multicapa es básica en el desarrollo de aplicaciones profesionales. Al estar constituida sobre un conjunto de patrones bien definido, con independencia de la plataforma de desarrollo utilizada, existen diversos marcos de desarrollo centrados en cada una de las capas programables (presentación, negocio e integración</a:t>
            </a:r>
            <a:r>
              <a:rPr lang="es-MX" sz="2400" dirty="0" smtClean="0">
                <a:solidFill>
                  <a:schemeClr val="tx1"/>
                </a:solidFill>
              </a:rPr>
              <a:t>).</a:t>
            </a:r>
          </a:p>
          <a:p>
            <a:r>
              <a:rPr lang="es-MX" sz="2400" dirty="0">
                <a:solidFill>
                  <a:schemeClr val="tx1"/>
                </a:solidFill>
              </a:rPr>
              <a:t>SOA es un modelo de arquitectura tecnológica que surge de la aplicación del paradigma de orientación a </a:t>
            </a:r>
            <a:r>
              <a:rPr lang="es-MX" sz="2400" dirty="0" smtClean="0">
                <a:solidFill>
                  <a:schemeClr val="tx1"/>
                </a:solidFill>
              </a:rPr>
              <a:t>servicios.</a:t>
            </a:r>
          </a:p>
          <a:p>
            <a:endParaRPr lang="es-MX" sz="2400" dirty="0" smtClean="0">
              <a:solidFill>
                <a:schemeClr val="tx1"/>
              </a:solidFill>
            </a:endParaRPr>
          </a:p>
          <a:p>
            <a:endParaRPr lang="es-MX" sz="2400" dirty="0" smtClean="0">
              <a:solidFill>
                <a:schemeClr val="tx1"/>
              </a:solidFill>
            </a:endParaRPr>
          </a:p>
          <a:p>
            <a:endParaRPr lang="es-MX" sz="2400" dirty="0">
              <a:solidFill>
                <a:schemeClr val="tx1"/>
              </a:solidFill>
            </a:endParaRPr>
          </a:p>
        </p:txBody>
      </p:sp>
    </p:spTree>
    <p:extLst>
      <p:ext uri="{BB962C8B-B14F-4D97-AF65-F5344CB8AC3E}">
        <p14:creationId xmlns:p14="http://schemas.microsoft.com/office/powerpoint/2010/main" val="1647323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smtClean="0"/>
              <a:t>ARQUITECTURA</a:t>
            </a:r>
            <a:endParaRPr lang="es-MX" dirty="0"/>
          </a:p>
        </p:txBody>
      </p:sp>
      <p:sp>
        <p:nvSpPr>
          <p:cNvPr id="3" name="Marcador de contenido 2"/>
          <p:cNvSpPr>
            <a:spLocks noGrp="1"/>
          </p:cNvSpPr>
          <p:nvPr>
            <p:ph idx="1"/>
          </p:nvPr>
        </p:nvSpPr>
        <p:spPr/>
        <p:txBody>
          <a:bodyPr>
            <a:normAutofit/>
          </a:bodyPr>
          <a:lstStyle/>
          <a:p>
            <a:r>
              <a:rPr lang="es-MX" sz="2400" dirty="0">
                <a:solidFill>
                  <a:schemeClr val="tx1"/>
                </a:solidFill>
              </a:rPr>
              <a:t>https://www.youtube.com/watch?v=ftsnZiyVF40</a:t>
            </a:r>
            <a:endParaRPr lang="es-MX" sz="2400" dirty="0">
              <a:solidFill>
                <a:schemeClr val="tx1"/>
              </a:solidFill>
            </a:endParaRPr>
          </a:p>
        </p:txBody>
      </p:sp>
    </p:spTree>
    <p:extLst>
      <p:ext uri="{BB962C8B-B14F-4D97-AF65-F5344CB8AC3E}">
        <p14:creationId xmlns:p14="http://schemas.microsoft.com/office/powerpoint/2010/main" val="26885573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smtClean="0"/>
              <a:t>ARQUITECTURA</a:t>
            </a:r>
            <a:endParaRPr lang="es-MX" dirty="0"/>
          </a:p>
        </p:txBody>
      </p:sp>
      <p:sp>
        <p:nvSpPr>
          <p:cNvPr id="3" name="Marcador de contenido 2"/>
          <p:cNvSpPr>
            <a:spLocks noGrp="1"/>
          </p:cNvSpPr>
          <p:nvPr>
            <p:ph idx="1"/>
          </p:nvPr>
        </p:nvSpPr>
        <p:spPr/>
        <p:txBody>
          <a:bodyPr>
            <a:normAutofit/>
          </a:bodyPr>
          <a:lstStyle/>
          <a:p>
            <a:pPr marL="0" indent="0">
              <a:buNone/>
            </a:pPr>
            <a:r>
              <a:rPr lang="es-MX" sz="2400" dirty="0" smtClean="0">
                <a:solidFill>
                  <a:schemeClr val="tx1"/>
                </a:solidFill>
              </a:rPr>
              <a:t>Características de </a:t>
            </a:r>
            <a:r>
              <a:rPr lang="es-MX" sz="2400" b="1" dirty="0" smtClean="0">
                <a:solidFill>
                  <a:schemeClr val="tx1"/>
                </a:solidFill>
              </a:rPr>
              <a:t>SOA</a:t>
            </a:r>
          </a:p>
          <a:p>
            <a:endParaRPr lang="es-MX" sz="2400" dirty="0">
              <a:solidFill>
                <a:schemeClr val="tx1"/>
              </a:solidFill>
            </a:endParaRPr>
          </a:p>
          <a:p>
            <a:r>
              <a:rPr lang="es-MX" sz="2400" dirty="0">
                <a:solidFill>
                  <a:schemeClr val="tx1"/>
                </a:solidFill>
              </a:rPr>
              <a:t> Aumenta la eficiencia en los procesos</a:t>
            </a:r>
            <a:r>
              <a:rPr lang="es-MX" sz="2400" dirty="0" smtClean="0">
                <a:solidFill>
                  <a:schemeClr val="tx1"/>
                </a:solidFill>
              </a:rPr>
              <a:t>.</a:t>
            </a:r>
            <a:endParaRPr lang="es-MX" sz="2400" dirty="0">
              <a:solidFill>
                <a:schemeClr val="tx1"/>
              </a:solidFill>
            </a:endParaRPr>
          </a:p>
          <a:p>
            <a:r>
              <a:rPr lang="es-MX" sz="2400" dirty="0">
                <a:solidFill>
                  <a:schemeClr val="tx1"/>
                </a:solidFill>
              </a:rPr>
              <a:t> Amortiza la inversión realizada en sistemas</a:t>
            </a:r>
            <a:r>
              <a:rPr lang="es-MX" sz="2400" dirty="0" smtClean="0">
                <a:solidFill>
                  <a:schemeClr val="tx1"/>
                </a:solidFill>
              </a:rPr>
              <a:t>.</a:t>
            </a:r>
            <a:endParaRPr lang="es-MX" sz="2400" dirty="0">
              <a:solidFill>
                <a:schemeClr val="tx1"/>
              </a:solidFill>
            </a:endParaRPr>
          </a:p>
          <a:p>
            <a:r>
              <a:rPr lang="es-MX" sz="2400" dirty="0">
                <a:solidFill>
                  <a:schemeClr val="tx1"/>
                </a:solidFill>
              </a:rPr>
              <a:t> Reduce costes de mantenimiento</a:t>
            </a:r>
            <a:r>
              <a:rPr lang="es-MX" sz="2400" dirty="0" smtClean="0">
                <a:solidFill>
                  <a:schemeClr val="tx1"/>
                </a:solidFill>
              </a:rPr>
              <a:t>.</a:t>
            </a:r>
            <a:endParaRPr lang="es-MX" sz="2400" dirty="0">
              <a:solidFill>
                <a:schemeClr val="tx1"/>
              </a:solidFill>
            </a:endParaRPr>
          </a:p>
          <a:p>
            <a:r>
              <a:rPr lang="es-MX" sz="2400" dirty="0">
                <a:solidFill>
                  <a:schemeClr val="tx1"/>
                </a:solidFill>
              </a:rPr>
              <a:t> Fomenta la innovación orientada al desarrollo de </a:t>
            </a:r>
            <a:r>
              <a:rPr lang="es-MX" sz="2400" dirty="0" err="1" smtClean="0">
                <a:solidFill>
                  <a:schemeClr val="tx1"/>
                </a:solidFill>
              </a:rPr>
              <a:t>servicios.g</a:t>
            </a:r>
            <a:endParaRPr lang="es-MX" sz="2400" dirty="0">
              <a:solidFill>
                <a:schemeClr val="tx1"/>
              </a:solidFill>
            </a:endParaRPr>
          </a:p>
          <a:p>
            <a:r>
              <a:rPr lang="es-MX" sz="2400" dirty="0">
                <a:solidFill>
                  <a:schemeClr val="tx1"/>
                </a:solidFill>
              </a:rPr>
              <a:t> Simplifica el diseño, optimizando la capacidad de organización.</a:t>
            </a:r>
            <a:endParaRPr lang="es-MX" sz="2400" dirty="0">
              <a:solidFill>
                <a:schemeClr val="tx1"/>
              </a:solidFill>
            </a:endParaRPr>
          </a:p>
        </p:txBody>
      </p:sp>
    </p:spTree>
    <p:extLst>
      <p:ext uri="{BB962C8B-B14F-4D97-AF65-F5344CB8AC3E}">
        <p14:creationId xmlns:p14="http://schemas.microsoft.com/office/powerpoint/2010/main" val="26768851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smtClean="0"/>
              <a:t>ARQUITECTURA</a:t>
            </a:r>
            <a:endParaRPr lang="es-MX" dirty="0"/>
          </a:p>
        </p:txBody>
      </p:sp>
      <p:sp>
        <p:nvSpPr>
          <p:cNvPr id="3" name="Marcador de contenido 2"/>
          <p:cNvSpPr>
            <a:spLocks noGrp="1"/>
          </p:cNvSpPr>
          <p:nvPr>
            <p:ph idx="1"/>
          </p:nvPr>
        </p:nvSpPr>
        <p:spPr/>
        <p:txBody>
          <a:bodyPr>
            <a:normAutofit/>
          </a:bodyPr>
          <a:lstStyle/>
          <a:p>
            <a:pPr marL="0" indent="0">
              <a:buNone/>
            </a:pPr>
            <a:r>
              <a:rPr lang="es-MX" sz="2400" dirty="0" smtClean="0">
                <a:solidFill>
                  <a:schemeClr val="tx1"/>
                </a:solidFill>
              </a:rPr>
              <a:t>SOA, SOAP y REST</a:t>
            </a:r>
          </a:p>
          <a:p>
            <a:pPr marL="0" indent="0">
              <a:buNone/>
            </a:pPr>
            <a:r>
              <a:rPr lang="es-MX" sz="2400" b="1" dirty="0">
                <a:solidFill>
                  <a:schemeClr val="tx1"/>
                </a:solidFill>
              </a:rPr>
              <a:t>SOA</a:t>
            </a:r>
            <a:r>
              <a:rPr lang="es-MX" sz="2400" dirty="0">
                <a:solidFill>
                  <a:schemeClr val="tx1"/>
                </a:solidFill>
              </a:rPr>
              <a:t> gira en torno a los servicios o recursos de plataforma. Dichos servicios deben cumplir con una serie de principios de diseño como pueden ser: una alta capacidad de reutilización, abstracción(aislar un elemento de su contexto o del resto de los elementos que lo </a:t>
            </a:r>
            <a:r>
              <a:rPr lang="es-MX" sz="2400" dirty="0" smtClean="0">
                <a:solidFill>
                  <a:schemeClr val="tx1"/>
                </a:solidFill>
              </a:rPr>
              <a:t>acompañan), </a:t>
            </a:r>
            <a:r>
              <a:rPr lang="es-MX" sz="2400" dirty="0">
                <a:solidFill>
                  <a:schemeClr val="tx1"/>
                </a:solidFill>
              </a:rPr>
              <a:t>bajo acoplamiento (grado en que los módulos de un programa dependen unos de </a:t>
            </a:r>
            <a:r>
              <a:rPr lang="es-MX" sz="2400" dirty="0" smtClean="0">
                <a:solidFill>
                  <a:schemeClr val="tx1"/>
                </a:solidFill>
              </a:rPr>
              <a:t>otros), </a:t>
            </a:r>
            <a:r>
              <a:rPr lang="es-MX" sz="2400" dirty="0">
                <a:solidFill>
                  <a:schemeClr val="tx1"/>
                </a:solidFill>
              </a:rPr>
              <a:t>autonomía</a:t>
            </a:r>
            <a:r>
              <a:rPr lang="es-MX" sz="2400" dirty="0" smtClean="0">
                <a:solidFill>
                  <a:schemeClr val="tx1"/>
                </a:solidFill>
              </a:rPr>
              <a:t>, </a:t>
            </a:r>
            <a:r>
              <a:rPr lang="es-MX" sz="2400" dirty="0">
                <a:solidFill>
                  <a:schemeClr val="tx1"/>
                </a:solidFill>
              </a:rPr>
              <a:t>contar con un contrato estandarizado(XML para describir un servicio web. Una definición WSDL indica a un cliente cómo componer una solicitud de servicio </a:t>
            </a:r>
            <a:r>
              <a:rPr lang="es-MX" sz="2400" dirty="0" smtClean="0">
                <a:solidFill>
                  <a:schemeClr val="tx1"/>
                </a:solidFill>
              </a:rPr>
              <a:t>web)</a:t>
            </a:r>
            <a:endParaRPr lang="es-MX" sz="2400" dirty="0">
              <a:solidFill>
                <a:schemeClr val="tx1"/>
              </a:solidFill>
            </a:endParaRPr>
          </a:p>
        </p:txBody>
      </p:sp>
    </p:spTree>
    <p:extLst>
      <p:ext uri="{BB962C8B-B14F-4D97-AF65-F5344CB8AC3E}">
        <p14:creationId xmlns:p14="http://schemas.microsoft.com/office/powerpoint/2010/main" val="9209627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smtClean="0"/>
              <a:t>ARQUITECTURA</a:t>
            </a:r>
            <a:endParaRPr lang="es-MX" dirty="0"/>
          </a:p>
        </p:txBody>
      </p:sp>
      <p:sp>
        <p:nvSpPr>
          <p:cNvPr id="3" name="Marcador de contenido 2"/>
          <p:cNvSpPr>
            <a:spLocks noGrp="1"/>
          </p:cNvSpPr>
          <p:nvPr>
            <p:ph idx="1"/>
          </p:nvPr>
        </p:nvSpPr>
        <p:spPr/>
        <p:txBody>
          <a:bodyPr>
            <a:normAutofit/>
          </a:bodyPr>
          <a:lstStyle/>
          <a:p>
            <a:r>
              <a:rPr lang="es-MX" sz="2400" dirty="0" smtClean="0">
                <a:solidFill>
                  <a:schemeClr val="tx1"/>
                </a:solidFill>
              </a:rPr>
              <a:t>SOAP: los </a:t>
            </a:r>
            <a:r>
              <a:rPr lang="es-MX" sz="2400" dirty="0">
                <a:solidFill>
                  <a:schemeClr val="tx1"/>
                </a:solidFill>
              </a:rPr>
              <a:t>servicios SOAP </a:t>
            </a:r>
            <a:r>
              <a:rPr lang="es-MX" sz="2400" dirty="0" smtClean="0">
                <a:solidFill>
                  <a:schemeClr val="tx1"/>
                </a:solidFill>
              </a:rPr>
              <a:t>son </a:t>
            </a:r>
            <a:r>
              <a:rPr lang="es-MX" sz="2400" dirty="0">
                <a:solidFill>
                  <a:schemeClr val="tx1"/>
                </a:solidFill>
              </a:rPr>
              <a:t>servicios que basan su comunicación bajo el protocolo SOAP (Simple </a:t>
            </a:r>
            <a:r>
              <a:rPr lang="es-MX" sz="2400" dirty="0" err="1">
                <a:solidFill>
                  <a:schemeClr val="tx1"/>
                </a:solidFill>
              </a:rPr>
              <a:t>Object</a:t>
            </a:r>
            <a:r>
              <a:rPr lang="es-MX" sz="2400" dirty="0">
                <a:solidFill>
                  <a:schemeClr val="tx1"/>
                </a:solidFill>
              </a:rPr>
              <a:t> Access </a:t>
            </a:r>
            <a:r>
              <a:rPr lang="es-MX" sz="2400" dirty="0" err="1">
                <a:solidFill>
                  <a:schemeClr val="tx1"/>
                </a:solidFill>
              </a:rPr>
              <a:t>Protocol</a:t>
            </a:r>
            <a:r>
              <a:rPr lang="es-MX" sz="2400" dirty="0">
                <a:solidFill>
                  <a:schemeClr val="tx1"/>
                </a:solidFill>
              </a:rPr>
              <a:t>) el cual </a:t>
            </a:r>
            <a:r>
              <a:rPr lang="es-MX" sz="2400" dirty="0" smtClean="0">
                <a:solidFill>
                  <a:schemeClr val="tx1"/>
                </a:solidFill>
              </a:rPr>
              <a:t>esta </a:t>
            </a:r>
            <a:r>
              <a:rPr lang="es-MX" sz="2400" dirty="0">
                <a:solidFill>
                  <a:schemeClr val="tx1"/>
                </a:solidFill>
              </a:rPr>
              <a:t>definido </a:t>
            </a:r>
            <a:r>
              <a:rPr lang="es-MX" sz="2400" dirty="0" smtClean="0">
                <a:solidFill>
                  <a:schemeClr val="tx1"/>
                </a:solidFill>
              </a:rPr>
              <a:t>como </a:t>
            </a:r>
            <a:r>
              <a:rPr lang="es-MX" sz="2400" dirty="0">
                <a:solidFill>
                  <a:schemeClr val="tx1"/>
                </a:solidFill>
              </a:rPr>
              <a:t>“protocolo estándar que define cómo dos objetos en diferentes procesos pueden comunicarse por medio de intercambio de datos </a:t>
            </a:r>
            <a:r>
              <a:rPr lang="es-MX" sz="2400" dirty="0" err="1" smtClean="0">
                <a:solidFill>
                  <a:schemeClr val="tx1"/>
                </a:solidFill>
              </a:rPr>
              <a:t>XML”lo</a:t>
            </a:r>
            <a:r>
              <a:rPr lang="es-MX" sz="2400" dirty="0" smtClean="0">
                <a:solidFill>
                  <a:schemeClr val="tx1"/>
                </a:solidFill>
              </a:rPr>
              <a:t> </a:t>
            </a:r>
            <a:r>
              <a:rPr lang="es-MX" sz="2400" dirty="0">
                <a:solidFill>
                  <a:schemeClr val="tx1"/>
                </a:solidFill>
              </a:rPr>
              <a:t>cual nos debe de quedar muy claro, pues es en este aspecto donde radican las principales diferencias contra </a:t>
            </a:r>
            <a:r>
              <a:rPr lang="es-MX" sz="2400" b="1" dirty="0">
                <a:solidFill>
                  <a:schemeClr val="tx1"/>
                </a:solidFill>
              </a:rPr>
              <a:t>REST</a:t>
            </a:r>
            <a:r>
              <a:rPr lang="es-MX" sz="2400" dirty="0">
                <a:solidFill>
                  <a:schemeClr val="tx1"/>
                </a:solidFill>
              </a:rPr>
              <a:t>. Los servicios SOAP funcionan por lo general por el protocolo HTTP que es lo más común cuando invocamos un Web </a:t>
            </a:r>
            <a:r>
              <a:rPr lang="es-MX" sz="2400" dirty="0" err="1">
                <a:solidFill>
                  <a:schemeClr val="tx1"/>
                </a:solidFill>
              </a:rPr>
              <a:t>Services</a:t>
            </a:r>
            <a:r>
              <a:rPr lang="es-MX" sz="2400" dirty="0">
                <a:solidFill>
                  <a:schemeClr val="tx1"/>
                </a:solidFill>
              </a:rPr>
              <a:t>, sin embargo, SOAP no está limitado a este protocolo, si no que puede ser enviado por </a:t>
            </a:r>
            <a:r>
              <a:rPr lang="es-MX" sz="2400" dirty="0" smtClean="0">
                <a:solidFill>
                  <a:schemeClr val="tx1"/>
                </a:solidFill>
              </a:rPr>
              <a:t>FTP, </a:t>
            </a:r>
            <a:r>
              <a:rPr lang="es-MX" sz="2400" dirty="0">
                <a:solidFill>
                  <a:schemeClr val="tx1"/>
                </a:solidFill>
              </a:rPr>
              <a:t>TCP</a:t>
            </a:r>
            <a:endParaRPr lang="es-MX" sz="2400" dirty="0">
              <a:solidFill>
                <a:schemeClr val="tx1"/>
              </a:solidFill>
            </a:endParaRPr>
          </a:p>
        </p:txBody>
      </p:sp>
    </p:spTree>
    <p:extLst>
      <p:ext uri="{BB962C8B-B14F-4D97-AF65-F5344CB8AC3E}">
        <p14:creationId xmlns:p14="http://schemas.microsoft.com/office/powerpoint/2010/main" val="25443801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smtClean="0"/>
              <a:t>ARQUITECTURA</a:t>
            </a:r>
            <a:endParaRPr lang="es-MX" dirty="0"/>
          </a:p>
        </p:txBody>
      </p:sp>
      <p:pic>
        <p:nvPicPr>
          <p:cNvPr id="4098" name="Picture 2" descr="SOAP vs RES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6363" y="2484243"/>
            <a:ext cx="8828087" cy="26642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66057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smtClean="0"/>
              <a:t>ARQUITECTURA</a:t>
            </a:r>
            <a:endParaRPr lang="es-MX" dirty="0"/>
          </a:p>
        </p:txBody>
      </p:sp>
      <p:sp>
        <p:nvSpPr>
          <p:cNvPr id="3" name="Marcador de contenido 2"/>
          <p:cNvSpPr>
            <a:spLocks noGrp="1"/>
          </p:cNvSpPr>
          <p:nvPr>
            <p:ph idx="1"/>
          </p:nvPr>
        </p:nvSpPr>
        <p:spPr/>
        <p:txBody>
          <a:bodyPr>
            <a:normAutofit/>
          </a:bodyPr>
          <a:lstStyle/>
          <a:p>
            <a:r>
              <a:rPr lang="es-MX" sz="2400" dirty="0" smtClean="0">
                <a:solidFill>
                  <a:schemeClr val="tx1"/>
                </a:solidFill>
              </a:rPr>
              <a:t>REST</a:t>
            </a:r>
            <a:r>
              <a:rPr lang="es-MX" sz="2400" dirty="0">
                <a:solidFill>
                  <a:schemeClr val="tx1"/>
                </a:solidFill>
              </a:rPr>
              <a:t>: </a:t>
            </a:r>
            <a:r>
              <a:rPr lang="es-MX" sz="2400" dirty="0" smtClean="0">
                <a:solidFill>
                  <a:schemeClr val="tx1"/>
                </a:solidFill>
              </a:rPr>
              <a:t>Es </a:t>
            </a:r>
            <a:r>
              <a:rPr lang="es-MX" sz="2400" dirty="0">
                <a:solidFill>
                  <a:schemeClr val="tx1"/>
                </a:solidFill>
              </a:rPr>
              <a:t>una tecnología mucho más flexible que transporta datos por medio del protocolo HTTP, pero este permite utilizar los diversos métodos que proporciona HTTP para comunicarse, como lo son GET, POST, PUT, DELETE, </a:t>
            </a:r>
            <a:r>
              <a:rPr lang="es-MX" sz="2400" dirty="0" smtClean="0">
                <a:solidFill>
                  <a:schemeClr val="tx1"/>
                </a:solidFill>
              </a:rPr>
              <a:t>REST </a:t>
            </a:r>
            <a:r>
              <a:rPr lang="es-MX" sz="2400" dirty="0">
                <a:solidFill>
                  <a:schemeClr val="tx1"/>
                </a:solidFill>
              </a:rPr>
              <a:t>es tan flexible que permite transmitir prácticamente cualquier tipo de </a:t>
            </a:r>
            <a:r>
              <a:rPr lang="es-MX" sz="2400" dirty="0" smtClean="0">
                <a:solidFill>
                  <a:schemeClr val="tx1"/>
                </a:solidFill>
              </a:rPr>
              <a:t>datos </a:t>
            </a:r>
            <a:r>
              <a:rPr lang="es-MX" sz="2400" dirty="0">
                <a:solidFill>
                  <a:schemeClr val="tx1"/>
                </a:solidFill>
              </a:rPr>
              <a:t>lo que nos permite mandar, XML, JSON, Binarios (imágenes, documentos), Text, etc. que contrasta con SOAP que solo permite la transmisión de datos en formato XML. A pesar de la gran variedad de tipos de datos que podemos mandar con REST, la gran mayoría transmite en JSON por un motivo muy importante, </a:t>
            </a:r>
            <a:r>
              <a:rPr lang="es-MX" sz="2400" dirty="0" smtClean="0">
                <a:solidFill>
                  <a:schemeClr val="tx1"/>
                </a:solidFill>
              </a:rPr>
              <a:t>Los </a:t>
            </a:r>
            <a:r>
              <a:rPr lang="es-MX" sz="2400" dirty="0">
                <a:solidFill>
                  <a:schemeClr val="tx1"/>
                </a:solidFill>
              </a:rPr>
              <a:t>formularios de HTML pueden ser apuntados a los servicios REST sin ningún problema (por ejemplo).</a:t>
            </a:r>
            <a:endParaRPr lang="es-MX" sz="2400" dirty="0">
              <a:solidFill>
                <a:schemeClr val="tx1"/>
              </a:solidFill>
            </a:endParaRPr>
          </a:p>
        </p:txBody>
      </p:sp>
    </p:spTree>
    <p:extLst>
      <p:ext uri="{BB962C8B-B14F-4D97-AF65-F5344CB8AC3E}">
        <p14:creationId xmlns:p14="http://schemas.microsoft.com/office/powerpoint/2010/main" val="42601701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smtClean="0"/>
              <a:t>ARQUITECTURA</a:t>
            </a:r>
            <a:endParaRPr lang="es-MX" dirty="0"/>
          </a:p>
        </p:txBody>
      </p:sp>
      <p:pic>
        <p:nvPicPr>
          <p:cNvPr id="5122" name="Picture 2" descr="SOAP vs RES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6363" y="2546737"/>
            <a:ext cx="8828087" cy="25392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79756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O" dirty="0" smtClean="0"/>
              <a:t>ARQUITECTURA</a:t>
            </a:r>
            <a:endParaRPr lang="es-MX" dirty="0"/>
          </a:p>
        </p:txBody>
      </p:sp>
      <p:sp>
        <p:nvSpPr>
          <p:cNvPr id="4" name="Marcador de contenido 3"/>
          <p:cNvSpPr>
            <a:spLocks noGrp="1"/>
          </p:cNvSpPr>
          <p:nvPr>
            <p:ph idx="1"/>
          </p:nvPr>
        </p:nvSpPr>
        <p:spPr/>
        <p:txBody>
          <a:bodyPr/>
          <a:lstStyle/>
          <a:p>
            <a:r>
              <a:rPr lang="es-CO" dirty="0">
                <a:hlinkClick r:id="rId2"/>
              </a:rPr>
              <a:t>https://</a:t>
            </a:r>
            <a:r>
              <a:rPr lang="es-CO" dirty="0" smtClean="0">
                <a:hlinkClick r:id="rId2"/>
              </a:rPr>
              <a:t>www.youtube.com/watch?v=8JDLM4G_bbw</a:t>
            </a:r>
            <a:endParaRPr lang="es-CO" dirty="0" smtClean="0"/>
          </a:p>
          <a:p>
            <a:endParaRPr lang="es-MX" dirty="0"/>
          </a:p>
          <a:p>
            <a:r>
              <a:rPr lang="es-CO" dirty="0">
                <a:hlinkClick r:id="rId3"/>
              </a:rPr>
              <a:t>https://</a:t>
            </a:r>
            <a:r>
              <a:rPr lang="es-CO" dirty="0" smtClean="0">
                <a:hlinkClick r:id="rId3"/>
              </a:rPr>
              <a:t>www.youtube.com/watch?v=5BAgl-Jt2GU</a:t>
            </a:r>
            <a:endParaRPr lang="es-CO" dirty="0" smtClean="0"/>
          </a:p>
          <a:p>
            <a:endParaRPr lang="es-CO" dirty="0"/>
          </a:p>
        </p:txBody>
      </p:sp>
    </p:spTree>
    <p:extLst>
      <p:ext uri="{BB962C8B-B14F-4D97-AF65-F5344CB8AC3E}">
        <p14:creationId xmlns:p14="http://schemas.microsoft.com/office/powerpoint/2010/main" val="42786196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MX" dirty="0" smtClean="0"/>
              <a:t>Referencias Bibliográficas</a:t>
            </a:r>
            <a:endParaRPr lang="es-MX" dirty="0"/>
          </a:p>
        </p:txBody>
      </p:sp>
      <p:sp>
        <p:nvSpPr>
          <p:cNvPr id="3" name="Marcador de contenido 2"/>
          <p:cNvSpPr>
            <a:spLocks noGrp="1"/>
          </p:cNvSpPr>
          <p:nvPr>
            <p:ph idx="1"/>
          </p:nvPr>
        </p:nvSpPr>
        <p:spPr/>
        <p:txBody>
          <a:bodyPr>
            <a:normAutofit/>
          </a:bodyPr>
          <a:lstStyle/>
          <a:p>
            <a:r>
              <a:rPr lang="es-MX" sz="2000" dirty="0">
                <a:solidFill>
                  <a:schemeClr val="tx1"/>
                </a:solidFill>
              </a:rPr>
              <a:t>De, A., Presentado, C., Pedro, J., Soler, B., &amp; Francés, F. B. (2014). TFG DISEÑO Y DESARROLLO WEB. </a:t>
            </a:r>
            <a:r>
              <a:rPr lang="es-MX" sz="2000" dirty="0" err="1">
                <a:solidFill>
                  <a:schemeClr val="tx1"/>
                </a:solidFill>
              </a:rPr>
              <a:t>Retrieved</a:t>
            </a:r>
            <a:r>
              <a:rPr lang="es-MX" sz="2000" dirty="0">
                <a:solidFill>
                  <a:schemeClr val="tx1"/>
                </a:solidFill>
              </a:rPr>
              <a:t> </a:t>
            </a:r>
            <a:r>
              <a:rPr lang="es-MX" sz="2000" dirty="0" err="1">
                <a:solidFill>
                  <a:schemeClr val="tx1"/>
                </a:solidFill>
              </a:rPr>
              <a:t>from</a:t>
            </a:r>
            <a:r>
              <a:rPr lang="es-MX" sz="2000" dirty="0">
                <a:solidFill>
                  <a:schemeClr val="tx1"/>
                </a:solidFill>
              </a:rPr>
              <a:t> https://riunet.upv.es/bitstream/handle/10251/49757/MEMORIA_Barba Soler%2C Juan </a:t>
            </a:r>
            <a:r>
              <a:rPr lang="es-MX" sz="2000" dirty="0" err="1" smtClean="0">
                <a:solidFill>
                  <a:schemeClr val="tx1"/>
                </a:solidFill>
              </a:rPr>
              <a:t>Pedro.pdf?sequence</a:t>
            </a:r>
            <a:r>
              <a:rPr lang="es-MX" sz="2000" dirty="0" smtClean="0">
                <a:solidFill>
                  <a:schemeClr val="tx1"/>
                </a:solidFill>
              </a:rPr>
              <a:t>=1</a:t>
            </a:r>
          </a:p>
          <a:p>
            <a:r>
              <a:rPr lang="es-MX" sz="2000" dirty="0">
                <a:solidFill>
                  <a:schemeClr val="tx1"/>
                </a:solidFill>
                <a:hlinkClick r:id="rId2"/>
              </a:rPr>
              <a:t>http://</a:t>
            </a:r>
            <a:r>
              <a:rPr lang="es-MX" sz="2000" dirty="0" smtClean="0">
                <a:solidFill>
                  <a:schemeClr val="tx1"/>
                </a:solidFill>
                <a:hlinkClick r:id="rId2"/>
              </a:rPr>
              <a:t>cic.javerianacali.edu.co/wiki/lib/exe/fetch.php?media=materias:s2_conceptosdemodelado.pdf</a:t>
            </a:r>
            <a:endParaRPr lang="es-MX" sz="2000" dirty="0" smtClean="0">
              <a:solidFill>
                <a:schemeClr val="tx1"/>
              </a:solidFill>
            </a:endParaRPr>
          </a:p>
          <a:p>
            <a:r>
              <a:rPr lang="es-MX" sz="2000" dirty="0">
                <a:solidFill>
                  <a:schemeClr val="tx1"/>
                </a:solidFill>
                <a:hlinkClick r:id="rId3"/>
              </a:rPr>
              <a:t>http://</a:t>
            </a:r>
            <a:r>
              <a:rPr lang="es-MX" sz="2000" dirty="0" smtClean="0">
                <a:solidFill>
                  <a:schemeClr val="tx1"/>
                </a:solidFill>
                <a:hlinkClick r:id="rId3"/>
              </a:rPr>
              <a:t>repositorio.utn.edu.ec/bitstream/123456789/587/1/CAPITULOS.pdf</a:t>
            </a:r>
            <a:endParaRPr lang="es-MX" sz="2000" dirty="0" smtClean="0">
              <a:solidFill>
                <a:schemeClr val="tx1"/>
              </a:solidFill>
            </a:endParaRPr>
          </a:p>
          <a:p>
            <a:endParaRPr lang="es-MX" sz="2000" dirty="0">
              <a:solidFill>
                <a:schemeClr val="tx1"/>
              </a:solidFill>
            </a:endParaRPr>
          </a:p>
          <a:p>
            <a:endParaRPr lang="es-MX" dirty="0"/>
          </a:p>
          <a:p>
            <a:endParaRPr lang="es-MX" dirty="0"/>
          </a:p>
        </p:txBody>
      </p:sp>
    </p:spTree>
    <p:extLst>
      <p:ext uri="{BB962C8B-B14F-4D97-AF65-F5344CB8AC3E}">
        <p14:creationId xmlns:p14="http://schemas.microsoft.com/office/powerpoint/2010/main" val="41799238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3054084"/>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ema de 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1130</TotalTime>
  <Words>1305</Words>
  <Application>Microsoft Office PowerPoint</Application>
  <PresentationFormat>Presentación en pantalla (4:3)</PresentationFormat>
  <Paragraphs>63</Paragraphs>
  <Slides>23</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23</vt:i4>
      </vt:variant>
    </vt:vector>
  </HeadingPairs>
  <TitlesOfParts>
    <vt:vector size="28" baseType="lpstr">
      <vt:lpstr>Arial</vt:lpstr>
      <vt:lpstr>Calibri</vt:lpstr>
      <vt:lpstr>Century Gothic</vt:lpstr>
      <vt:lpstr>Helvetica</vt:lpstr>
      <vt:lpstr>Tema de Office</vt:lpstr>
      <vt:lpstr>ARQUITECTURAS</vt:lpstr>
      <vt:lpstr>ARQUITECTURA</vt:lpstr>
      <vt:lpstr>ARQUITECTURA</vt:lpstr>
      <vt:lpstr>ARQUITECTURA</vt:lpstr>
      <vt:lpstr>ARQUITECTURA</vt:lpstr>
      <vt:lpstr>ARQUITECTURA</vt:lpstr>
      <vt:lpstr>ARQUITECTURA</vt:lpstr>
      <vt:lpstr>ARQUITECTURA</vt:lpstr>
      <vt:lpstr>ARQUITECTURA</vt:lpstr>
      <vt:lpstr>ARQUITECTURA</vt:lpstr>
      <vt:lpstr>ARQUITECTURA</vt:lpstr>
      <vt:lpstr>ARQUITECTURA</vt:lpstr>
      <vt:lpstr>ARQUITECTURA</vt:lpstr>
      <vt:lpstr>ARQUITECTURA</vt:lpstr>
      <vt:lpstr>ARQUITECTURA</vt:lpstr>
      <vt:lpstr>ARQUITECTURA</vt:lpstr>
      <vt:lpstr>ARQUITECTURA</vt:lpstr>
      <vt:lpstr>ARQUITECTURA</vt:lpstr>
      <vt:lpstr>ARQUITECTURA</vt:lpstr>
      <vt:lpstr>ARQUITECTURA</vt:lpstr>
      <vt:lpstr>ARQUITECTURA</vt:lpstr>
      <vt:lpstr>Referencias Bibliográficas</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Dustin Torres</dc:creator>
  <cp:lastModifiedBy>PC</cp:lastModifiedBy>
  <cp:revision>116</cp:revision>
  <dcterms:created xsi:type="dcterms:W3CDTF">2016-02-10T21:55:26Z</dcterms:created>
  <dcterms:modified xsi:type="dcterms:W3CDTF">2021-05-07T02:49:20Z</dcterms:modified>
</cp:coreProperties>
</file>