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52"/>
  </p:notesMasterIdLst>
  <p:handoutMasterIdLst>
    <p:handoutMasterId r:id="rId53"/>
  </p:handoutMasterIdLst>
  <p:sldIdLst>
    <p:sldId id="256" r:id="rId5"/>
    <p:sldId id="412" r:id="rId6"/>
    <p:sldId id="475" r:id="rId7"/>
    <p:sldId id="476" r:id="rId8"/>
    <p:sldId id="477" r:id="rId9"/>
    <p:sldId id="478" r:id="rId10"/>
    <p:sldId id="479" r:id="rId11"/>
    <p:sldId id="480" r:id="rId12"/>
    <p:sldId id="482" r:id="rId13"/>
    <p:sldId id="481" r:id="rId14"/>
    <p:sldId id="483" r:id="rId15"/>
    <p:sldId id="484" r:id="rId16"/>
    <p:sldId id="474" r:id="rId17"/>
    <p:sldId id="485" r:id="rId18"/>
    <p:sldId id="486" r:id="rId19"/>
    <p:sldId id="487" r:id="rId20"/>
    <p:sldId id="488" r:id="rId21"/>
    <p:sldId id="489" r:id="rId22"/>
    <p:sldId id="522" r:id="rId23"/>
    <p:sldId id="490" r:id="rId24"/>
    <p:sldId id="491" r:id="rId25"/>
    <p:sldId id="492" r:id="rId26"/>
    <p:sldId id="493" r:id="rId27"/>
    <p:sldId id="494" r:id="rId28"/>
    <p:sldId id="496" r:id="rId29"/>
    <p:sldId id="499" r:id="rId30"/>
    <p:sldId id="497" r:id="rId31"/>
    <p:sldId id="498" r:id="rId32"/>
    <p:sldId id="500" r:id="rId33"/>
    <p:sldId id="495" r:id="rId34"/>
    <p:sldId id="501" r:id="rId35"/>
    <p:sldId id="502" r:id="rId36"/>
    <p:sldId id="503" r:id="rId37"/>
    <p:sldId id="505" r:id="rId38"/>
    <p:sldId id="506" r:id="rId39"/>
    <p:sldId id="517" r:id="rId40"/>
    <p:sldId id="509" r:id="rId41"/>
    <p:sldId id="510" r:id="rId42"/>
    <p:sldId id="512" r:id="rId43"/>
    <p:sldId id="511" r:id="rId44"/>
    <p:sldId id="513" r:id="rId45"/>
    <p:sldId id="515" r:id="rId46"/>
    <p:sldId id="518" r:id="rId47"/>
    <p:sldId id="516" r:id="rId48"/>
    <p:sldId id="519" r:id="rId49"/>
    <p:sldId id="514" r:id="rId50"/>
    <p:sldId id="521" r:id="rId5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B0517"/>
    <a:srgbClr val="0033CC"/>
    <a:srgbClr val="FF0000"/>
    <a:srgbClr val="740000"/>
    <a:srgbClr val="FFFF00"/>
    <a:srgbClr val="1FE962"/>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91" autoAdjust="0"/>
    <p:restoredTop sz="94660"/>
  </p:normalViewPr>
  <p:slideViewPr>
    <p:cSldViewPr snapToGrid="0">
      <p:cViewPr varScale="1">
        <p:scale>
          <a:sx n="88" d="100"/>
          <a:sy n="88" d="100"/>
        </p:scale>
        <p:origin x="763" y="72"/>
      </p:cViewPr>
      <p:guideLst/>
    </p:cSldViewPr>
  </p:slideViewPr>
  <p:notesTextViewPr>
    <p:cViewPr>
      <p:scale>
        <a:sx n="3" d="2"/>
        <a:sy n="3" d="2"/>
      </p:scale>
      <p:origin x="0" y="0"/>
    </p:cViewPr>
  </p:notesTextViewPr>
  <p:notesViewPr>
    <p:cSldViewPr snapToGrid="0">
      <p:cViewPr varScale="1">
        <p:scale>
          <a:sx n="53" d="100"/>
          <a:sy n="53" d="100"/>
        </p:scale>
        <p:origin x="2844"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2643CE-FCF9-4654-B777-3120BF29AD33}" type="datetimeFigureOut">
              <a:rPr lang="es-CO" smtClean="0"/>
              <a:t>28/07/2025</a:t>
            </a:fld>
            <a:endParaRPr lang="es-CO"/>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9BD370-B45E-461B-BE6A-36A6B9BEF0B6}" type="slidenum">
              <a:rPr lang="es-CO" smtClean="0"/>
              <a:t>‹Nº›</a:t>
            </a:fld>
            <a:endParaRPr lang="es-CO"/>
          </a:p>
        </p:txBody>
      </p:sp>
    </p:spTree>
    <p:extLst>
      <p:ext uri="{BB962C8B-B14F-4D97-AF65-F5344CB8AC3E}">
        <p14:creationId xmlns:p14="http://schemas.microsoft.com/office/powerpoint/2010/main" val="78486293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ABDA6F-5FFE-48B2-8852-98C91D55A435}" type="datetimeFigureOut">
              <a:rPr lang="es-CO" smtClean="0"/>
              <a:t>28/07/2025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s-MX" dirty="0"/>
              <a:t>Calculo vectorial</a:t>
            </a:r>
            <a:endParaRPr lang="es-CO"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48F53C-AD1B-4042-97E4-171D10ADE7FC}" type="slidenum">
              <a:rPr lang="es-CO" smtClean="0"/>
              <a:t>‹Nº›</a:t>
            </a:fld>
            <a:endParaRPr lang="es-CO"/>
          </a:p>
        </p:txBody>
      </p:sp>
    </p:spTree>
    <p:extLst>
      <p:ext uri="{BB962C8B-B14F-4D97-AF65-F5344CB8AC3E}">
        <p14:creationId xmlns:p14="http://schemas.microsoft.com/office/powerpoint/2010/main" val="305715833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3265829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a:lstStyle/>
          <a:p>
            <a:fld id="{CBACEC70-50D7-40CA-8B95-891EB74809F5}" type="datetime1">
              <a:rPr lang="es-CO" smtClean="0"/>
              <a:t>28/07/2025</a:t>
            </a:fld>
            <a:endParaRPr lang="es-CO"/>
          </a:p>
        </p:txBody>
      </p:sp>
      <p:sp>
        <p:nvSpPr>
          <p:cNvPr id="5" name="Marcador de pie de página 4"/>
          <p:cNvSpPr>
            <a:spLocks noGrp="1"/>
          </p:cNvSpPr>
          <p:nvPr>
            <p:ph type="ftr" sz="quarter" idx="11"/>
          </p:nvPr>
        </p:nvSpPr>
        <p:spPr/>
        <p:txBody>
          <a:bodyPr/>
          <a:lstStyle>
            <a:lvl1pPr>
              <a:defRPr/>
            </a:lvl1pPr>
          </a:lstStyle>
          <a:p>
            <a:r>
              <a:rPr lang="es-CO" dirty="0"/>
              <a:t>Física Calor Ondas</a:t>
            </a:r>
          </a:p>
        </p:txBody>
      </p:sp>
      <p:sp>
        <p:nvSpPr>
          <p:cNvPr id="6" name="Marcador de número de diapositiva 5"/>
          <p:cNvSpPr>
            <a:spLocks noGrp="1"/>
          </p:cNvSpPr>
          <p:nvPr>
            <p:ph type="sldNum" sz="quarter" idx="12"/>
          </p:nvPr>
        </p:nvSpPr>
        <p:spPr/>
        <p:txBody>
          <a:bodyPr/>
          <a:lstStyle>
            <a:lvl1pPr>
              <a:defRPr sz="1800">
                <a:solidFill>
                  <a:schemeClr val="accent1"/>
                </a:solidFill>
                <a:effectLst>
                  <a:outerShdw blurRad="38100" dist="38100" dir="2700000" algn="tl">
                    <a:srgbClr val="000000">
                      <a:alpha val="43137"/>
                    </a:srgbClr>
                  </a:outerShdw>
                </a:effectLst>
              </a:defRPr>
            </a:lvl1pPr>
          </a:lstStyle>
          <a:p>
            <a:fld id="{09261294-D4D2-4553-85DE-AE70C6133B6E}" type="slidenum">
              <a:rPr lang="es-CO" smtClean="0"/>
              <a:t>‹Nº›</a:t>
            </a:fld>
            <a:endParaRPr lang="es-CO" dirty="0"/>
          </a:p>
        </p:txBody>
      </p:sp>
      <p:sp>
        <p:nvSpPr>
          <p:cNvPr id="7" name="Rectángulo 6"/>
          <p:cNvSpPr/>
          <p:nvPr userDrawn="1"/>
        </p:nvSpPr>
        <p:spPr>
          <a:xfrm>
            <a:off x="0" y="0"/>
            <a:ext cx="12192000" cy="319087"/>
          </a:xfrm>
          <a:prstGeom prst="rect">
            <a:avLst/>
          </a:prstGeom>
          <a:effectLst>
            <a:outerShdw blurRad="50800" dist="38100" dir="5400000" algn="t" rotWithShape="0">
              <a:prstClr val="black">
                <a:alpha val="40000"/>
              </a:prstClr>
            </a:outerShdw>
            <a:reflection blurRad="6350" stA="50000" endA="300" endPos="550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a:lstStyle/>
          <a:p>
            <a:fld id="{DFA79590-2398-4436-AA8B-8042EC11A512}" type="datetime1">
              <a:rPr lang="es-CO" smtClean="0"/>
              <a:t>28/07/2025</a:t>
            </a:fld>
            <a:endParaRPr lang="es-CO"/>
          </a:p>
        </p:txBody>
      </p:sp>
      <p:sp>
        <p:nvSpPr>
          <p:cNvPr id="5" name="Marcador de pie de página 4"/>
          <p:cNvSpPr>
            <a:spLocks noGrp="1"/>
          </p:cNvSpPr>
          <p:nvPr>
            <p:ph type="ftr" sz="quarter" idx="11"/>
          </p:nvPr>
        </p:nvSpPr>
        <p:spPr/>
        <p:txBody>
          <a:bodyPr/>
          <a:lstStyle>
            <a:lvl1pPr>
              <a:defRPr/>
            </a:lvl1pPr>
          </a:lstStyle>
          <a:p>
            <a:r>
              <a:rPr lang="es-CO" dirty="0"/>
              <a:t>Física Calor Ondas</a:t>
            </a:r>
          </a:p>
        </p:txBody>
      </p:sp>
      <p:sp>
        <p:nvSpPr>
          <p:cNvPr id="6" name="Marcador de número de diapositiva 5"/>
          <p:cNvSpPr>
            <a:spLocks noGrp="1"/>
          </p:cNvSpPr>
          <p:nvPr>
            <p:ph type="sldNum" sz="quarter" idx="12"/>
          </p:nvPr>
        </p:nvSpPr>
        <p:spPr>
          <a:xfrm>
            <a:off x="8610600" y="6353126"/>
            <a:ext cx="2743200" cy="365125"/>
          </a:xfrm>
        </p:spPr>
        <p:txBody>
          <a:bodyPr/>
          <a:lstStyle>
            <a:lvl1pPr>
              <a:defRPr sz="180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fld id="{09261294-D4D2-4553-85DE-AE70C6133B6E}" type="slidenum">
              <a:rPr lang="es-CO" smtClean="0"/>
              <a:t>‹Nº›</a:t>
            </a:fld>
            <a:endParaRPr lang="es-CO" dirty="0"/>
          </a:p>
        </p:txBody>
      </p:sp>
      <p:sp>
        <p:nvSpPr>
          <p:cNvPr id="9" name="Rectángulo 8"/>
          <p:cNvSpPr/>
          <p:nvPr userDrawn="1"/>
        </p:nvSpPr>
        <p:spPr>
          <a:xfrm>
            <a:off x="0" y="0"/>
            <a:ext cx="12192000" cy="319087"/>
          </a:xfrm>
          <a:prstGeom prst="rect">
            <a:avLst/>
          </a:prstGeom>
          <a:effectLst>
            <a:outerShdw blurRad="50800" dist="38100" dir="5400000" algn="t" rotWithShape="0">
              <a:prstClr val="black">
                <a:alpha val="40000"/>
              </a:prstClr>
            </a:outerShdw>
            <a:reflection blurRad="6350" stA="50000" endA="300" endPos="550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p:cNvSpPr txBox="1"/>
          <p:nvPr userDrawn="1"/>
        </p:nvSpPr>
        <p:spPr>
          <a:xfrm>
            <a:off x="371484" y="347663"/>
            <a:ext cx="5786438" cy="369332"/>
          </a:xfrm>
          <a:prstGeom prst="rect">
            <a:avLst/>
          </a:prstGeom>
          <a:noFill/>
        </p:spPr>
        <p:txBody>
          <a:bodyPr wrap="square" rtlCol="0">
            <a:spAutoFit/>
          </a:bodyPr>
          <a:lstStyle/>
          <a:p>
            <a:r>
              <a:rPr lang="es-MX" b="1" dirty="0"/>
              <a:t>Unidad 3. </a:t>
            </a:r>
            <a:r>
              <a:rPr lang="es-MX" dirty="0">
                <a:solidFill>
                  <a:srgbClr val="0070C0"/>
                </a:solidFill>
                <a:effectLst>
                  <a:outerShdw blurRad="38100" dist="38100" dir="2700000" algn="tl">
                    <a:srgbClr val="000000">
                      <a:alpha val="43137"/>
                    </a:srgbClr>
                  </a:outerShdw>
                </a:effectLst>
              </a:rPr>
              <a:t>Termodinámica</a:t>
            </a:r>
            <a:endParaRPr lang="es-CO" dirty="0">
              <a:solidFill>
                <a:srgbClr val="0070C0"/>
              </a:solidFill>
              <a:effectLst>
                <a:outerShdw blurRad="38100" dist="38100" dir="2700000" algn="tl">
                  <a:srgbClr val="000000">
                    <a:alpha val="43137"/>
                  </a:srgbClr>
                </a:outerShdw>
              </a:effectLst>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775327-6142-409D-A890-F1D139E2CE47}" type="datetime1">
              <a:rPr lang="es-CO" smtClean="0"/>
              <a:t>28/07/2025</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400" b="1">
                <a:solidFill>
                  <a:schemeClr val="tx1"/>
                </a:solidFill>
                <a:effectLst>
                  <a:outerShdw blurRad="38100" dist="38100" dir="2700000" algn="tl">
                    <a:srgbClr val="000000">
                      <a:alpha val="43137"/>
                    </a:srgbClr>
                  </a:outerShdw>
                </a:effectLst>
              </a:defRPr>
            </a:lvl1pPr>
          </a:lstStyle>
          <a:p>
            <a:r>
              <a:rPr lang="es-CO" dirty="0"/>
              <a:t>Física Eléctrica</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261294-D4D2-4553-85DE-AE70C6133B6E}" type="slidenum">
              <a:rPr lang="es-CO" smtClean="0"/>
              <a:t>‹Nº›</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27.png"/><Relationship Id="rId7"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5.pn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38.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5.jpe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zT6l-aJiDjk" TargetMode="External"/><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10" Type="http://schemas.openxmlformats.org/officeDocument/2006/relationships/hyperlink" Target="https://www.youtube.com/watch?v=nGcc7C8YUbg" TargetMode="External"/><Relationship Id="rId4" Type="http://schemas.openxmlformats.org/officeDocument/2006/relationships/image" Target="../media/image75.png"/><Relationship Id="rId9" Type="http://schemas.openxmlformats.org/officeDocument/2006/relationships/image" Target="../media/image80.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62.png"/><Relationship Id="rId4" Type="http://schemas.openxmlformats.org/officeDocument/2006/relationships/image" Target="../media/image83.png"/></Relationships>
</file>

<file path=ppt/slides/_rels/slide3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89.png"/><Relationship Id="rId4" Type="http://schemas.openxmlformats.org/officeDocument/2006/relationships/image" Target="../media/image88.png"/></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5.png"/><Relationship Id="rId1" Type="http://schemas.openxmlformats.org/officeDocument/2006/relationships/slideLayout" Target="../slideLayouts/slideLayout2.xml"/><Relationship Id="rId4" Type="http://schemas.microsoft.com/office/2007/relationships/hdphoto" Target="../media/hdphoto7.wdp"/></Relationships>
</file>

<file path=ppt/slides/_rels/slide42.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9" Type="http://schemas.openxmlformats.org/officeDocument/2006/relationships/image" Target="../media/image810.png"/></Relationships>
</file>

<file path=ppt/slides/_rels/slide4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p:cNvSpPr txBox="1"/>
          <p:nvPr/>
        </p:nvSpPr>
        <p:spPr>
          <a:xfrm>
            <a:off x="264024" y="518234"/>
            <a:ext cx="11663950" cy="2387600"/>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1500" b="1" dirty="0">
                <a:effectLst>
                  <a:outerShdw blurRad="38100" dist="38100" dir="2700000" algn="tl">
                    <a:srgbClr val="000000">
                      <a:alpha val="43137"/>
                    </a:srgbClr>
                  </a:outerShdw>
                </a:effectLst>
              </a:rPr>
              <a:t>Física Calor Ondas</a:t>
            </a:r>
            <a:endParaRPr lang="es-CO" sz="11500" b="1" dirty="0">
              <a:effectLst>
                <a:outerShdw blurRad="38100" dist="38100" dir="2700000" algn="tl">
                  <a:srgbClr val="000000">
                    <a:alpha val="43137"/>
                  </a:srgbClr>
                </a:outerShdw>
              </a:effectLst>
            </a:endParaRPr>
          </a:p>
        </p:txBody>
      </p:sp>
      <p:sp>
        <p:nvSpPr>
          <p:cNvPr id="12" name="CuadroTexto 11"/>
          <p:cNvSpPr txBox="1"/>
          <p:nvPr/>
        </p:nvSpPr>
        <p:spPr>
          <a:xfrm>
            <a:off x="2582786" y="6070965"/>
            <a:ext cx="7519916" cy="645160"/>
          </a:xfrm>
          <a:prstGeom prst="rect">
            <a:avLst/>
          </a:prstGeom>
          <a:noFill/>
        </p:spPr>
        <p:txBody>
          <a:bodyPr wrap="square" rtlCol="0">
            <a:spAutoFit/>
          </a:bodyPr>
          <a:lstStyle/>
          <a:p>
            <a:pPr algn="ctr"/>
            <a:r>
              <a:rPr lang="es-MX" sz="3200" b="1" dirty="0">
                <a:effectLst>
                  <a:outerShdw blurRad="38100" dist="38100" dir="2700000" algn="tl">
                    <a:srgbClr val="000000">
                      <a:alpha val="43137"/>
                    </a:srgbClr>
                  </a:outerShdw>
                </a:effectLst>
              </a:rPr>
              <a:t>Docente: </a:t>
            </a:r>
            <a:r>
              <a:rPr lang="es-MX" sz="3600" dirty="0" err="1"/>
              <a:t>MSc</a:t>
            </a:r>
            <a:r>
              <a:rPr lang="es-MX" sz="3600" dirty="0"/>
              <a:t>. </a:t>
            </a:r>
            <a:r>
              <a:rPr lang="es-CO" altLang="es-MX" sz="3600" dirty="0"/>
              <a:t>Margarita Guerrero</a:t>
            </a:r>
          </a:p>
        </p:txBody>
      </p:sp>
      <p:sp>
        <p:nvSpPr>
          <p:cNvPr id="13" name="CuadroTexto 12"/>
          <p:cNvSpPr txBox="1"/>
          <p:nvPr/>
        </p:nvSpPr>
        <p:spPr>
          <a:xfrm>
            <a:off x="103239" y="4882452"/>
            <a:ext cx="12088761" cy="830997"/>
          </a:xfrm>
          <a:prstGeom prst="rect">
            <a:avLst/>
          </a:prstGeom>
          <a:noFill/>
        </p:spPr>
        <p:txBody>
          <a:bodyPr wrap="square" rtlCol="0">
            <a:spAutoFit/>
          </a:bodyPr>
          <a:lstStyle/>
          <a:p>
            <a:pPr algn="ctr"/>
            <a:r>
              <a:rPr lang="es-MX" sz="4800" dirty="0"/>
              <a:t>Termodinámica</a:t>
            </a:r>
            <a:endParaRPr lang="es-CO" sz="5400" dirty="0"/>
          </a:p>
        </p:txBody>
      </p:sp>
      <p:sp>
        <p:nvSpPr>
          <p:cNvPr id="2" name="CuadroTexto 1"/>
          <p:cNvSpPr txBox="1"/>
          <p:nvPr/>
        </p:nvSpPr>
        <p:spPr>
          <a:xfrm>
            <a:off x="2336041" y="3758509"/>
            <a:ext cx="7519916" cy="1015663"/>
          </a:xfrm>
          <a:prstGeom prst="rect">
            <a:avLst/>
          </a:prstGeom>
          <a:noFill/>
        </p:spPr>
        <p:txBody>
          <a:bodyPr wrap="square" rtlCol="0">
            <a:spAutoFit/>
          </a:bodyPr>
          <a:lstStyle/>
          <a:p>
            <a:pPr algn="ctr"/>
            <a:r>
              <a:rPr lang="es-MX" sz="6000" b="1" dirty="0">
                <a:effectLst>
                  <a:outerShdw blurRad="38100" dist="38100" dir="2700000" algn="tl">
                    <a:srgbClr val="000000">
                      <a:alpha val="43137"/>
                    </a:srgbClr>
                  </a:outerShdw>
                </a:effectLst>
              </a:rPr>
              <a:t>Unidad 3</a:t>
            </a:r>
            <a:endParaRPr lang="es-CO" sz="6600" b="1" dirty="0"/>
          </a:p>
        </p:txBody>
      </p:sp>
      <p:pic>
        <p:nvPicPr>
          <p:cNvPr id="4" name="Picture 4" descr="Institución Universitaria de Barranquil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9840" y="2161439"/>
            <a:ext cx="6212319" cy="14887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pPr algn="ctr"/>
            <a:r>
              <a:rPr lang="es-CO"/>
              <a:t>Física Ondulatoria</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a:t>
            </a:fld>
            <a:endParaRPr lang="es-CO" dirty="0"/>
          </a:p>
        </p:txBody>
      </p:sp>
      <p:sp>
        <p:nvSpPr>
          <p:cNvPr id="4" name="CuadroTexto 3"/>
          <p:cNvSpPr txBox="1"/>
          <p:nvPr/>
        </p:nvSpPr>
        <p:spPr>
          <a:xfrm>
            <a:off x="348338" y="718756"/>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Concepto de Temperatura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pSp>
        <p:nvGrpSpPr>
          <p:cNvPr id="15" name="Grupo 14"/>
          <p:cNvGrpSpPr/>
          <p:nvPr/>
        </p:nvGrpSpPr>
        <p:grpSpPr>
          <a:xfrm>
            <a:off x="6024131" y="3075194"/>
            <a:ext cx="5786927" cy="3429000"/>
            <a:chOff x="5914276" y="2596753"/>
            <a:chExt cx="5786927" cy="3429000"/>
          </a:xfrm>
        </p:grpSpPr>
        <p:pic>
          <p:nvPicPr>
            <p:cNvPr id="9" name="Picture 6" descr="Conjunto De Termómetros De Madera De Baja Y Alta Temperatura Con Sol Y  Copos De Nieve Sobre Fondo Blanco. Ilustraciones svg, vectoriales, clip art  vectorizado libre de derechos. Image 171744738"/>
            <p:cNvPicPr>
              <a:picLocks noChangeAspect="1" noChangeArrowheads="1"/>
            </p:cNvPicPr>
            <p:nvPr/>
          </p:nvPicPr>
          <p:blipFill rotWithShape="1">
            <a:blip r:embed="rId2">
              <a:extLst>
                <a:ext uri="{28A0092B-C50C-407E-A947-70E740481C1C}">
                  <a14:useLocalDpi xmlns:a14="http://schemas.microsoft.com/office/drawing/2010/main" val="0"/>
                </a:ext>
              </a:extLst>
            </a:blip>
            <a:srcRect l="48931"/>
            <a:stretch>
              <a:fillRect/>
            </a:stretch>
          </p:blipFill>
          <p:spPr bwMode="auto">
            <a:xfrm>
              <a:off x="9512239" y="2596753"/>
              <a:ext cx="2188964"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9 ideas de Con mucho frío/calor en 2024 | emoticones emoji, emojis para  whatsapp, símbolos emo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4276" y="2757949"/>
              <a:ext cx="3683793" cy="290543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0" name="Conector recto 19"/>
          <p:cNvCxnSpPr/>
          <p:nvPr/>
        </p:nvCxnSpPr>
        <p:spPr>
          <a:xfrm>
            <a:off x="5814232" y="2453902"/>
            <a:ext cx="0" cy="3787105"/>
          </a:xfrm>
          <a:prstGeom prst="line">
            <a:avLst/>
          </a:prstGeom>
        </p:spPr>
        <p:style>
          <a:lnRef idx="1">
            <a:schemeClr val="accent1"/>
          </a:lnRef>
          <a:fillRef idx="0">
            <a:schemeClr val="accent1"/>
          </a:fillRef>
          <a:effectRef idx="0">
            <a:schemeClr val="accent1"/>
          </a:effectRef>
          <a:fontRef idx="minor">
            <a:schemeClr val="tx1"/>
          </a:fontRef>
        </p:style>
      </p:cxnSp>
      <p:grpSp>
        <p:nvGrpSpPr>
          <p:cNvPr id="21" name="Grupo 20"/>
          <p:cNvGrpSpPr/>
          <p:nvPr/>
        </p:nvGrpSpPr>
        <p:grpSpPr>
          <a:xfrm>
            <a:off x="445712" y="3139043"/>
            <a:ext cx="4963084" cy="3429000"/>
            <a:chOff x="496512" y="2596753"/>
            <a:chExt cx="4963084" cy="3429000"/>
          </a:xfrm>
        </p:grpSpPr>
        <p:pic>
          <p:nvPicPr>
            <p:cNvPr id="1030" name="Picture 6" descr="Conjunto De Termómetros De Madera De Baja Y Alta Temperatura Con Sol Y  Copos De Nieve Sobre Fondo Blanco. Ilustraciones svg, vectoriales, clip art  vectorizado libre de derechos. Image 171744738"/>
            <p:cNvPicPr>
              <a:picLocks noChangeAspect="1" noChangeArrowheads="1"/>
            </p:cNvPicPr>
            <p:nvPr/>
          </p:nvPicPr>
          <p:blipFill rotWithShape="1">
            <a:blip r:embed="rId2">
              <a:extLst>
                <a:ext uri="{28A0092B-C50C-407E-A947-70E740481C1C}">
                  <a14:useLocalDpi xmlns:a14="http://schemas.microsoft.com/office/drawing/2010/main" val="0"/>
                </a:ext>
              </a:extLst>
            </a:blip>
            <a:srcRect r="48931"/>
            <a:stretch>
              <a:fillRect/>
            </a:stretch>
          </p:blipFill>
          <p:spPr bwMode="auto">
            <a:xfrm>
              <a:off x="3270632" y="2596753"/>
              <a:ext cx="2188964"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in p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512" y="2947987"/>
              <a:ext cx="2638596" cy="2936619"/>
            </a:xfrm>
            <a:prstGeom prst="rect">
              <a:avLst/>
            </a:prstGeom>
            <a:noFill/>
            <a:extLst>
              <a:ext uri="{909E8E84-426E-40DD-AFC4-6F175D3DCCD1}">
                <a14:hiddenFill xmlns:a14="http://schemas.microsoft.com/office/drawing/2010/main">
                  <a:solidFill>
                    <a:srgbClr val="FFFFFF"/>
                  </a:solidFill>
                </a14:hiddenFill>
              </a:ext>
            </a:extLst>
          </p:spPr>
        </p:pic>
      </p:grpSp>
      <p:pic>
        <p:nvPicPr>
          <p:cNvPr id="39941" name="Imagen 5"/>
          <p:cNvPicPr>
            <a:picLocks noChangeAspect="1"/>
          </p:cNvPicPr>
          <p:nvPr/>
        </p:nvPicPr>
        <p:blipFill>
          <a:blip r:embed="rId5"/>
          <a:stretch>
            <a:fillRect/>
          </a:stretch>
        </p:blipFill>
        <p:spPr>
          <a:xfrm>
            <a:off x="445770" y="1212533"/>
            <a:ext cx="10972800" cy="1687512"/>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a:t>
            </a:fld>
            <a:endParaRPr lang="es-CO" dirty="0"/>
          </a:p>
        </p:txBody>
      </p:sp>
      <p:sp>
        <p:nvSpPr>
          <p:cNvPr id="4" name="CuadroTexto 3"/>
          <p:cNvSpPr txBox="1"/>
          <p:nvPr/>
        </p:nvSpPr>
        <p:spPr>
          <a:xfrm>
            <a:off x="348338" y="718756"/>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Escalas de temperatura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CuadroTexto 5"/>
          <p:cNvSpPr txBox="1"/>
          <p:nvPr/>
        </p:nvSpPr>
        <p:spPr>
          <a:xfrm>
            <a:off x="6062294" y="1394773"/>
            <a:ext cx="6194322" cy="461665"/>
          </a:xfrm>
          <a:prstGeom prst="rect">
            <a:avLst/>
          </a:prstGeom>
          <a:noFill/>
        </p:spPr>
        <p:txBody>
          <a:bodyPr wrap="square">
            <a:spAutoFit/>
          </a:bodyPr>
          <a:lstStyle/>
          <a:p>
            <a:r>
              <a:rPr lang="es-CO" sz="2400"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Escala de temperatura Fahrenheit</a:t>
            </a:r>
          </a:p>
        </p:txBody>
      </p:sp>
      <p:sp>
        <p:nvSpPr>
          <p:cNvPr id="8" name="CuadroTexto 7"/>
          <p:cNvSpPr txBox="1"/>
          <p:nvPr/>
        </p:nvSpPr>
        <p:spPr>
          <a:xfrm>
            <a:off x="6096000" y="1909096"/>
            <a:ext cx="5747661" cy="2308324"/>
          </a:xfrm>
          <a:prstGeom prst="rect">
            <a:avLst/>
          </a:prstGeom>
          <a:noFill/>
        </p:spPr>
        <p:txBody>
          <a:bodyPr wrap="square">
            <a:spAutoFit/>
          </a:bodyPr>
          <a:lstStyle/>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La temperatura de congelación del agua es de 32 °F</a:t>
            </a:r>
          </a:p>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La temperatura de ebullición del agua es de 212 °F</a:t>
            </a:r>
          </a:p>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Hay 180 grados entre la congelación y la ebullición</a:t>
            </a:r>
            <a:endParaRPr lang="es-CO"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CuadroTexto 8"/>
              <p:cNvSpPr txBox="1"/>
              <p:nvPr/>
            </p:nvSpPr>
            <p:spPr>
              <a:xfrm>
                <a:off x="7191619" y="4217399"/>
                <a:ext cx="3342582" cy="8094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80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rPr>
                            <m:t>𝐹</m:t>
                          </m:r>
                        </m:sub>
                      </m:sSub>
                      <m:r>
                        <a:rPr lang="es-MX" sz="2800" b="0" i="1" smtClean="0">
                          <a:effectLst>
                            <a:outerShdw blurRad="38100" dist="38100" dir="2700000" algn="tl">
                              <a:srgbClr val="000000">
                                <a:alpha val="43137"/>
                              </a:srgbClr>
                            </a:outerShdw>
                          </a:effectLst>
                          <a:latin typeface="Cambria Math" panose="02040503050406030204" pitchFamily="18" charset="0"/>
                        </a:rPr>
                        <m:t>=</m:t>
                      </m:r>
                      <m:f>
                        <m:fPr>
                          <m:ctrlPr>
                            <a:rPr lang="es-MX" sz="2800" b="0" i="1" smtClean="0">
                              <a:effectLst>
                                <a:outerShdw blurRad="38100" dist="38100" dir="2700000" algn="tl">
                                  <a:srgbClr val="000000">
                                    <a:alpha val="43137"/>
                                  </a:srgbClr>
                                </a:outerShdw>
                              </a:effectLst>
                              <a:latin typeface="Cambria Math" panose="02040503050406030204" pitchFamily="18" charset="0"/>
                            </a:rPr>
                          </m:ctrlPr>
                        </m:fPr>
                        <m:num>
                          <m:r>
                            <a:rPr lang="es-MX" sz="2800" b="0" i="1" smtClean="0">
                              <a:effectLst>
                                <a:outerShdw blurRad="38100" dist="38100" dir="2700000" algn="tl">
                                  <a:srgbClr val="000000">
                                    <a:alpha val="43137"/>
                                  </a:srgbClr>
                                </a:outerShdw>
                              </a:effectLst>
                              <a:latin typeface="Cambria Math" panose="02040503050406030204" pitchFamily="18" charset="0"/>
                            </a:rPr>
                            <m:t>9</m:t>
                          </m:r>
                        </m:num>
                        <m:den>
                          <m:r>
                            <a:rPr lang="es-MX" sz="2800" b="0" i="1" smtClean="0">
                              <a:effectLst>
                                <a:outerShdw blurRad="38100" dist="38100" dir="2700000" algn="tl">
                                  <a:srgbClr val="000000">
                                    <a:alpha val="43137"/>
                                  </a:srgbClr>
                                </a:outerShdw>
                              </a:effectLst>
                              <a:latin typeface="Cambria Math" panose="02040503050406030204" pitchFamily="18" charset="0"/>
                            </a:rPr>
                            <m:t>5</m:t>
                          </m:r>
                        </m:den>
                      </m:f>
                      <m:sSub>
                        <m:sSubPr>
                          <m:ctrlPr>
                            <a:rPr lang="es-MX" sz="2800" b="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rPr>
                            <m:t>𝐶</m:t>
                          </m:r>
                        </m:sub>
                      </m:sSub>
                      <m:r>
                        <a:rPr lang="es-MX" sz="2800" b="0" i="1" smtClean="0">
                          <a:effectLst>
                            <a:outerShdw blurRad="38100" dist="38100" dir="2700000" algn="tl">
                              <a:srgbClr val="000000">
                                <a:alpha val="43137"/>
                              </a:srgbClr>
                            </a:outerShdw>
                          </a:effectLst>
                          <a:latin typeface="Cambria Math" panose="02040503050406030204" pitchFamily="18" charset="0"/>
                        </a:rPr>
                        <m:t>+32°   [°</m:t>
                      </m:r>
                      <m:r>
                        <m:rPr>
                          <m:sty m:val="p"/>
                        </m:rPr>
                        <a:rPr lang="es-MX" sz="2800" b="0" i="0" smtClean="0">
                          <a:effectLst>
                            <a:outerShdw blurRad="38100" dist="38100" dir="2700000" algn="tl">
                              <a:srgbClr val="000000">
                                <a:alpha val="43137"/>
                              </a:srgbClr>
                            </a:outerShdw>
                          </a:effectLst>
                          <a:latin typeface="Cambria Math" panose="02040503050406030204" pitchFamily="18" charset="0"/>
                        </a:rPr>
                        <m:t>F</m:t>
                      </m:r>
                      <m:r>
                        <a:rPr lang="es-MX" sz="2800" b="0" i="1" smtClean="0">
                          <a:effectLst>
                            <a:outerShdw blurRad="38100" dist="38100" dir="2700000" algn="tl">
                              <a:srgbClr val="000000">
                                <a:alpha val="43137"/>
                              </a:srgbClr>
                            </a:outerShdw>
                          </a:effectLst>
                          <a:latin typeface="Cambria Math" panose="02040503050406030204" pitchFamily="18" charset="0"/>
                        </a:rPr>
                        <m:t>]</m:t>
                      </m:r>
                    </m:oMath>
                  </m:oMathPara>
                </a14:m>
                <a:endParaRPr lang="es-CO" sz="2800" dirty="0">
                  <a:effectLst>
                    <a:outerShdw blurRad="38100" dist="38100" dir="2700000" algn="tl">
                      <a:srgbClr val="000000">
                        <a:alpha val="43137"/>
                      </a:srgbClr>
                    </a:outerShdw>
                  </a:effectLst>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7191619" y="4217399"/>
                <a:ext cx="3342582" cy="809452"/>
              </a:xfrm>
              <a:prstGeom prst="rect">
                <a:avLst/>
              </a:prstGeom>
              <a:blipFill rotWithShape="1">
                <a:blip r:embed="rId2"/>
                <a:stretch>
                  <a:fillRect l="-7" t="-45" r="-963" b="-1545"/>
                </a:stretch>
              </a:blipFill>
            </p:spPr>
            <p:txBody>
              <a:bodyPr/>
              <a:lstStyle/>
              <a:p>
                <a:r>
                  <a:rPr lang="es-ES" altLang="en-US">
                    <a:noFill/>
                  </a:rPr>
                  <a:t> </a:t>
                </a:r>
              </a:p>
            </p:txBody>
          </p:sp>
        </mc:Fallback>
      </mc:AlternateContent>
      <p:sp>
        <p:nvSpPr>
          <p:cNvPr id="10" name="CuadroTexto 9"/>
          <p:cNvSpPr txBox="1"/>
          <p:nvPr/>
        </p:nvSpPr>
        <p:spPr>
          <a:xfrm>
            <a:off x="418992" y="1368134"/>
            <a:ext cx="6194322" cy="461665"/>
          </a:xfrm>
          <a:prstGeom prst="rect">
            <a:avLst/>
          </a:prstGeom>
          <a:noFill/>
        </p:spPr>
        <p:txBody>
          <a:bodyPr wrap="square">
            <a:spAutoFit/>
          </a:bodyPr>
          <a:lstStyle/>
          <a:p>
            <a:r>
              <a:rPr lang="es-CO" sz="2400"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Escala de temperatura Celsius</a:t>
            </a:r>
          </a:p>
        </p:txBody>
      </p:sp>
      <p:sp>
        <p:nvSpPr>
          <p:cNvPr id="11" name="CuadroTexto 10"/>
          <p:cNvSpPr txBox="1"/>
          <p:nvPr/>
        </p:nvSpPr>
        <p:spPr>
          <a:xfrm>
            <a:off x="418992" y="1909096"/>
            <a:ext cx="4890427" cy="2308324"/>
          </a:xfrm>
          <a:prstGeom prst="rect">
            <a:avLst/>
          </a:prstGeom>
          <a:noFill/>
        </p:spPr>
        <p:txBody>
          <a:bodyPr wrap="square">
            <a:spAutoFit/>
          </a:bodyPr>
          <a:lstStyle/>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La temperatura de congelación del agua es de 0 °C</a:t>
            </a:r>
          </a:p>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La temperatura de ebullición del agua es de 100 °C</a:t>
            </a:r>
          </a:p>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Hay 100 grados entre la congelación y la ebullición</a:t>
            </a:r>
            <a:endParaRPr lang="es-CO"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CuadroTexto 11"/>
              <p:cNvSpPr txBox="1"/>
              <p:nvPr/>
            </p:nvSpPr>
            <p:spPr>
              <a:xfrm>
                <a:off x="7191383" y="5131799"/>
                <a:ext cx="3766031" cy="8182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80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rPr>
                            <m:t>𝐶</m:t>
                          </m:r>
                        </m:sub>
                      </m:sSub>
                      <m:r>
                        <a:rPr lang="es-MX" sz="2800" b="0" i="1" smtClean="0">
                          <a:effectLst>
                            <a:outerShdw blurRad="38100" dist="38100" dir="2700000" algn="tl">
                              <a:srgbClr val="000000">
                                <a:alpha val="43137"/>
                              </a:srgbClr>
                            </a:outerShdw>
                          </a:effectLst>
                          <a:latin typeface="Cambria Math" panose="02040503050406030204" pitchFamily="18" charset="0"/>
                        </a:rPr>
                        <m:t>=</m:t>
                      </m:r>
                      <m:f>
                        <m:fPr>
                          <m:ctrlPr>
                            <a:rPr lang="es-MX" sz="2800" b="0" i="1" smtClean="0">
                              <a:effectLst>
                                <a:outerShdw blurRad="38100" dist="38100" dir="2700000" algn="tl">
                                  <a:srgbClr val="000000">
                                    <a:alpha val="43137"/>
                                  </a:srgbClr>
                                </a:outerShdw>
                              </a:effectLst>
                              <a:latin typeface="Cambria Math" panose="02040503050406030204" pitchFamily="18" charset="0"/>
                            </a:rPr>
                          </m:ctrlPr>
                        </m:fPr>
                        <m:num>
                          <m:r>
                            <a:rPr lang="es-MX" sz="2800" b="0" i="1" smtClean="0">
                              <a:effectLst>
                                <a:outerShdw blurRad="38100" dist="38100" dir="2700000" algn="tl">
                                  <a:srgbClr val="000000">
                                    <a:alpha val="43137"/>
                                  </a:srgbClr>
                                </a:outerShdw>
                              </a:effectLst>
                              <a:latin typeface="Cambria Math" panose="02040503050406030204" pitchFamily="18" charset="0"/>
                            </a:rPr>
                            <m:t>5</m:t>
                          </m:r>
                        </m:num>
                        <m:den>
                          <m:r>
                            <a:rPr lang="es-MX" sz="2800" b="0" i="1" smtClean="0">
                              <a:effectLst>
                                <a:outerShdw blurRad="38100" dist="38100" dir="2700000" algn="tl">
                                  <a:srgbClr val="000000">
                                    <a:alpha val="43137"/>
                                  </a:srgbClr>
                                </a:outerShdw>
                              </a:effectLst>
                              <a:latin typeface="Cambria Math" panose="02040503050406030204" pitchFamily="18" charset="0"/>
                            </a:rPr>
                            <m:t>9</m:t>
                          </m:r>
                        </m:den>
                      </m:f>
                      <m:d>
                        <m:dPr>
                          <m:ctrlPr>
                            <a:rPr lang="es-MX" sz="2800" b="0" i="1" smtClean="0">
                              <a:effectLst>
                                <a:outerShdw blurRad="38100" dist="38100" dir="2700000" algn="tl">
                                  <a:srgbClr val="000000">
                                    <a:alpha val="43137"/>
                                  </a:srgbClr>
                                </a:outerShdw>
                              </a:effectLst>
                              <a:latin typeface="Cambria Math" panose="02040503050406030204" pitchFamily="18" charset="0"/>
                            </a:rPr>
                          </m:ctrlPr>
                        </m:dPr>
                        <m:e>
                          <m:sSub>
                            <m:sSubPr>
                              <m:ctrlPr>
                                <a:rPr lang="es-MX" sz="2800" i="1">
                                  <a:effectLst>
                                    <a:outerShdw blurRad="38100" dist="38100" dir="2700000" algn="tl">
                                      <a:srgbClr val="000000">
                                        <a:alpha val="43137"/>
                                      </a:srgbClr>
                                    </a:outerShdw>
                                  </a:effectLst>
                                  <a:latin typeface="Cambria Math" panose="02040503050406030204" pitchFamily="18" charset="0"/>
                                </a:rPr>
                              </m:ctrlPr>
                            </m:sSubPr>
                            <m:e>
                              <m:r>
                                <a:rPr lang="es-MX" sz="2800" i="1">
                                  <a:effectLst>
                                    <a:outerShdw blurRad="38100" dist="38100" dir="2700000" algn="tl">
                                      <a:srgbClr val="000000">
                                        <a:alpha val="43137"/>
                                      </a:srgbClr>
                                    </a:outerShdw>
                                  </a:effectLst>
                                  <a:latin typeface="Cambria Math" panose="02040503050406030204" pitchFamily="18" charset="0"/>
                                </a:rPr>
                                <m:t>𝑇</m:t>
                              </m:r>
                            </m:e>
                            <m:sub>
                              <m:r>
                                <a:rPr lang="es-MX" sz="2800" i="1">
                                  <a:effectLst>
                                    <a:outerShdw blurRad="38100" dist="38100" dir="2700000" algn="tl">
                                      <a:srgbClr val="000000">
                                        <a:alpha val="43137"/>
                                      </a:srgbClr>
                                    </a:outerShdw>
                                  </a:effectLst>
                                  <a:latin typeface="Cambria Math" panose="02040503050406030204" pitchFamily="18" charset="0"/>
                                </a:rPr>
                                <m:t>𝐹</m:t>
                              </m:r>
                            </m:sub>
                          </m:sSub>
                          <m:r>
                            <a:rPr lang="es-MX" sz="2800" b="0" i="1" smtClean="0">
                              <a:effectLst>
                                <a:outerShdw blurRad="38100" dist="38100" dir="2700000" algn="tl">
                                  <a:srgbClr val="000000">
                                    <a:alpha val="43137"/>
                                  </a:srgbClr>
                                </a:outerShdw>
                              </a:effectLst>
                              <a:latin typeface="Cambria Math" panose="02040503050406030204" pitchFamily="18" charset="0"/>
                            </a:rPr>
                            <m:t>−32°</m:t>
                          </m:r>
                        </m:e>
                      </m:d>
                      <m:r>
                        <a:rPr lang="es-MX" sz="2800" b="0" i="1" smtClean="0">
                          <a:effectLst>
                            <a:outerShdw blurRad="38100" dist="38100" dir="2700000" algn="tl">
                              <a:srgbClr val="000000">
                                <a:alpha val="43137"/>
                              </a:srgbClr>
                            </a:outerShdw>
                          </a:effectLst>
                          <a:latin typeface="Cambria Math" panose="02040503050406030204" pitchFamily="18" charset="0"/>
                        </a:rPr>
                        <m:t>    [°</m:t>
                      </m:r>
                      <m:r>
                        <m:rPr>
                          <m:sty m:val="p"/>
                        </m:rPr>
                        <a:rPr lang="es-MX" sz="2800" b="0" i="0" smtClean="0">
                          <a:effectLst>
                            <a:outerShdw blurRad="38100" dist="38100" dir="2700000" algn="tl">
                              <a:srgbClr val="000000">
                                <a:alpha val="43137"/>
                              </a:srgbClr>
                            </a:outerShdw>
                          </a:effectLst>
                          <a:latin typeface="Cambria Math" panose="02040503050406030204" pitchFamily="18" charset="0"/>
                        </a:rPr>
                        <m:t>C</m:t>
                      </m:r>
                      <m:r>
                        <a:rPr lang="es-MX" sz="2800" b="0" i="1" smtClean="0">
                          <a:effectLst>
                            <a:outerShdw blurRad="38100" dist="38100" dir="2700000" algn="tl">
                              <a:srgbClr val="000000">
                                <a:alpha val="43137"/>
                              </a:srgbClr>
                            </a:outerShdw>
                          </a:effectLst>
                          <a:latin typeface="Cambria Math" panose="02040503050406030204" pitchFamily="18" charset="0"/>
                        </a:rPr>
                        <m:t>]</m:t>
                      </m:r>
                    </m:oMath>
                  </m:oMathPara>
                </a14:m>
                <a:endParaRPr lang="es-CO" sz="2800" dirty="0">
                  <a:effectLst>
                    <a:outerShdw blurRad="38100" dist="38100" dir="2700000" algn="tl">
                      <a:srgbClr val="000000">
                        <a:alpha val="43137"/>
                      </a:srgbClr>
                    </a:outerShdw>
                  </a:effectLst>
                </a:endParaRPr>
              </a:p>
            </p:txBody>
          </p:sp>
        </mc:Choice>
        <mc:Fallback xmlns="">
          <p:sp>
            <p:nvSpPr>
              <p:cNvPr id="12" name="CuadroTexto 11"/>
              <p:cNvSpPr txBox="1">
                <a:spLocks noRot="1" noChangeAspect="1" noMove="1" noResize="1" noEditPoints="1" noAdjustHandles="1" noChangeArrowheads="1" noChangeShapeType="1" noTextEdit="1"/>
              </p:cNvSpPr>
              <p:nvPr/>
            </p:nvSpPr>
            <p:spPr>
              <a:xfrm>
                <a:off x="7191383" y="5131799"/>
                <a:ext cx="3766031" cy="818237"/>
              </a:xfrm>
              <a:prstGeom prst="rect">
                <a:avLst/>
              </a:prstGeom>
              <a:blipFill rotWithShape="1">
                <a:blip r:embed="rId3"/>
                <a:stretch>
                  <a:fillRect t="-44" r="-307" b="-1542"/>
                </a:stretch>
              </a:blipFill>
            </p:spPr>
            <p:txBody>
              <a:bodyPr/>
              <a:lstStyle/>
              <a:p>
                <a:r>
                  <a:rPr lang="es-ES" altLang="en-US">
                    <a:noFill/>
                  </a:rPr>
                  <a:t> </a:t>
                </a:r>
              </a:p>
            </p:txBody>
          </p:sp>
        </mc:Fallback>
      </mc:AlternateContent>
      <p:cxnSp>
        <p:nvCxnSpPr>
          <p:cNvPr id="13" name="Conector recto 12"/>
          <p:cNvCxnSpPr/>
          <p:nvPr/>
        </p:nvCxnSpPr>
        <p:spPr>
          <a:xfrm>
            <a:off x="5814232" y="1495821"/>
            <a:ext cx="0" cy="4582398"/>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CuadroTexto 13"/>
              <p:cNvSpPr txBox="1"/>
              <p:nvPr/>
            </p:nvSpPr>
            <p:spPr>
              <a:xfrm>
                <a:off x="348811" y="4582875"/>
                <a:ext cx="4572000" cy="615315"/>
              </a:xfrm>
              <a:prstGeom prst="rect">
                <a:avLst/>
              </a:prstGeom>
              <a:noFill/>
            </p:spPr>
            <p:txBody>
              <a:bodyPr wrap="none" lIns="0" tIns="0" rIns="0" bIns="0" rtlCol="0">
                <a:spAutoFit/>
              </a:bodyPr>
              <a:lstStyle/>
              <a:p>
                <a14:m>
                  <m:oMath xmlns:m="http://schemas.openxmlformats.org/officeDocument/2006/math">
                    <m:sSub>
                      <m:sSubPr>
                        <m:ctrlPr>
                          <a:rPr lang="es-MX" sz="2000" b="0" i="1" smtClean="0">
                            <a:effectLst>
                              <a:outerShdw blurRad="38100" dist="38100" dir="2700000" algn="tl">
                                <a:srgbClr val="000000">
                                  <a:alpha val="43137"/>
                                </a:srgbClr>
                              </a:outerShdw>
                            </a:effectLst>
                            <a:latin typeface="Cambria Math" panose="02040503050406030204" pitchFamily="18" charset="0"/>
                          </a:rPr>
                        </m:ctrlPr>
                      </m:sSubPr>
                      <m:e>
                        <m:r>
                          <a:rPr lang="es-MX" sz="2000" b="0" i="1" smtClean="0">
                            <a:effectLst>
                              <a:outerShdw blurRad="38100" dist="38100" dir="2700000" algn="tl">
                                <a:srgbClr val="000000">
                                  <a:alpha val="43137"/>
                                </a:srgbClr>
                              </a:outerShdw>
                            </a:effectLst>
                            <a:latin typeface="Cambria Math" panose="02040503050406030204" pitchFamily="18" charset="0"/>
                          </a:rPr>
                          <m:t>𝑇</m:t>
                        </m:r>
                      </m:e>
                      <m:sub>
                        <m:r>
                          <a:rPr lang="es-MX" sz="2000" b="0" i="1" smtClean="0">
                            <a:effectLst>
                              <a:outerShdw blurRad="38100" dist="38100" dir="2700000" algn="tl">
                                <a:srgbClr val="000000">
                                  <a:alpha val="43137"/>
                                </a:srgbClr>
                              </a:outerShdw>
                            </a:effectLst>
                            <a:latin typeface="Cambria Math" panose="02040503050406030204" pitchFamily="18" charset="0"/>
                          </a:rPr>
                          <m:t>𝐶</m:t>
                        </m:r>
                      </m:sub>
                    </m:sSub>
                    <m:r>
                      <a:rPr lang="es-MX" sz="2000" b="0" i="1" smtClean="0">
                        <a:effectLst>
                          <a:outerShdw blurRad="38100" dist="38100" dir="2700000" algn="tl">
                            <a:srgbClr val="000000">
                              <a:alpha val="43137"/>
                            </a:srgbClr>
                          </a:outerShdw>
                        </a:effectLst>
                        <a:latin typeface="Cambria Math" panose="02040503050406030204" pitchFamily="18" charset="0"/>
                      </a:rPr>
                      <m:t>:</m:t>
                    </m:r>
                  </m:oMath>
                </a14:m>
                <a:r>
                  <a:rPr lang="es-CO" sz="2000" dirty="0">
                    <a:effectLst>
                      <a:outerShdw blurRad="38100" dist="38100" dir="2700000" algn="tl">
                        <a:srgbClr val="000000">
                          <a:alpha val="43137"/>
                        </a:srgbClr>
                      </a:outerShdw>
                    </a:effectLst>
                  </a:rPr>
                  <a:t>Temperatura en grados Celsius, 		</a:t>
                </a:r>
                <a:br>
                  <a:rPr lang="es-CO" sz="2000" dirty="0">
                    <a:effectLst>
                      <a:outerShdw blurRad="38100" dist="38100" dir="2700000" algn="tl">
                        <a:srgbClr val="000000">
                          <a:alpha val="43137"/>
                        </a:srgbClr>
                      </a:outerShdw>
                    </a:effectLst>
                  </a:rPr>
                </a:br>
                <a14:m>
                  <m:oMath xmlns:m="http://schemas.openxmlformats.org/officeDocument/2006/math">
                    <m:sSub>
                      <m:sSubPr>
                        <m:ctrlPr>
                          <a:rPr lang="es-MX" sz="2000" i="1">
                            <a:effectLst>
                              <a:outerShdw blurRad="38100" dist="38100" dir="2700000" algn="tl">
                                <a:srgbClr val="000000">
                                  <a:alpha val="43137"/>
                                </a:srgbClr>
                              </a:outerShdw>
                            </a:effectLst>
                            <a:latin typeface="Cambria Math" panose="02040503050406030204" pitchFamily="18" charset="0"/>
                          </a:rPr>
                        </m:ctrlPr>
                      </m:sSubPr>
                      <m:e>
                        <m:r>
                          <a:rPr lang="es-MX" sz="2000" i="1">
                            <a:effectLst>
                              <a:outerShdw blurRad="38100" dist="38100" dir="2700000" algn="tl">
                                <a:srgbClr val="000000">
                                  <a:alpha val="43137"/>
                                </a:srgbClr>
                              </a:outerShdw>
                            </a:effectLst>
                            <a:latin typeface="Cambria Math" panose="02040503050406030204" pitchFamily="18" charset="0"/>
                          </a:rPr>
                          <m:t>𝑇</m:t>
                        </m:r>
                      </m:e>
                      <m:sub>
                        <m:r>
                          <a:rPr lang="es-MX" sz="2000" b="0" i="1" smtClean="0">
                            <a:effectLst>
                              <a:outerShdw blurRad="38100" dist="38100" dir="2700000" algn="tl">
                                <a:srgbClr val="000000">
                                  <a:alpha val="43137"/>
                                </a:srgbClr>
                              </a:outerShdw>
                            </a:effectLst>
                            <a:latin typeface="Cambria Math" panose="02040503050406030204" pitchFamily="18" charset="0"/>
                          </a:rPr>
                          <m:t>𝐹</m:t>
                        </m:r>
                      </m:sub>
                    </m:sSub>
                    <m:r>
                      <a:rPr lang="es-MX" sz="2000" i="1">
                        <a:effectLst>
                          <a:outerShdw blurRad="38100" dist="38100" dir="2700000" algn="tl">
                            <a:srgbClr val="000000">
                              <a:alpha val="43137"/>
                            </a:srgbClr>
                          </a:outerShdw>
                        </a:effectLst>
                        <a:latin typeface="Cambria Math" panose="02040503050406030204" pitchFamily="18" charset="0"/>
                      </a:rPr>
                      <m:t>:</m:t>
                    </m:r>
                  </m:oMath>
                </a14:m>
                <a:r>
                  <a:rPr lang="es-CO" sz="2000" dirty="0">
                    <a:effectLst>
                      <a:outerShdw blurRad="38100" dist="38100" dir="2700000" algn="tl">
                        <a:srgbClr val="000000">
                          <a:alpha val="43137"/>
                        </a:srgbClr>
                      </a:outerShdw>
                    </a:effectLst>
                  </a:rPr>
                  <a:t>Temperatura en grados Fahrenheit </a:t>
                </a:r>
              </a:p>
            </p:txBody>
          </p:sp>
        </mc:Choice>
        <mc:Fallback xmlns="">
          <p:sp>
            <p:nvSpPr>
              <p:cNvPr id="14" name="CuadroTexto 13"/>
              <p:cNvSpPr txBox="1">
                <a:spLocks noRot="1" noChangeAspect="1" noMove="1" noResize="1" noEditPoints="1" noAdjustHandles="1" noChangeArrowheads="1" noChangeShapeType="1" noTextEdit="1"/>
              </p:cNvSpPr>
              <p:nvPr/>
            </p:nvSpPr>
            <p:spPr>
              <a:xfrm>
                <a:off x="348811" y="4582875"/>
                <a:ext cx="4572000" cy="615315"/>
              </a:xfrm>
              <a:prstGeom prst="rect">
                <a:avLst/>
              </a:prstGeom>
              <a:blipFill rotWithShape="1">
                <a:blip r:embed="rId4"/>
                <a:stretch>
                  <a:fillRect l="-4" t="-426" r="-1273" b="-503"/>
                </a:stretch>
              </a:blipFill>
            </p:spPr>
            <p:txBody>
              <a:bodyPr/>
              <a:lstStyle/>
              <a:p>
                <a:r>
                  <a:rPr lang="es-ES"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a:t>
            </a:fld>
            <a:endParaRPr lang="es-CO" dirty="0"/>
          </a:p>
        </p:txBody>
      </p:sp>
      <p:sp>
        <p:nvSpPr>
          <p:cNvPr id="4" name="CuadroTexto 3"/>
          <p:cNvSpPr txBox="1"/>
          <p:nvPr/>
        </p:nvSpPr>
        <p:spPr>
          <a:xfrm>
            <a:off x="348338" y="718756"/>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Escalas de temperatura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0" name="CuadroTexto 9"/>
          <p:cNvSpPr txBox="1"/>
          <p:nvPr/>
        </p:nvSpPr>
        <p:spPr>
          <a:xfrm>
            <a:off x="418992" y="1368134"/>
            <a:ext cx="6194322" cy="461665"/>
          </a:xfrm>
          <a:prstGeom prst="rect">
            <a:avLst/>
          </a:prstGeom>
          <a:noFill/>
        </p:spPr>
        <p:txBody>
          <a:bodyPr wrap="square">
            <a:spAutoFit/>
          </a:bodyPr>
          <a:lstStyle/>
          <a:p>
            <a:r>
              <a:rPr lang="es-CO" sz="2400"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Escala de temperatura Kelvin</a:t>
            </a:r>
          </a:p>
        </p:txBody>
      </p:sp>
      <p:sp>
        <p:nvSpPr>
          <p:cNvPr id="11" name="CuadroTexto 10"/>
          <p:cNvSpPr txBox="1"/>
          <p:nvPr/>
        </p:nvSpPr>
        <p:spPr>
          <a:xfrm>
            <a:off x="419100" y="1908810"/>
            <a:ext cx="4907280" cy="2306955"/>
          </a:xfrm>
          <a:prstGeom prst="rect">
            <a:avLst/>
          </a:prstGeom>
          <a:noFill/>
        </p:spPr>
        <p:txBody>
          <a:bodyPr wrap="square">
            <a:spAutoFit/>
          </a:bodyPr>
          <a:lstStyle/>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La temperatura de congelación del agua es de 273.15 K</a:t>
            </a:r>
          </a:p>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La temperatura de ebullición del agua es de 373.15 K</a:t>
            </a:r>
          </a:p>
          <a:p>
            <a:pPr marL="342900" indent="-342900" algn="just">
              <a:buFont typeface="Arial" panose="020B0604020202020204" pitchFamily="34" charset="0"/>
              <a:buChar char="•"/>
            </a:pPr>
            <a:r>
              <a:rPr lang="es-MX" sz="2400" dirty="0">
                <a:latin typeface="Arial" panose="020B0604020202020204" pitchFamily="34" charset="0"/>
                <a:cs typeface="Arial" panose="020B0604020202020204" pitchFamily="34" charset="0"/>
              </a:rPr>
              <a:t>Hay 100 grados entre la congelación y la ebullición</a:t>
            </a:r>
            <a:endParaRPr lang="es-CO"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CuadroTexto 11"/>
              <p:cNvSpPr txBox="1"/>
              <p:nvPr/>
            </p:nvSpPr>
            <p:spPr>
              <a:xfrm>
                <a:off x="6809010" y="1160817"/>
                <a:ext cx="365888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80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rPr>
                            <m:t>𝐾</m:t>
                          </m:r>
                        </m:sub>
                      </m:sSub>
                      <m:r>
                        <a:rPr lang="es-MX" sz="2800" b="0" i="1" smtClean="0">
                          <a:effectLst>
                            <a:outerShdw blurRad="38100" dist="38100" dir="2700000" algn="tl">
                              <a:srgbClr val="000000">
                                <a:alpha val="43137"/>
                              </a:srgbClr>
                            </a:outerShdw>
                          </a:effectLst>
                          <a:latin typeface="Cambria Math" panose="02040503050406030204" pitchFamily="18" charset="0"/>
                        </a:rPr>
                        <m:t>=</m:t>
                      </m:r>
                      <m:sSub>
                        <m:sSubPr>
                          <m:ctrlPr>
                            <a:rPr lang="es-MX" sz="2800" i="1">
                              <a:effectLst>
                                <a:outerShdw blurRad="38100" dist="38100" dir="2700000" algn="tl">
                                  <a:srgbClr val="000000">
                                    <a:alpha val="43137"/>
                                  </a:srgbClr>
                                </a:outerShdw>
                              </a:effectLst>
                              <a:latin typeface="Cambria Math" panose="02040503050406030204" pitchFamily="18" charset="0"/>
                            </a:rPr>
                          </m:ctrlPr>
                        </m:sSubPr>
                        <m:e>
                          <m:r>
                            <a:rPr lang="es-MX" sz="2800" i="1">
                              <a:effectLst>
                                <a:outerShdw blurRad="38100" dist="38100" dir="2700000" algn="tl">
                                  <a:srgbClr val="000000">
                                    <a:alpha val="43137"/>
                                  </a:srgbClr>
                                </a:outerShdw>
                              </a:effectLst>
                              <a:latin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rPr>
                            <m:t>𝐶</m:t>
                          </m:r>
                        </m:sub>
                      </m:sSub>
                      <m:r>
                        <a:rPr lang="es-MX" sz="2800" b="0" i="1" smtClean="0">
                          <a:effectLst>
                            <a:outerShdw blurRad="38100" dist="38100" dir="2700000" algn="tl">
                              <a:srgbClr val="000000">
                                <a:alpha val="43137"/>
                              </a:srgbClr>
                            </a:outerShdw>
                          </a:effectLst>
                          <a:latin typeface="Cambria Math" panose="02040503050406030204" pitchFamily="18" charset="0"/>
                        </a:rPr>
                        <m:t>+273.15     </m:t>
                      </m:r>
                      <m:r>
                        <a:rPr lang="es-MX" sz="2800" i="1">
                          <a:effectLst>
                            <a:outerShdw blurRad="38100" dist="38100" dir="2700000" algn="tl">
                              <a:srgbClr val="000000">
                                <a:alpha val="43137"/>
                              </a:srgbClr>
                            </a:outerShdw>
                          </a:effectLst>
                          <a:latin typeface="Cambria Math" panose="02040503050406030204" pitchFamily="18" charset="0"/>
                        </a:rPr>
                        <m:t>[</m:t>
                      </m:r>
                      <m:r>
                        <m:rPr>
                          <m:sty m:val="p"/>
                        </m:rPr>
                        <a:rPr lang="es-MX" sz="2800">
                          <a:effectLst>
                            <a:outerShdw blurRad="38100" dist="38100" dir="2700000" algn="tl">
                              <a:srgbClr val="000000">
                                <a:alpha val="43137"/>
                              </a:srgbClr>
                            </a:outerShdw>
                          </a:effectLst>
                          <a:latin typeface="Cambria Math" panose="02040503050406030204" pitchFamily="18" charset="0"/>
                        </a:rPr>
                        <m:t>K</m:t>
                      </m:r>
                      <m:r>
                        <a:rPr lang="es-MX" sz="2800" i="1">
                          <a:effectLst>
                            <a:outerShdw blurRad="38100" dist="38100" dir="2700000" algn="tl">
                              <a:srgbClr val="000000">
                                <a:alpha val="43137"/>
                              </a:srgbClr>
                            </a:outerShdw>
                          </a:effectLst>
                          <a:latin typeface="Cambria Math" panose="02040503050406030204" pitchFamily="18" charset="0"/>
                        </a:rPr>
                        <m:t>]</m:t>
                      </m:r>
                    </m:oMath>
                  </m:oMathPara>
                </a14:m>
                <a:endParaRPr lang="es-CO" sz="2800" dirty="0">
                  <a:effectLst>
                    <a:outerShdw blurRad="38100" dist="38100" dir="2700000" algn="tl">
                      <a:srgbClr val="000000">
                        <a:alpha val="43137"/>
                      </a:srgbClr>
                    </a:outerShdw>
                  </a:effectLst>
                </a:endParaRPr>
              </a:p>
            </p:txBody>
          </p:sp>
        </mc:Choice>
        <mc:Fallback xmlns="">
          <p:sp>
            <p:nvSpPr>
              <p:cNvPr id="12" name="CuadroTexto 11"/>
              <p:cNvSpPr txBox="1">
                <a:spLocks noRot="1" noChangeAspect="1" noMove="1" noResize="1" noEditPoints="1" noAdjustHandles="1" noChangeArrowheads="1" noChangeShapeType="1" noTextEdit="1"/>
              </p:cNvSpPr>
              <p:nvPr/>
            </p:nvSpPr>
            <p:spPr>
              <a:xfrm>
                <a:off x="6809010" y="1160817"/>
                <a:ext cx="3658886" cy="430887"/>
              </a:xfrm>
              <a:prstGeom prst="rect">
                <a:avLst/>
              </a:prstGeom>
              <a:blipFill rotWithShape="1">
                <a:blip r:embed="rId2"/>
                <a:stretch>
                  <a:fillRect l="-15" t="-9" r="-1373" b="91"/>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4" name="CuadroTexto 13"/>
              <p:cNvSpPr txBox="1"/>
              <p:nvPr/>
            </p:nvSpPr>
            <p:spPr>
              <a:xfrm>
                <a:off x="7070168" y="641167"/>
                <a:ext cx="2795381" cy="307777"/>
              </a:xfrm>
              <a:prstGeom prst="rect">
                <a:avLst/>
              </a:prstGeom>
              <a:noFill/>
            </p:spPr>
            <p:txBody>
              <a:bodyPr wrap="none" lIns="0" tIns="0" rIns="0" bIns="0" rtlCol="0">
                <a:spAutoFit/>
              </a:bodyPr>
              <a:lstStyle/>
              <a:p>
                <a14:m>
                  <m:oMath xmlns:m="http://schemas.openxmlformats.org/officeDocument/2006/math">
                    <m:sSub>
                      <m:sSubPr>
                        <m:ctrlPr>
                          <a:rPr lang="es-MX" sz="2000" b="0" i="1" smtClean="0">
                            <a:effectLst>
                              <a:outerShdw blurRad="38100" dist="38100" dir="2700000" algn="tl">
                                <a:srgbClr val="000000">
                                  <a:alpha val="43137"/>
                                </a:srgbClr>
                              </a:outerShdw>
                            </a:effectLst>
                            <a:latin typeface="Cambria Math" panose="02040503050406030204" pitchFamily="18" charset="0"/>
                          </a:rPr>
                        </m:ctrlPr>
                      </m:sSubPr>
                      <m:e>
                        <m:r>
                          <a:rPr lang="es-MX" sz="2000" b="0" i="1" smtClean="0">
                            <a:effectLst>
                              <a:outerShdw blurRad="38100" dist="38100" dir="2700000" algn="tl">
                                <a:srgbClr val="000000">
                                  <a:alpha val="43137"/>
                                </a:srgbClr>
                              </a:outerShdw>
                            </a:effectLst>
                            <a:latin typeface="Cambria Math" panose="02040503050406030204" pitchFamily="18" charset="0"/>
                          </a:rPr>
                          <m:t>𝑇</m:t>
                        </m:r>
                      </m:e>
                      <m:sub>
                        <m:r>
                          <a:rPr lang="es-MX" sz="2000" b="0" i="1" smtClean="0">
                            <a:effectLst>
                              <a:outerShdw blurRad="38100" dist="38100" dir="2700000" algn="tl">
                                <a:srgbClr val="000000">
                                  <a:alpha val="43137"/>
                                </a:srgbClr>
                              </a:outerShdw>
                            </a:effectLst>
                            <a:latin typeface="Cambria Math" panose="02040503050406030204" pitchFamily="18" charset="0"/>
                          </a:rPr>
                          <m:t>𝐾</m:t>
                        </m:r>
                      </m:sub>
                    </m:sSub>
                    <m:r>
                      <a:rPr lang="es-MX" sz="2000" b="0" i="1" smtClean="0">
                        <a:effectLst>
                          <a:outerShdw blurRad="38100" dist="38100" dir="2700000" algn="tl">
                            <a:srgbClr val="000000">
                              <a:alpha val="43137"/>
                            </a:srgbClr>
                          </a:outerShdw>
                        </a:effectLst>
                        <a:latin typeface="Cambria Math" panose="02040503050406030204" pitchFamily="18" charset="0"/>
                      </a:rPr>
                      <m:t>:</m:t>
                    </m:r>
                  </m:oMath>
                </a14:m>
                <a:r>
                  <a:rPr lang="es-CO" sz="2000" dirty="0">
                    <a:effectLst>
                      <a:outerShdw blurRad="38100" dist="38100" dir="2700000" algn="tl">
                        <a:srgbClr val="000000">
                          <a:alpha val="43137"/>
                        </a:srgbClr>
                      </a:outerShdw>
                    </a:effectLst>
                  </a:rPr>
                  <a:t>Temperatura en Kelvin </a:t>
                </a:r>
              </a:p>
            </p:txBody>
          </p:sp>
        </mc:Choice>
        <mc:Fallback xmlns="">
          <p:sp>
            <p:nvSpPr>
              <p:cNvPr id="14" name="CuadroTexto 13"/>
              <p:cNvSpPr txBox="1">
                <a:spLocks noRot="1" noChangeAspect="1" noMove="1" noResize="1" noEditPoints="1" noAdjustHandles="1" noChangeArrowheads="1" noChangeShapeType="1" noTextEdit="1"/>
              </p:cNvSpPr>
              <p:nvPr/>
            </p:nvSpPr>
            <p:spPr>
              <a:xfrm>
                <a:off x="7070168" y="641167"/>
                <a:ext cx="2795381" cy="307777"/>
              </a:xfrm>
              <a:prstGeom prst="rect">
                <a:avLst/>
              </a:prstGeom>
              <a:blipFill rotWithShape="1">
                <a:blip r:embed="rId3"/>
                <a:stretch>
                  <a:fillRect l="-3" t="-972" r="-1606" b="-1774"/>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992638" y="4658678"/>
                <a:ext cx="298928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80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sSub>
                        <m:sSubPr>
                          <m:ctrlPr>
                            <a:rPr lang="es-CO" sz="280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rPr>
                            <m:t>𝐾</m:t>
                          </m:r>
                        </m:sub>
                      </m:sSub>
                      <m:r>
                        <a:rPr lang="es-MX" sz="2800" b="0" i="1" smtClean="0">
                          <a:effectLst>
                            <a:outerShdw blurRad="38100" dist="38100" dir="2700000" algn="tl">
                              <a:srgbClr val="000000">
                                <a:alpha val="43137"/>
                              </a:srgbClr>
                            </a:outerShdw>
                          </a:effectLst>
                          <a:latin typeface="Cambria Math" panose="02040503050406030204" pitchFamily="18" charset="0"/>
                        </a:rPr>
                        <m:t>[</m:t>
                      </m:r>
                      <m:r>
                        <m:rPr>
                          <m:sty m:val="p"/>
                        </m:rPr>
                        <a:rPr lang="es-MX" sz="2800" b="0" i="0" smtClean="0">
                          <a:effectLst>
                            <a:outerShdw blurRad="38100" dist="38100" dir="2700000" algn="tl">
                              <a:srgbClr val="000000">
                                <a:alpha val="43137"/>
                              </a:srgbClr>
                            </a:outerShdw>
                          </a:effectLst>
                          <a:latin typeface="Cambria Math" panose="02040503050406030204" pitchFamily="18" charset="0"/>
                        </a:rPr>
                        <m:t>K</m:t>
                      </m:r>
                      <m:r>
                        <a:rPr lang="es-MX" sz="2800" b="0" i="1" smtClean="0">
                          <a:effectLst>
                            <a:outerShdw blurRad="38100" dist="38100" dir="2700000" algn="tl">
                              <a:srgbClr val="000000">
                                <a:alpha val="43137"/>
                              </a:srgbClr>
                            </a:outerShdw>
                          </a:effectLst>
                          <a:latin typeface="Cambria Math" panose="02040503050406030204" pitchFamily="18" charset="0"/>
                        </a:rPr>
                        <m:t>]=</m:t>
                      </m:r>
                      <m:sSub>
                        <m:sSubPr>
                          <m:ctrlPr>
                            <a:rPr lang="es-MX" sz="2800" i="1">
                              <a:effectLst>
                                <a:outerShdw blurRad="38100" dist="38100" dir="2700000" algn="tl">
                                  <a:srgbClr val="000000">
                                    <a:alpha val="43137"/>
                                  </a:srgbClr>
                                </a:outerShdw>
                              </a:effectLst>
                              <a:latin typeface="Cambria Math" panose="02040503050406030204" pitchFamily="18" charset="0"/>
                            </a:rPr>
                          </m:ctrlPr>
                        </m:sSubPr>
                        <m:e>
                          <m:r>
                            <a:rPr lang="es-CO" sz="2800"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i="1">
                              <a:effectLst>
                                <a:outerShdw blurRad="38100" dist="38100" dir="2700000" algn="tl">
                                  <a:srgbClr val="000000">
                                    <a:alpha val="43137"/>
                                  </a:srgbClr>
                                </a:outerShdw>
                              </a:effectLst>
                              <a:latin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rPr>
                            <m:t>𝐶</m:t>
                          </m:r>
                        </m:sub>
                      </m:sSub>
                      <m:r>
                        <a:rPr lang="es-MX" sz="2800" b="0" i="1" smtClean="0">
                          <a:effectLst>
                            <a:outerShdw blurRad="38100" dist="38100" dir="2700000" algn="tl">
                              <a:srgbClr val="000000">
                                <a:alpha val="43137"/>
                              </a:srgbClr>
                            </a:outerShdw>
                          </a:effectLst>
                          <a:latin typeface="Cambria Math" panose="02040503050406030204" pitchFamily="18" charset="0"/>
                        </a:rPr>
                        <m:t>  [</m:t>
                      </m:r>
                      <m:r>
                        <m:rPr>
                          <m:sty m:val="p"/>
                        </m:rPr>
                        <a:rPr lang="es-MX" sz="2800" b="0" i="0" smtClean="0">
                          <a:effectLst>
                            <a:outerShdw blurRad="38100" dist="38100" dir="2700000" algn="tl">
                              <a:srgbClr val="000000">
                                <a:alpha val="43137"/>
                              </a:srgbClr>
                            </a:outerShdw>
                          </a:effectLst>
                          <a:latin typeface="Cambria Math" panose="02040503050406030204" pitchFamily="18" charset="0"/>
                        </a:rPr>
                        <m:t>C</m:t>
                      </m:r>
                      <m:r>
                        <a:rPr lang="es-MX" sz="2800" b="0" i="1" smtClean="0">
                          <a:effectLst>
                            <a:outerShdw blurRad="38100" dist="38100" dir="2700000" algn="tl">
                              <a:srgbClr val="000000">
                                <a:alpha val="43137"/>
                              </a:srgbClr>
                            </a:outerShdw>
                          </a:effectLst>
                          <a:latin typeface="Cambria Math" panose="02040503050406030204" pitchFamily="18" charset="0"/>
                        </a:rPr>
                        <m:t>°]</m:t>
                      </m:r>
                    </m:oMath>
                  </m:oMathPara>
                </a14:m>
                <a:endParaRPr lang="es-CO" sz="2800" dirty="0">
                  <a:effectLst>
                    <a:outerShdw blurRad="38100" dist="38100" dir="2700000" algn="tl">
                      <a:srgbClr val="000000">
                        <a:alpha val="43137"/>
                      </a:srgbClr>
                    </a:outerShdw>
                  </a:effectLst>
                </a:endParaRPr>
              </a:p>
            </p:txBody>
          </p:sp>
        </mc:Choice>
        <mc:Fallback xmlns="">
          <p:sp>
            <p:nvSpPr>
              <p:cNvPr id="5" name="CuadroTexto 4"/>
              <p:cNvSpPr txBox="1">
                <a:spLocks noRot="1" noChangeAspect="1" noMove="1" noResize="1" noEditPoints="1" noAdjustHandles="1" noChangeArrowheads="1" noChangeShapeType="1" noTextEdit="1"/>
              </p:cNvSpPr>
              <p:nvPr/>
            </p:nvSpPr>
            <p:spPr>
              <a:xfrm>
                <a:off x="992638" y="4658678"/>
                <a:ext cx="2989280" cy="430887"/>
              </a:xfrm>
              <a:prstGeom prst="rect">
                <a:avLst/>
              </a:prstGeom>
              <a:blipFill rotWithShape="1">
                <a:blip r:embed="rId4"/>
                <a:stretch>
                  <a:fillRect l="-4" t="-74" r="-1004" b="9"/>
                </a:stretch>
              </a:blipFill>
            </p:spPr>
            <p:txBody>
              <a:bodyPr/>
              <a:lstStyle/>
              <a:p>
                <a:r>
                  <a:rPr lang="es-ES" altLang="en-US">
                    <a:noFill/>
                  </a:rPr>
                  <a:t> </a:t>
                </a:r>
              </a:p>
            </p:txBody>
          </p:sp>
        </mc:Fallback>
      </mc:AlternateContent>
      <p:sp>
        <p:nvSpPr>
          <p:cNvPr id="6" name="Rectángulo 5"/>
          <p:cNvSpPr>
            <a:spLocks noRot="1" noChangeAspect="1" noMove="1" noResize="1" noEditPoints="1" noAdjustHandles="1" noChangeArrowheads="1" noChangeShapeType="1" noTextEdit="1"/>
          </p:cNvSpPr>
          <p:nvPr/>
        </p:nvSpPr>
        <p:spPr>
          <a:xfrm>
            <a:off x="6809105" y="1719580"/>
            <a:ext cx="3921760" cy="549275"/>
          </a:xfrm>
          <a:prstGeom prst="rect">
            <a:avLst/>
          </a:prstGeom>
          <a:blipFill rotWithShape="0">
            <a:blip r:embed="rId5"/>
            <a:stretch>
              <a:fillRect r="-1109" b="-23684"/>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s-CO" sz="1800" b="0" i="0" u="none" strike="noStrike" kern="1200" cap="none" spc="0" normalizeH="0" baseline="0" noProof="0">
                <a:ln>
                  <a:noFill/>
                </a:ln>
                <a:noFill/>
                <a:effectLst/>
                <a:uLnTx/>
                <a:uFillTx/>
                <a:latin typeface="Calibri" panose="020F0502020204030204" charset="0"/>
                <a:ea typeface="+mn-ea"/>
                <a:cs typeface="+mn-cs"/>
              </a:rPr>
              <a:t> </a:t>
            </a:r>
          </a:p>
        </p:txBody>
      </p:sp>
      <p:pic>
        <p:nvPicPr>
          <p:cNvPr id="41993" name="Picture 2" descr="Unidades de temperatura y sus conversiones"/>
          <p:cNvPicPr>
            <a:picLocks noChangeAspect="1"/>
          </p:cNvPicPr>
          <p:nvPr/>
        </p:nvPicPr>
        <p:blipFill>
          <a:blip r:embed="rId6"/>
          <a:srcRect l="19997" r="32324"/>
          <a:stretch>
            <a:fillRect/>
          </a:stretch>
        </p:blipFill>
        <p:spPr>
          <a:xfrm>
            <a:off x="5626735" y="3039428"/>
            <a:ext cx="6156325" cy="323850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5</a:t>
            </a:fld>
            <a:endParaRPr lang="es-CO" dirty="0"/>
          </a:p>
        </p:txBody>
      </p:sp>
      <p:sp>
        <p:nvSpPr>
          <p:cNvPr id="4" name="CuadroTexto 3"/>
          <p:cNvSpPr txBox="1"/>
          <p:nvPr/>
        </p:nvSpPr>
        <p:spPr>
          <a:xfrm>
            <a:off x="348338" y="718756"/>
            <a:ext cx="7024919" cy="58356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a:t>
            </a:r>
            <a:r>
              <a:rPr lang="es-CO" altLang="es-MX" sz="3200" b="1" dirty="0" err="1"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jemplo</a:t>
            </a:r>
            <a:r>
              <a:rPr lang="es-CO" altLang="es-MX" sz="32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1:</a:t>
            </a:r>
            <a:endParaRPr lang="es-CO" alt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Cuadro de texto 4"/>
          <p:cNvSpPr txBox="1"/>
          <p:nvPr/>
        </p:nvSpPr>
        <p:spPr>
          <a:xfrm>
            <a:off x="736600" y="1454150"/>
            <a:ext cx="6096000" cy="460375"/>
          </a:xfrm>
          <a:prstGeom prst="rect">
            <a:avLst/>
          </a:prstGeom>
          <a:noFill/>
        </p:spPr>
        <p:txBody>
          <a:bodyPr wrap="square" rtlCol="0" anchor="t">
            <a:spAutoFit/>
          </a:bodyPr>
          <a:lstStyle/>
          <a:p>
            <a:pPr marL="0" lvl="0" indent="0">
              <a:lnSpc>
                <a:spcPct val="100000"/>
              </a:lnSpc>
              <a:spcBef>
                <a:spcPct val="0"/>
              </a:spcBef>
              <a:buFontTx/>
              <a:buNone/>
            </a:pPr>
            <a:r>
              <a:rPr lang="es-CO" altLang="es-CO" sz="2400" dirty="0">
                <a:sym typeface="+mn-ea"/>
              </a:rPr>
              <a:t>Realizar las siguientes conversiones</a:t>
            </a:r>
            <a:r>
              <a:rPr lang="es-CO" altLang="es-CO" dirty="0">
                <a:sym typeface="+mn-ea"/>
              </a:rPr>
              <a:t>:</a:t>
            </a:r>
          </a:p>
        </p:txBody>
      </p:sp>
      <p:sp>
        <p:nvSpPr>
          <p:cNvPr id="7" name="CuadroTexto 6"/>
          <p:cNvSpPr txBox="1">
            <a:spLocks noRot="1" noChangeAspect="1" noMove="1" noResize="1" noEditPoints="1" noAdjustHandles="1" noChangeArrowheads="1" noChangeShapeType="1" noTextEdit="1"/>
          </p:cNvSpPr>
          <p:nvPr/>
        </p:nvSpPr>
        <p:spPr>
          <a:xfrm>
            <a:off x="1527174" y="1903452"/>
            <a:ext cx="1292790" cy="369332"/>
          </a:xfrm>
          <a:prstGeom prst="rect">
            <a:avLst/>
          </a:prstGeom>
          <a:blipFill rotWithShape="0">
            <a:blip r:embed="rId2"/>
            <a:stretch>
              <a:fillRect l="-5189" r="-4245" b="-6557"/>
            </a:stretch>
          </a:blipFill>
        </p:spPr>
        <p:txBody>
          <a:bodyPr/>
          <a:lstStyle/>
          <a:p>
            <a:pPr marR="0" defTabSz="914400">
              <a:buClrTx/>
              <a:buSzTx/>
              <a:buFontTx/>
              <a:buNone/>
              <a:defRPr/>
            </a:pPr>
            <a:r>
              <a:rPr kumimoji="0" lang="es-CO" kern="1200" cap="none" spc="0" normalizeH="0" baseline="0" noProof="0">
                <a:noFill/>
                <a:latin typeface="Calibri" panose="020F0502020204030204" charset="0"/>
                <a:ea typeface="+mn-ea"/>
                <a:cs typeface="+mn-cs"/>
              </a:rPr>
              <a:t> </a:t>
            </a:r>
          </a:p>
        </p:txBody>
      </p:sp>
      <p:sp>
        <p:nvSpPr>
          <p:cNvPr id="8" name="CuadroTexto 7"/>
          <p:cNvSpPr txBox="1">
            <a:spLocks noRot="1" noChangeAspect="1" noMove="1" noResize="1" noEditPoints="1" noAdjustHandles="1" noChangeArrowheads="1" noChangeShapeType="1" noTextEdit="1"/>
          </p:cNvSpPr>
          <p:nvPr/>
        </p:nvSpPr>
        <p:spPr>
          <a:xfrm>
            <a:off x="1527174" y="2535582"/>
            <a:ext cx="1442190" cy="369332"/>
          </a:xfrm>
          <a:prstGeom prst="rect">
            <a:avLst/>
          </a:prstGeom>
          <a:blipFill rotWithShape="0">
            <a:blip r:embed="rId3"/>
            <a:stretch>
              <a:fillRect l="-424" r="-4661" b="-6557"/>
            </a:stretch>
          </a:blipFill>
        </p:spPr>
        <p:txBody>
          <a:bodyPr/>
          <a:lstStyle/>
          <a:p>
            <a:pPr marR="0" defTabSz="914400">
              <a:buClrTx/>
              <a:buSzTx/>
              <a:buFontTx/>
              <a:buNone/>
              <a:defRPr/>
            </a:pPr>
            <a:r>
              <a:rPr kumimoji="0" lang="es-CO" kern="1200" cap="none" spc="0" normalizeH="0" baseline="0" noProof="0">
                <a:noFill/>
                <a:latin typeface="Calibri" panose="020F0502020204030204" charset="0"/>
                <a:ea typeface="+mn-ea"/>
                <a:cs typeface="+mn-cs"/>
              </a:rPr>
              <a:t> </a:t>
            </a:r>
          </a:p>
        </p:txBody>
      </p:sp>
      <p:sp>
        <p:nvSpPr>
          <p:cNvPr id="9" name="CuadroTexto 8"/>
          <p:cNvSpPr txBox="1">
            <a:spLocks noRot="1" noChangeAspect="1" noMove="1" noResize="1" noEditPoints="1" noAdjustHandles="1" noChangeArrowheads="1" noChangeShapeType="1" noTextEdit="1"/>
          </p:cNvSpPr>
          <p:nvPr/>
        </p:nvSpPr>
        <p:spPr>
          <a:xfrm>
            <a:off x="1527174" y="3167712"/>
            <a:ext cx="1462708" cy="369332"/>
          </a:xfrm>
          <a:prstGeom prst="rect">
            <a:avLst/>
          </a:prstGeom>
          <a:blipFill rotWithShape="0">
            <a:blip r:embed="rId4"/>
            <a:stretch>
              <a:fillRect l="-4603" r="-4603" b="-6667"/>
            </a:stretch>
          </a:blipFill>
        </p:spPr>
        <p:txBody>
          <a:bodyPr/>
          <a:lstStyle/>
          <a:p>
            <a:pPr marR="0" defTabSz="914400">
              <a:buClrTx/>
              <a:buSzTx/>
              <a:buFontTx/>
              <a:buNone/>
              <a:defRPr/>
            </a:pPr>
            <a:r>
              <a:rPr kumimoji="0" lang="es-CO" kern="1200" cap="none" spc="0" normalizeH="0" baseline="0" noProof="0">
                <a:noFill/>
                <a:latin typeface="Calibri" panose="020F0502020204030204" charset="0"/>
                <a:ea typeface="+mn-ea"/>
                <a:cs typeface="+mn-cs"/>
              </a:rPr>
              <a:t> </a:t>
            </a:r>
          </a:p>
        </p:txBody>
      </p:sp>
      <p:sp>
        <p:nvSpPr>
          <p:cNvPr id="10" name="CuadroTexto 9"/>
          <p:cNvSpPr txBox="1">
            <a:spLocks noRot="1" noChangeAspect="1" noMove="1" noResize="1" noEditPoints="1" noAdjustHandles="1" noChangeArrowheads="1" noChangeShapeType="1" noTextEdit="1"/>
          </p:cNvSpPr>
          <p:nvPr/>
        </p:nvSpPr>
        <p:spPr>
          <a:xfrm>
            <a:off x="1527174" y="3783265"/>
            <a:ext cx="1339596" cy="369332"/>
          </a:xfrm>
          <a:prstGeom prst="rect">
            <a:avLst/>
          </a:prstGeom>
          <a:blipFill rotWithShape="0">
            <a:blip r:embed="rId5"/>
            <a:stretch>
              <a:fillRect l="-5479" r="-5023" b="-8333"/>
            </a:stretch>
          </a:blipFill>
        </p:spPr>
        <p:txBody>
          <a:bodyPr/>
          <a:lstStyle/>
          <a:p>
            <a:pPr marR="0" defTabSz="914400">
              <a:buClrTx/>
              <a:buSzTx/>
              <a:buFontTx/>
              <a:buNone/>
              <a:defRPr/>
            </a:pPr>
            <a:r>
              <a:rPr kumimoji="0" lang="es-CO" kern="1200" cap="none" spc="0" normalizeH="0" baseline="0" noProof="0">
                <a:noFill/>
                <a:latin typeface="Calibri" panose="020F0502020204030204" charset="0"/>
                <a:ea typeface="+mn-ea"/>
                <a:cs typeface="+mn-cs"/>
              </a:rPr>
              <a:t> </a:t>
            </a:r>
          </a:p>
        </p:txBody>
      </p:sp>
      <p:sp>
        <p:nvSpPr>
          <p:cNvPr id="11" name="CuadroTexto 10"/>
          <p:cNvSpPr txBox="1">
            <a:spLocks noRot="1" noChangeAspect="1" noMove="1" noResize="1" noEditPoints="1" noAdjustHandles="1" noChangeArrowheads="1" noChangeShapeType="1" noTextEdit="1"/>
          </p:cNvSpPr>
          <p:nvPr/>
        </p:nvSpPr>
        <p:spPr>
          <a:xfrm>
            <a:off x="1535188" y="4415395"/>
            <a:ext cx="1454694" cy="369332"/>
          </a:xfrm>
          <a:prstGeom prst="rect">
            <a:avLst/>
          </a:prstGeom>
          <a:blipFill rotWithShape="0">
            <a:blip r:embed="rId6"/>
            <a:stretch>
              <a:fillRect l="-5042" r="-4622" b="-8197"/>
            </a:stretch>
          </a:blipFill>
        </p:spPr>
        <p:txBody>
          <a:bodyPr/>
          <a:lstStyle/>
          <a:p>
            <a:pPr marR="0" defTabSz="914400">
              <a:buClrTx/>
              <a:buSzTx/>
              <a:buFontTx/>
              <a:buNone/>
              <a:defRPr/>
            </a:pPr>
            <a:r>
              <a:rPr kumimoji="0" lang="es-CO" kern="1200" cap="none" spc="0" normalizeH="0" baseline="0" noProof="0">
                <a:noFill/>
                <a:latin typeface="Calibri" panose="020F0502020204030204" charset="0"/>
                <a:ea typeface="+mn-ea"/>
                <a:cs typeface="+mn-cs"/>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6</a:t>
            </a:fld>
            <a:endParaRPr lang="es-CO" dirty="0"/>
          </a:p>
        </p:txBody>
      </p:sp>
      <p:sp>
        <p:nvSpPr>
          <p:cNvPr id="4" name="CuadroTexto 3"/>
          <p:cNvSpPr txBox="1"/>
          <p:nvPr/>
        </p:nvSpPr>
        <p:spPr>
          <a:xfrm>
            <a:off x="348338" y="718756"/>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Dilatación térmica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CuadroTexto 5"/>
          <p:cNvSpPr txBox="1"/>
          <p:nvPr/>
        </p:nvSpPr>
        <p:spPr>
          <a:xfrm>
            <a:off x="348338" y="1303531"/>
            <a:ext cx="11317636" cy="646331"/>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Casi todos los materiales se expanden al aumentar su temperatura. </a:t>
            </a:r>
          </a:p>
          <a:p>
            <a:pPr algn="just"/>
            <a:endParaRPr lang="es-MX" sz="1200" dirty="0">
              <a:latin typeface="Arial" panose="020B0604020202020204" pitchFamily="34" charset="0"/>
              <a:cs typeface="Arial" panose="020B0604020202020204" pitchFamily="34" charset="0"/>
            </a:endParaRPr>
          </a:p>
        </p:txBody>
      </p:sp>
      <p:pic>
        <p:nvPicPr>
          <p:cNvPr id="8" name="Imagen 7"/>
          <p:cNvPicPr>
            <a:picLocks noChangeAspect="1"/>
          </p:cNvPicPr>
          <p:nvPr/>
        </p:nvPicPr>
        <p:blipFill>
          <a:blip r:embed="rId2"/>
          <a:srcRect t="-54"/>
          <a:stretch>
            <a:fillRect/>
          </a:stretch>
        </p:blipFill>
        <p:spPr>
          <a:xfrm>
            <a:off x="1075258" y="2688525"/>
            <a:ext cx="2963342" cy="3847163"/>
          </a:xfrm>
          <a:prstGeom prst="rect">
            <a:avLst/>
          </a:prstGeom>
        </p:spPr>
      </p:pic>
      <p:pic>
        <p:nvPicPr>
          <p:cNvPr id="12" name="Imagen 11"/>
          <p:cNvPicPr>
            <a:picLocks noChangeAspect="1"/>
          </p:cNvPicPr>
          <p:nvPr/>
        </p:nvPicPr>
        <p:blipFill>
          <a:blip r:embed="rId3"/>
          <a:srcRect b="63183"/>
          <a:stretch>
            <a:fillRect/>
          </a:stretch>
        </p:blipFill>
        <p:spPr>
          <a:xfrm>
            <a:off x="5385680" y="3441325"/>
            <a:ext cx="3575161" cy="1737894"/>
          </a:xfrm>
          <a:prstGeom prst="rect">
            <a:avLst/>
          </a:prstGeom>
        </p:spPr>
      </p:pic>
      <p:pic>
        <p:nvPicPr>
          <p:cNvPr id="13" name="Imagen 12"/>
          <p:cNvPicPr>
            <a:picLocks noChangeAspect="1"/>
          </p:cNvPicPr>
          <p:nvPr/>
        </p:nvPicPr>
        <p:blipFill>
          <a:blip r:embed="rId3"/>
          <a:srcRect t="42601"/>
          <a:stretch>
            <a:fillRect/>
          </a:stretch>
        </p:blipFill>
        <p:spPr>
          <a:xfrm>
            <a:off x="8576250" y="3441325"/>
            <a:ext cx="3089724" cy="2341564"/>
          </a:xfrm>
          <a:prstGeom prst="rect">
            <a:avLst/>
          </a:prstGeom>
        </p:spPr>
      </p:pic>
      <p:sp>
        <p:nvSpPr>
          <p:cNvPr id="15" name="CuadroTexto 14"/>
          <p:cNvSpPr txBox="1"/>
          <p:nvPr/>
        </p:nvSpPr>
        <p:spPr>
          <a:xfrm>
            <a:off x="348338" y="1806216"/>
            <a:ext cx="4533378" cy="923330"/>
          </a:xfrm>
          <a:prstGeom prst="rect">
            <a:avLst/>
          </a:prstGeom>
          <a:noFill/>
        </p:spPr>
        <p:txBody>
          <a:bodyPr wrap="square">
            <a:spAutoFit/>
          </a:bodyPr>
          <a:lstStyle/>
          <a:p>
            <a:pPr algn="just"/>
            <a:r>
              <a:rPr lang="es-MX" sz="1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El aumento en la temperatura hace que el líquido se expanda en los termómetros de líquido en un tubo.</a:t>
            </a:r>
            <a:endParaRPr lang="es-CO" sz="1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6" name="CuadroTexto 15"/>
          <p:cNvSpPr txBox="1"/>
          <p:nvPr/>
        </p:nvSpPr>
        <p:spPr>
          <a:xfrm>
            <a:off x="5385680" y="1830644"/>
            <a:ext cx="6280294" cy="646331"/>
          </a:xfrm>
          <a:prstGeom prst="rect">
            <a:avLst/>
          </a:prstGeom>
          <a:noFill/>
        </p:spPr>
        <p:txBody>
          <a:bodyPr wrap="square">
            <a:spAutoFit/>
          </a:bodyPr>
          <a:lstStyle/>
          <a:p>
            <a:pPr algn="just"/>
            <a:r>
              <a:rPr lang="es-MX" sz="1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El aumento en la temperatura dilata (dobla) las tiras bimetálicas en un tubo.</a:t>
            </a:r>
            <a:endParaRPr lang="es-CO" sz="1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cxnSp>
        <p:nvCxnSpPr>
          <p:cNvPr id="17" name="Conector recto 16"/>
          <p:cNvCxnSpPr/>
          <p:nvPr/>
        </p:nvCxnSpPr>
        <p:spPr>
          <a:xfrm>
            <a:off x="5165304" y="1820283"/>
            <a:ext cx="0" cy="458239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7</a:t>
            </a:fld>
            <a:endParaRPr lang="es-CO" dirty="0"/>
          </a:p>
        </p:txBody>
      </p:sp>
      <p:sp>
        <p:nvSpPr>
          <p:cNvPr id="4" name="CuadroTexto 3"/>
          <p:cNvSpPr txBox="1"/>
          <p:nvPr/>
        </p:nvSpPr>
        <p:spPr>
          <a:xfrm>
            <a:off x="348338" y="718756"/>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Expansión lineal</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CuadroTexto 6"/>
              <p:cNvSpPr txBox="1"/>
              <p:nvPr/>
            </p:nvSpPr>
            <p:spPr>
              <a:xfrm>
                <a:off x="7453418" y="2119695"/>
                <a:ext cx="19782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80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𝐿</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𝛼</m:t>
                      </m:r>
                      <m:sSub>
                        <m:sSubPr>
                          <m:ctrlP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𝐿</m:t>
                          </m:r>
                        </m:e>
                        <m:sub>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0</m:t>
                          </m:r>
                        </m:sub>
                      </m:sSub>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𝑇</m:t>
                      </m:r>
                    </m:oMath>
                  </m:oMathPara>
                </a14:m>
                <a:endParaRPr lang="es-CO" sz="2800" dirty="0">
                  <a:effectLst>
                    <a:outerShdw blurRad="38100" dist="38100" dir="2700000" algn="tl">
                      <a:srgbClr val="000000">
                        <a:alpha val="43137"/>
                      </a:srgbClr>
                    </a:outerShdw>
                  </a:effectLst>
                </a:endParaRPr>
              </a:p>
            </p:txBody>
          </p:sp>
        </mc:Choice>
        <mc:Fallback xmlns="">
          <p:sp>
            <p:nvSpPr>
              <p:cNvPr id="7" name="CuadroTexto 6"/>
              <p:cNvSpPr txBox="1">
                <a:spLocks noRot="1" noChangeAspect="1" noMove="1" noResize="1" noEditPoints="1" noAdjustHandles="1" noChangeArrowheads="1" noChangeShapeType="1" noTextEdit="1"/>
              </p:cNvSpPr>
              <p:nvPr/>
            </p:nvSpPr>
            <p:spPr>
              <a:xfrm>
                <a:off x="7453418" y="2119695"/>
                <a:ext cx="1978234" cy="430887"/>
              </a:xfrm>
              <a:prstGeom prst="rect">
                <a:avLst/>
              </a:prstGeom>
              <a:blipFill rotWithShape="1">
                <a:blip r:embed="rId2"/>
                <a:stretch>
                  <a:fillRect l="-21" t="-15" r="-899" b="98"/>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5178800" y="1459676"/>
                <a:ext cx="6664862" cy="461665"/>
              </a:xfrm>
              <a:prstGeom prst="rect">
                <a:avLst/>
              </a:prstGeom>
              <a:noFill/>
            </p:spPr>
            <p:txBody>
              <a:bodyPr wrap="square">
                <a:spAutoFit/>
              </a:bodyPr>
              <a:lstStyle/>
              <a:p>
                <a:pPr algn="just"/>
                <a14:m>
                  <m:oMath xmlns:m="http://schemas.openxmlformats.org/officeDocument/2006/math">
                    <m:r>
                      <a:rPr lang="es-MX" sz="2400" i="1" smtClean="0">
                        <a:latin typeface="Cambria Math" panose="02040503050406030204" pitchFamily="18" charset="0"/>
                        <a:ea typeface="Cambria Math" panose="02040503050406030204" pitchFamily="18" charset="0"/>
                        <a:cs typeface="Arial" panose="020B0604020202020204" pitchFamily="34" charset="0"/>
                      </a:rPr>
                      <m:t>𝛼</m:t>
                    </m:r>
                  </m:oMath>
                </a14:m>
                <a:r>
                  <a:rPr lang="es-MX" sz="2400" dirty="0">
                    <a:latin typeface="Arial" panose="020B0604020202020204" pitchFamily="34" charset="0"/>
                    <a:cs typeface="Arial" panose="020B0604020202020204" pitchFamily="34" charset="0"/>
                  </a:rPr>
                  <a:t> se denomina coeficiente de expansión lineal. </a:t>
                </a:r>
              </a:p>
            </p:txBody>
          </p:sp>
        </mc:Choice>
        <mc:Fallback xmlns="">
          <p:sp>
            <p:nvSpPr>
              <p:cNvPr id="8" name="CuadroTexto 7"/>
              <p:cNvSpPr txBox="1">
                <a:spLocks noRot="1" noChangeAspect="1" noMove="1" noResize="1" noEditPoints="1" noAdjustHandles="1" noChangeArrowheads="1" noChangeShapeType="1" noTextEdit="1"/>
              </p:cNvSpPr>
              <p:nvPr/>
            </p:nvSpPr>
            <p:spPr>
              <a:xfrm>
                <a:off x="5178800" y="1459676"/>
                <a:ext cx="6664862" cy="461665"/>
              </a:xfrm>
              <a:prstGeom prst="rect">
                <a:avLst/>
              </a:prstGeom>
              <a:blipFill rotWithShape="1">
                <a:blip r:embed="rId3"/>
                <a:stretch>
                  <a:fillRect l="-6" t="-97" r="4" b="101"/>
                </a:stretch>
              </a:blipFill>
            </p:spPr>
            <p:txBody>
              <a:bodyPr/>
              <a:lstStyle/>
              <a:p>
                <a:r>
                  <a:rPr lang="es-ES" altLang="en-US">
                    <a:noFill/>
                  </a:rPr>
                  <a:t> </a:t>
                </a:r>
              </a:p>
            </p:txBody>
          </p:sp>
        </mc:Fallback>
      </mc:AlternateContent>
      <p:pic>
        <p:nvPicPr>
          <p:cNvPr id="10" name="Imagen 9"/>
          <p:cNvPicPr>
            <a:picLocks noChangeAspect="1"/>
          </p:cNvPicPr>
          <p:nvPr/>
        </p:nvPicPr>
        <p:blipFill>
          <a:blip r:embed="rId4"/>
          <a:stretch>
            <a:fillRect/>
          </a:stretch>
        </p:blipFill>
        <p:spPr>
          <a:xfrm>
            <a:off x="348338" y="1381674"/>
            <a:ext cx="4376062" cy="5065982"/>
          </a:xfrm>
          <a:prstGeom prst="rect">
            <a:avLst/>
          </a:prstGeom>
        </p:spPr>
      </p:pic>
      <p:cxnSp>
        <p:nvCxnSpPr>
          <p:cNvPr id="11" name="Conector recto 10"/>
          <p:cNvCxnSpPr/>
          <p:nvPr/>
        </p:nvCxnSpPr>
        <p:spPr>
          <a:xfrm>
            <a:off x="5003076" y="1473179"/>
            <a:ext cx="0" cy="5040638"/>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Imagen 12"/>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5688876" y="2979174"/>
            <a:ext cx="5507319" cy="33739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8</a:t>
            </a:fld>
            <a:endParaRPr lang="es-CO" dirty="0"/>
          </a:p>
        </p:txBody>
      </p:sp>
      <p:sp>
        <p:nvSpPr>
          <p:cNvPr id="4" name="CuadroTexto 3"/>
          <p:cNvSpPr txBox="1"/>
          <p:nvPr/>
        </p:nvSpPr>
        <p:spPr>
          <a:xfrm>
            <a:off x="358595" y="928095"/>
            <a:ext cx="11174644" cy="1200329"/>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Un evaluador usa una cinta métrica de acero que tiene exactamente 50 m de longitud a una temperatura de 20 °C. ¿Qué longitud tiene en un día caluroso de verano en el que la temperatura es de 35 °C?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9</a:t>
            </a:fld>
            <a:endParaRPr lang="es-CO" dirty="0"/>
          </a:p>
        </p:txBody>
      </p:sp>
      <p:sp>
        <p:nvSpPr>
          <p:cNvPr id="4" name="CuadroTexto 3"/>
          <p:cNvSpPr txBox="1"/>
          <p:nvPr/>
        </p:nvSpPr>
        <p:spPr>
          <a:xfrm>
            <a:off x="358595" y="928095"/>
            <a:ext cx="11277882" cy="1938992"/>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3.</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Un segmento de vía de ferrocarril de acero tiene una longitud de 30 m cuando la temperatura es de 0.0°C.</a:t>
            </a:r>
          </a:p>
          <a:p>
            <a:pPr algn="just"/>
            <a:endParaRPr lang="es-MX" sz="2400" dirty="0">
              <a:latin typeface="Arial" panose="020B0604020202020204" pitchFamily="34" charset="0"/>
              <a:cs typeface="Arial" panose="020B0604020202020204" pitchFamily="34" charset="0"/>
            </a:endParaRPr>
          </a:p>
          <a:p>
            <a:pPr marL="457200" indent="-457200" algn="just">
              <a:buAutoNum type="alphaLcParenR"/>
            </a:pPr>
            <a:r>
              <a:rPr lang="es-MX" sz="2400" dirty="0">
                <a:latin typeface="Arial" panose="020B0604020202020204" pitchFamily="34" charset="0"/>
                <a:cs typeface="Arial" panose="020B0604020202020204" pitchFamily="34" charset="0"/>
              </a:rPr>
              <a:t>¿Cuál es su longitud cuando la temperatura es de 40.0°C?</a:t>
            </a:r>
          </a:p>
          <a:p>
            <a:pPr marL="457200" indent="-457200" algn="just">
              <a:buAutoNum type="alphaLcParenR"/>
            </a:pPr>
            <a:endParaRPr lang="es-MX" sz="24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10</a:t>
            </a:fld>
            <a:endParaRPr lang="es-CO" dirty="0"/>
          </a:p>
        </p:txBody>
      </p:sp>
      <p:sp>
        <p:nvSpPr>
          <p:cNvPr id="4" name="CuadroTexto 3"/>
          <p:cNvSpPr txBox="1"/>
          <p:nvPr/>
        </p:nvSpPr>
        <p:spPr>
          <a:xfrm>
            <a:off x="348338" y="718756"/>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Expansión Volumétrica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CuadroTexto 7"/>
              <p:cNvSpPr txBox="1"/>
              <p:nvPr/>
            </p:nvSpPr>
            <p:spPr>
              <a:xfrm>
                <a:off x="5178800" y="1459676"/>
                <a:ext cx="6664862" cy="830997"/>
              </a:xfrm>
              <a:prstGeom prst="rect">
                <a:avLst/>
              </a:prstGeom>
              <a:noFill/>
            </p:spPr>
            <p:txBody>
              <a:bodyPr wrap="square">
                <a:spAutoFit/>
              </a:bodyPr>
              <a:lstStyle/>
              <a:p>
                <a:pPr algn="just"/>
                <a:r>
                  <a:rPr lang="es-MX" sz="2400" dirty="0">
                    <a:ea typeface="Cambria Math" panose="02040503050406030204" pitchFamily="18" charset="0"/>
                    <a:cs typeface="Arial" panose="020B0604020202020204" pitchFamily="34" charset="0"/>
                  </a:rPr>
                  <a:t>Con</a:t>
                </a:r>
                <a14:m>
                  <m:oMath xmlns:m="http://schemas.openxmlformats.org/officeDocument/2006/math">
                    <m:r>
                      <a:rPr lang="el-GR" sz="2400" i="1" smtClean="0">
                        <a:latin typeface="Cambria Math" panose="02040503050406030204" pitchFamily="18" charset="0"/>
                        <a:ea typeface="Cambria Math" panose="02040503050406030204" pitchFamily="18" charset="0"/>
                        <a:cs typeface="Arial" panose="020B0604020202020204" pitchFamily="34" charset="0"/>
                      </a:rPr>
                      <m:t>𝛽</m:t>
                    </m:r>
                  </m:oMath>
                </a14:m>
                <a:r>
                  <a:rPr lang="es-MX" sz="2400" dirty="0">
                    <a:latin typeface="Arial" panose="020B0604020202020204" pitchFamily="34" charset="0"/>
                    <a:cs typeface="Arial" panose="020B0604020202020204" pitchFamily="34" charset="0"/>
                  </a:rPr>
                  <a:t>denominado coeficiente de expansión volumétrica. </a:t>
                </a:r>
              </a:p>
            </p:txBody>
          </p:sp>
        </mc:Choice>
        <mc:Fallback xmlns="">
          <p:sp>
            <p:nvSpPr>
              <p:cNvPr id="8" name="CuadroTexto 7"/>
              <p:cNvSpPr txBox="1">
                <a:spLocks noRot="1" noChangeAspect="1" noMove="1" noResize="1" noEditPoints="1" noAdjustHandles="1" noChangeArrowheads="1" noChangeShapeType="1" noTextEdit="1"/>
              </p:cNvSpPr>
              <p:nvPr/>
            </p:nvSpPr>
            <p:spPr>
              <a:xfrm>
                <a:off x="5178800" y="1459676"/>
                <a:ext cx="6664862" cy="830997"/>
              </a:xfrm>
              <a:prstGeom prst="rect">
                <a:avLst/>
              </a:prstGeom>
              <a:blipFill rotWithShape="1">
                <a:blip r:embed="rId2"/>
                <a:stretch>
                  <a:fillRect l="-6" t="-54" r="4" b="27"/>
                </a:stretch>
              </a:blipFill>
            </p:spPr>
            <p:txBody>
              <a:bodyPr/>
              <a:lstStyle/>
              <a:p>
                <a:r>
                  <a:rPr lang="es-ES" altLang="en-US">
                    <a:noFill/>
                  </a:rPr>
                  <a:t> </a:t>
                </a:r>
              </a:p>
            </p:txBody>
          </p:sp>
        </mc:Fallback>
      </mc:AlternateContent>
      <p:cxnSp>
        <p:nvCxnSpPr>
          <p:cNvPr id="11" name="Conector recto 10"/>
          <p:cNvCxnSpPr/>
          <p:nvPr/>
        </p:nvCxnSpPr>
        <p:spPr>
          <a:xfrm>
            <a:off x="5003076" y="1473179"/>
            <a:ext cx="0" cy="5040638"/>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CuadroTexto 8"/>
              <p:cNvSpPr txBox="1"/>
              <p:nvPr/>
            </p:nvSpPr>
            <p:spPr>
              <a:xfrm>
                <a:off x="1524444" y="5923800"/>
                <a:ext cx="201593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80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CO"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𝑉</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𝛽</m:t>
                      </m:r>
                      <m:sSub>
                        <m:sSubPr>
                          <m:ctrlP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s-CO"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𝑉</m:t>
                          </m:r>
                        </m:e>
                        <m:sub>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0</m:t>
                          </m:r>
                        </m:sub>
                      </m:sSub>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𝑇</m:t>
                      </m:r>
                    </m:oMath>
                  </m:oMathPara>
                </a14:m>
                <a:endParaRPr lang="es-CO" sz="2800" dirty="0">
                  <a:effectLst>
                    <a:outerShdw blurRad="38100" dist="38100" dir="2700000" algn="tl">
                      <a:srgbClr val="000000">
                        <a:alpha val="43137"/>
                      </a:srgbClr>
                    </a:outerShdw>
                  </a:effectLst>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1524444" y="5923800"/>
                <a:ext cx="2015936" cy="430887"/>
              </a:xfrm>
              <a:prstGeom prst="rect">
                <a:avLst/>
              </a:prstGeom>
              <a:blipFill rotWithShape="1">
                <a:blip r:embed="rId3"/>
                <a:stretch>
                  <a:fillRect l="-22" t="-121" r="-1625" b="56"/>
                </a:stretch>
              </a:blipFill>
            </p:spPr>
            <p:txBody>
              <a:bodyPr/>
              <a:lstStyle/>
              <a:p>
                <a:r>
                  <a:rPr lang="es-ES" altLang="en-US">
                    <a:noFill/>
                  </a:rPr>
                  <a:t> </a:t>
                </a:r>
              </a:p>
            </p:txBody>
          </p:sp>
        </mc:Fallback>
      </mc:AlternateContent>
      <p:grpSp>
        <p:nvGrpSpPr>
          <p:cNvPr id="15" name="Grupo 14"/>
          <p:cNvGrpSpPr/>
          <p:nvPr/>
        </p:nvGrpSpPr>
        <p:grpSpPr>
          <a:xfrm>
            <a:off x="415760" y="1459676"/>
            <a:ext cx="4273949" cy="4206891"/>
            <a:chOff x="415760" y="1459676"/>
            <a:chExt cx="4273949" cy="4206891"/>
          </a:xfrm>
        </p:grpSpPr>
        <p:pic>
          <p:nvPicPr>
            <p:cNvPr id="6" name="Imagen 5"/>
            <p:cNvPicPr>
              <a:picLocks noChangeAspect="1"/>
            </p:cNvPicPr>
            <p:nvPr/>
          </p:nvPicPr>
          <p:blipFill>
            <a:blip r:embed="rId4"/>
            <a:srcRect b="9602"/>
            <a:stretch>
              <a:fillRect/>
            </a:stretch>
          </p:blipFill>
          <p:spPr>
            <a:xfrm>
              <a:off x="415760" y="1459676"/>
              <a:ext cx="4273949" cy="3805688"/>
            </a:xfrm>
            <a:prstGeom prst="rect">
              <a:avLst/>
            </a:prstGeom>
          </p:spPr>
        </p:pic>
        <mc:AlternateContent xmlns:mc="http://schemas.openxmlformats.org/markup-compatibility/2006" xmlns:a14="http://schemas.microsoft.com/office/drawing/2010/main">
          <mc:Choice Requires="a14">
            <p:sp>
              <p:nvSpPr>
                <p:cNvPr id="12" name="CuadroTexto 11"/>
                <p:cNvSpPr txBox="1"/>
                <p:nvPr/>
              </p:nvSpPr>
              <p:spPr>
                <a:xfrm>
                  <a:off x="1094250" y="5217644"/>
                  <a:ext cx="4256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s-CO"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0</m:t>
                            </m:r>
                          </m:sub>
                        </m:sSub>
                      </m:oMath>
                    </m:oMathPara>
                  </a14:m>
                  <a:endParaRPr lang="es-CO" sz="2800" dirty="0">
                    <a:effectLst>
                      <a:outerShdw blurRad="38100" dist="38100" dir="2700000" algn="tl">
                        <a:srgbClr val="000000">
                          <a:alpha val="43137"/>
                        </a:srgbClr>
                      </a:outerShdw>
                    </a:effectLst>
                  </a:endParaRPr>
                </a:p>
              </p:txBody>
            </p:sp>
          </mc:Choice>
          <mc:Fallback xmlns="">
            <p:sp>
              <p:nvSpPr>
                <p:cNvPr id="12" name="CuadroTexto 11"/>
                <p:cNvSpPr txBox="1">
                  <a:spLocks noRot="1" noChangeAspect="1" noMove="1" noResize="1" noEditPoints="1" noAdjustHandles="1" noChangeArrowheads="1" noChangeShapeType="1" noTextEdit="1"/>
                </p:cNvSpPr>
                <p:nvPr/>
              </p:nvSpPr>
              <p:spPr>
                <a:xfrm>
                  <a:off x="1094250" y="5217644"/>
                  <a:ext cx="425629" cy="430887"/>
                </a:xfrm>
                <a:prstGeom prst="rect">
                  <a:avLst/>
                </a:prstGeom>
                <a:blipFill rotWithShape="1">
                  <a:blip r:embed="rId5"/>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4" name="CuadroTexto 13"/>
                <p:cNvSpPr txBox="1"/>
                <p:nvPr/>
              </p:nvSpPr>
              <p:spPr>
                <a:xfrm>
                  <a:off x="3007107" y="5235680"/>
                  <a:ext cx="128503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s-CO"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𝑇</m:t>
                            </m:r>
                          </m:e>
                          <m:sub>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0</m:t>
                            </m:r>
                          </m:sub>
                        </m:sSub>
                        <m:r>
                          <a:rPr lang="es-CO"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CO"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𝑇</m:t>
                        </m:r>
                      </m:oMath>
                    </m:oMathPara>
                  </a14:m>
                  <a:endParaRPr lang="es-CO" sz="2800" dirty="0">
                    <a:effectLst>
                      <a:outerShdw blurRad="38100" dist="38100" dir="2700000" algn="tl">
                        <a:srgbClr val="000000">
                          <a:alpha val="43137"/>
                        </a:srgbClr>
                      </a:outerShdw>
                    </a:effectLst>
                  </a:endParaRPr>
                </a:p>
              </p:txBody>
            </p:sp>
          </mc:Choice>
          <mc:Fallback xmlns="">
            <p:sp>
              <p:nvSpPr>
                <p:cNvPr id="14" name="CuadroTexto 13"/>
                <p:cNvSpPr txBox="1">
                  <a:spLocks noRot="1" noChangeAspect="1" noMove="1" noResize="1" noEditPoints="1" noAdjustHandles="1" noChangeArrowheads="1" noChangeShapeType="1" noTextEdit="1"/>
                </p:cNvSpPr>
                <p:nvPr/>
              </p:nvSpPr>
              <p:spPr>
                <a:xfrm>
                  <a:off x="3007107" y="5235680"/>
                  <a:ext cx="1285032" cy="430887"/>
                </a:xfrm>
                <a:prstGeom prst="rect">
                  <a:avLst/>
                </a:prstGeom>
                <a:blipFill rotWithShape="1">
                  <a:blip r:embed="rId6"/>
                </a:blipFill>
              </p:spPr>
              <p:txBody>
                <a:bodyPr/>
                <a:lstStyle/>
                <a:p>
                  <a:r>
                    <a:rPr lang="es-ES" altLang="en-US">
                      <a:noFill/>
                    </a:rPr>
                    <a:t> </a:t>
                  </a:r>
                </a:p>
              </p:txBody>
            </p:sp>
          </mc:Fallback>
        </mc:AlternateContent>
      </p:grpSp>
      <p:pic>
        <p:nvPicPr>
          <p:cNvPr id="17" name="Imagen 16"/>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5208296" y="3246901"/>
            <a:ext cx="6664862" cy="2676899"/>
          </a:xfrm>
          <a:prstGeom prst="rect">
            <a:avLst/>
          </a:prstGeom>
        </p:spPr>
      </p:pic>
      <mc:AlternateContent xmlns:mc="http://schemas.openxmlformats.org/markup-compatibility/2006" xmlns:a14="http://schemas.microsoft.com/office/drawing/2010/main">
        <mc:Choice Requires="a14">
          <p:sp>
            <p:nvSpPr>
              <p:cNvPr id="18" name="CuadroTexto 17"/>
              <p:cNvSpPr txBox="1"/>
              <p:nvPr/>
            </p:nvSpPr>
            <p:spPr>
              <a:xfrm>
                <a:off x="7919499" y="2402574"/>
                <a:ext cx="118346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𝛽</m:t>
                      </m:r>
                      <m:r>
                        <a:rPr lang="es-CO"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=3</m:t>
                      </m:r>
                      <m:r>
                        <m:rPr>
                          <m:sty m:val="p"/>
                        </m:rPr>
                        <a:rPr lang="el-GR"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α</m:t>
                      </m:r>
                    </m:oMath>
                  </m:oMathPara>
                </a14:m>
                <a:endParaRPr lang="es-CO" sz="2800" dirty="0">
                  <a:effectLst>
                    <a:outerShdw blurRad="38100" dist="38100" dir="2700000" algn="tl">
                      <a:srgbClr val="000000">
                        <a:alpha val="43137"/>
                      </a:srgbClr>
                    </a:outerShdw>
                  </a:effectLst>
                </a:endParaRPr>
              </a:p>
            </p:txBody>
          </p:sp>
        </mc:Choice>
        <mc:Fallback xmlns="">
          <p:sp>
            <p:nvSpPr>
              <p:cNvPr id="18" name="CuadroTexto 17"/>
              <p:cNvSpPr txBox="1">
                <a:spLocks noRot="1" noChangeAspect="1" noMove="1" noResize="1" noEditPoints="1" noAdjustHandles="1" noChangeArrowheads="1" noChangeShapeType="1" noTextEdit="1"/>
              </p:cNvSpPr>
              <p:nvPr/>
            </p:nvSpPr>
            <p:spPr>
              <a:xfrm>
                <a:off x="7919499" y="2402574"/>
                <a:ext cx="1183464" cy="430887"/>
              </a:xfrm>
              <a:prstGeom prst="rect">
                <a:avLst/>
              </a:prstGeom>
              <a:blipFill rotWithShape="1">
                <a:blip r:embed="rId9"/>
                <a:stretch>
                  <a:fillRect l="-35" t="-86" r="-2502" b="21"/>
                </a:stretch>
              </a:blipFill>
            </p:spPr>
            <p:txBody>
              <a:bodyPr/>
              <a:lstStyle/>
              <a:p>
                <a:r>
                  <a:rPr lang="es-ES"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11</a:t>
            </a:fld>
            <a:endParaRPr lang="es-CO" dirty="0"/>
          </a:p>
        </p:txBody>
      </p:sp>
      <p:sp>
        <p:nvSpPr>
          <p:cNvPr id="4" name="CuadroTexto 3"/>
          <p:cNvSpPr txBox="1"/>
          <p:nvPr/>
        </p:nvSpPr>
        <p:spPr>
          <a:xfrm>
            <a:off x="358595" y="928095"/>
            <a:ext cx="11277882" cy="1938992"/>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4.</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Un frasco de vidrio con volumen de 200 cm</a:t>
            </a:r>
            <a:r>
              <a:rPr lang="es-MX" sz="2400" baseline="30000" dirty="0">
                <a:latin typeface="Arial" panose="020B0604020202020204" pitchFamily="34" charset="0"/>
                <a:cs typeface="Arial" panose="020B0604020202020204" pitchFamily="34" charset="0"/>
              </a:rPr>
              <a:t>3</a:t>
            </a:r>
            <a:r>
              <a:rPr lang="es-MX" sz="2400" dirty="0">
                <a:latin typeface="Arial" panose="020B0604020202020204" pitchFamily="34" charset="0"/>
                <a:cs typeface="Arial" panose="020B0604020202020204" pitchFamily="34" charset="0"/>
              </a:rPr>
              <a:t> se llena hasta el borde con mercurio a 20 °C. ¿Cuánto mercurio se desbordará si la temperatura del sistema se eleva a 100 °C? El coeficiente de expansión lineal del vidrio es de 0.40×10</a:t>
            </a:r>
            <a:r>
              <a:rPr lang="es-MX" sz="2400" baseline="30000" dirty="0">
                <a:latin typeface="Arial" panose="020B0604020202020204" pitchFamily="34" charset="0"/>
                <a:cs typeface="Arial" panose="020B0604020202020204" pitchFamily="34" charset="0"/>
              </a:rPr>
              <a:t>-5 </a:t>
            </a:r>
            <a:r>
              <a:rPr lang="es-MX" sz="2400" dirty="0">
                <a:latin typeface="Arial" panose="020B0604020202020204" pitchFamily="34" charset="0"/>
                <a:cs typeface="Arial" panose="020B0604020202020204" pitchFamily="34" charset="0"/>
              </a:rPr>
              <a:t>K</a:t>
            </a:r>
            <a:r>
              <a:rPr lang="es-MX" sz="2400" baseline="30000" dirty="0">
                <a:latin typeface="Arial" panose="020B0604020202020204" pitchFamily="34" charset="0"/>
                <a:cs typeface="Arial" panose="020B0604020202020204" pitchFamily="34" charset="0"/>
              </a:rPr>
              <a:t>-1</a:t>
            </a:r>
            <a:r>
              <a:rPr lang="es-MX" sz="2400" dirty="0">
                <a:latin typeface="Arial" panose="020B0604020202020204" pitchFamily="34" charset="0"/>
                <a:cs typeface="Arial" panose="020B0604020202020204" pitchFamily="34" charset="0"/>
              </a:rPr>
              <a:t>.</a:t>
            </a:r>
          </a:p>
          <a:p>
            <a:pPr marL="457200" indent="-457200" algn="just">
              <a:buAutoNum type="alphaLcParenR"/>
            </a:pPr>
            <a:endParaRPr lang="es-MX" sz="2400"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12</a:t>
            </a:fld>
            <a:endParaRPr lang="es-CO" dirty="0"/>
          </a:p>
        </p:txBody>
      </p:sp>
      <mc:AlternateContent xmlns:mc="http://schemas.openxmlformats.org/markup-compatibility/2006">
        <mc:Choice xmlns:a14="http://schemas.microsoft.com/office/drawing/2010/main" Requires="a14">
          <p:sp>
            <p:nvSpPr>
              <p:cNvPr id="4" name="CuadroTexto 3"/>
              <p:cNvSpPr txBox="1"/>
              <p:nvPr/>
            </p:nvSpPr>
            <p:spPr>
              <a:xfrm>
                <a:off x="358595" y="928095"/>
                <a:ext cx="11277882" cy="3136180"/>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5.</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Un tanque de hierro (</a:t>
                </a:r>
                <a14:m>
                  <m:oMath xmlns:m="http://schemas.openxmlformats.org/officeDocument/2006/math">
                    <m:r>
                      <a:rPr lang="es-MX" sz="2400" i="1">
                        <a:latin typeface="Cambria Math" panose="02040503050406030204" pitchFamily="18" charset="0"/>
                        <a:ea typeface="Cambria Math" panose="02040503050406030204" pitchFamily="18" charset="0"/>
                        <a:cs typeface="Arial" panose="020B0604020202020204" pitchFamily="34" charset="0"/>
                      </a:rPr>
                      <m:t>𝛽</m:t>
                    </m:r>
                    <m:r>
                      <a:rPr lang="es-MX" sz="2400" i="1">
                        <a:latin typeface="Cambria Math" panose="02040503050406030204" pitchFamily="18" charset="0"/>
                        <a:ea typeface="Cambria Math" panose="02040503050406030204" pitchFamily="18" charset="0"/>
                        <a:cs typeface="Arial" panose="020B0604020202020204" pitchFamily="34" charset="0"/>
                      </a:rPr>
                      <m:t>=35.1×</m:t>
                    </m:r>
                    <m:sSup>
                      <m:sSupPr>
                        <m:ctrlPr>
                          <a:rPr lang="es-MX" sz="2400" i="1">
                            <a:latin typeface="Cambria Math" panose="02040503050406030204" pitchFamily="18" charset="0"/>
                            <a:ea typeface="Cambria Math" panose="02040503050406030204" pitchFamily="18" charset="0"/>
                            <a:cs typeface="Arial" panose="020B0604020202020204" pitchFamily="34" charset="0"/>
                          </a:rPr>
                        </m:ctrlPr>
                      </m:sSupPr>
                      <m:e>
                        <m:r>
                          <a:rPr lang="es-MX" sz="2400" i="1">
                            <a:latin typeface="Cambria Math" panose="02040503050406030204" pitchFamily="18" charset="0"/>
                            <a:ea typeface="Cambria Math" panose="02040503050406030204" pitchFamily="18" charset="0"/>
                            <a:cs typeface="Arial" panose="020B0604020202020204" pitchFamily="34" charset="0"/>
                          </a:rPr>
                          <m:t>10</m:t>
                        </m:r>
                      </m:e>
                      <m:sup>
                        <m:r>
                          <a:rPr lang="es-MX" sz="2400" i="1">
                            <a:latin typeface="Cambria Math" panose="02040503050406030204" pitchFamily="18" charset="0"/>
                            <a:ea typeface="Cambria Math" panose="02040503050406030204" pitchFamily="18" charset="0"/>
                            <a:cs typeface="Arial" panose="020B0604020202020204" pitchFamily="34" charset="0"/>
                          </a:rPr>
                          <m:t>−6</m:t>
                        </m:r>
                      </m:sup>
                    </m:sSup>
                    <m:r>
                      <a:rPr lang="es-MX" sz="2400" i="1">
                        <a:latin typeface="Cambria Math" panose="02040503050406030204" pitchFamily="18" charset="0"/>
                        <a:ea typeface="Cambria Math" panose="02040503050406030204" pitchFamily="18" charset="0"/>
                        <a:cs typeface="Arial" panose="020B0604020202020204" pitchFamily="34" charset="0"/>
                      </a:rPr>
                      <m:t> </m:t>
                    </m:r>
                    <m:sSup>
                      <m:sSupPr>
                        <m:ctrlPr>
                          <a:rPr lang="es-MX" sz="2400" i="1">
                            <a:latin typeface="Cambria Math" panose="02040503050406030204" pitchFamily="18" charset="0"/>
                            <a:ea typeface="Cambria Math" panose="02040503050406030204" pitchFamily="18" charset="0"/>
                            <a:cs typeface="Arial" panose="020B0604020202020204" pitchFamily="34" charset="0"/>
                          </a:rPr>
                        </m:ctrlPr>
                      </m:sSupPr>
                      <m:e>
                        <m:r>
                          <a:rPr lang="es-MX" sz="2400" i="1">
                            <a:latin typeface="Cambria Math" panose="02040503050406030204" pitchFamily="18" charset="0"/>
                            <a:ea typeface="Cambria Math" panose="02040503050406030204" pitchFamily="18" charset="0"/>
                            <a:cs typeface="Arial" panose="020B0604020202020204" pitchFamily="34" charset="0"/>
                          </a:rPr>
                          <m:t>𝐾</m:t>
                        </m:r>
                      </m:e>
                      <m:sup>
                        <m:r>
                          <a:rPr lang="es-MX" sz="2400" i="1">
                            <a:latin typeface="Cambria Math" panose="02040503050406030204" pitchFamily="18" charset="0"/>
                            <a:ea typeface="Cambria Math" panose="02040503050406030204" pitchFamily="18" charset="0"/>
                            <a:cs typeface="Arial" panose="020B0604020202020204" pitchFamily="34" charset="0"/>
                          </a:rPr>
                          <m:t>−1</m:t>
                        </m:r>
                      </m:sup>
                    </m:sSup>
                    <m:r>
                      <a:rPr lang="es-MX" sz="2400" i="1">
                        <a:latin typeface="Cambria Math" panose="02040503050406030204" pitchFamily="18" charset="0"/>
                        <a:ea typeface="Cambria Math" panose="02040503050406030204" pitchFamily="18" charset="0"/>
                        <a:cs typeface="Arial" panose="020B0604020202020204" pitchFamily="34" charset="0"/>
                      </a:rPr>
                      <m:t>)</m:t>
                    </m:r>
                  </m:oMath>
                </a14:m>
                <a:r>
                  <a:rPr lang="es-MX" sz="2400" dirty="0">
                    <a:latin typeface="Arial" panose="020B0604020202020204" pitchFamily="34" charset="0"/>
                    <a:cs typeface="Arial" panose="020B0604020202020204" pitchFamily="34" charset="0"/>
                  </a:rPr>
                  <a:t> de 300 litros de capacidad a 15°C, se llena totalmente de petróleo (</a:t>
                </a:r>
                <a14:m>
                  <m:oMath xmlns:m="http://schemas.openxmlformats.org/officeDocument/2006/math">
                    <m:r>
                      <a:rPr lang="es-MX" sz="2400" i="1" smtClean="0">
                        <a:latin typeface="Cambria Math" panose="02040503050406030204" pitchFamily="18" charset="0"/>
                        <a:ea typeface="Cambria Math" panose="02040503050406030204" pitchFamily="18" charset="0"/>
                        <a:cs typeface="Arial" panose="020B0604020202020204" pitchFamily="34" charset="0"/>
                      </a:rPr>
                      <m:t>𝛽</m:t>
                    </m:r>
                    <m:r>
                      <a:rPr lang="es-MX" sz="2400" b="0" i="1" smtClean="0">
                        <a:latin typeface="Cambria Math" panose="02040503050406030204" pitchFamily="18" charset="0"/>
                        <a:ea typeface="Cambria Math" panose="02040503050406030204" pitchFamily="18" charset="0"/>
                        <a:cs typeface="Arial" panose="020B0604020202020204" pitchFamily="34" charset="0"/>
                      </a:rPr>
                      <m:t>=895×</m:t>
                    </m:r>
                    <m:sSup>
                      <m:sSupPr>
                        <m:ctrlPr>
                          <a:rPr lang="es-MX" sz="2400" b="0" i="1" smtClean="0">
                            <a:latin typeface="Cambria Math" panose="02040503050406030204" pitchFamily="18" charset="0"/>
                            <a:ea typeface="Cambria Math" panose="02040503050406030204" pitchFamily="18" charset="0"/>
                            <a:cs typeface="Arial" panose="020B0604020202020204" pitchFamily="34" charset="0"/>
                          </a:rPr>
                        </m:ctrlPr>
                      </m:sSupPr>
                      <m:e>
                        <m:r>
                          <a:rPr lang="es-MX" sz="2400" b="0" i="1" smtClean="0">
                            <a:latin typeface="Cambria Math" panose="02040503050406030204" pitchFamily="18" charset="0"/>
                            <a:ea typeface="Cambria Math" panose="02040503050406030204" pitchFamily="18" charset="0"/>
                            <a:cs typeface="Arial" panose="020B0604020202020204" pitchFamily="34" charset="0"/>
                          </a:rPr>
                          <m:t>10</m:t>
                        </m:r>
                      </m:e>
                      <m:sup>
                        <m:r>
                          <a:rPr lang="es-MX" sz="2400" b="0" i="1" smtClean="0">
                            <a:latin typeface="Cambria Math" panose="02040503050406030204" pitchFamily="18" charset="0"/>
                            <a:ea typeface="Cambria Math" panose="02040503050406030204" pitchFamily="18" charset="0"/>
                            <a:cs typeface="Arial" panose="020B0604020202020204" pitchFamily="34" charset="0"/>
                          </a:rPr>
                          <m:t>−6</m:t>
                        </m:r>
                      </m:sup>
                    </m:sSup>
                    <m:r>
                      <a:rPr lang="es-MX" sz="2400" b="0" i="1" smtClean="0">
                        <a:latin typeface="Cambria Math" panose="02040503050406030204" pitchFamily="18" charset="0"/>
                        <a:ea typeface="Cambria Math" panose="02040503050406030204" pitchFamily="18" charset="0"/>
                        <a:cs typeface="Arial" panose="020B0604020202020204" pitchFamily="34" charset="0"/>
                      </a:rPr>
                      <m:t> </m:t>
                    </m:r>
                    <m:sSup>
                      <m:sSupPr>
                        <m:ctrlPr>
                          <a:rPr lang="es-MX" sz="2400" b="0" i="1" smtClean="0">
                            <a:latin typeface="Cambria Math" panose="02040503050406030204" pitchFamily="18" charset="0"/>
                            <a:ea typeface="Cambria Math" panose="02040503050406030204" pitchFamily="18" charset="0"/>
                            <a:cs typeface="Arial" panose="020B0604020202020204" pitchFamily="34" charset="0"/>
                          </a:rPr>
                        </m:ctrlPr>
                      </m:sSupPr>
                      <m:e>
                        <m:r>
                          <a:rPr lang="es-MX" sz="2400" b="0" i="1" smtClean="0">
                            <a:latin typeface="Cambria Math" panose="02040503050406030204" pitchFamily="18" charset="0"/>
                            <a:ea typeface="Cambria Math" panose="02040503050406030204" pitchFamily="18" charset="0"/>
                            <a:cs typeface="Arial" panose="020B0604020202020204" pitchFamily="34" charset="0"/>
                          </a:rPr>
                          <m:t>𝐾</m:t>
                        </m:r>
                      </m:e>
                      <m:sup>
                        <m:r>
                          <a:rPr lang="es-MX" sz="2400" b="0" i="1" smtClean="0">
                            <a:latin typeface="Cambria Math" panose="02040503050406030204" pitchFamily="18" charset="0"/>
                            <a:ea typeface="Cambria Math" panose="02040503050406030204" pitchFamily="18" charset="0"/>
                            <a:cs typeface="Arial" panose="020B0604020202020204" pitchFamily="34" charset="0"/>
                          </a:rPr>
                          <m:t>−1</m:t>
                        </m:r>
                      </m:sup>
                    </m:sSup>
                    <m:r>
                      <a:rPr lang="es-MX" sz="2400" b="0" i="1" smtClean="0">
                        <a:latin typeface="Cambria Math" panose="02040503050406030204" pitchFamily="18" charset="0"/>
                        <a:ea typeface="Cambria Math" panose="02040503050406030204" pitchFamily="18" charset="0"/>
                        <a:cs typeface="Arial" panose="020B0604020202020204" pitchFamily="34" charset="0"/>
                      </a:rPr>
                      <m:t>)</m:t>
                    </m:r>
                  </m:oMath>
                </a14:m>
                <a:r>
                  <a:rPr lang="es-MX" sz="2400" dirty="0">
                    <a:latin typeface="Arial" panose="020B0604020202020204" pitchFamily="34" charset="0"/>
                    <a:cs typeface="Arial" panose="020B0604020202020204" pitchFamily="34" charset="0"/>
                  </a:rPr>
                  <a:t>, si se incrementa la temperatura de ambos hasta 40°C, calcular: </a:t>
                </a:r>
              </a:p>
              <a:p>
                <a:pPr algn="just"/>
                <a:endParaRPr lang="es-MX" sz="2400" dirty="0">
                  <a:latin typeface="Arial" panose="020B0604020202020204" pitchFamily="34" charset="0"/>
                  <a:cs typeface="Arial" panose="020B0604020202020204" pitchFamily="34" charset="0"/>
                </a:endParaRPr>
              </a:p>
              <a:p>
                <a:pPr marL="457200" indent="-457200" algn="just">
                  <a:buAutoNum type="alphaLcParenR"/>
                </a:pPr>
                <a:r>
                  <a:rPr lang="es-MX" sz="2400" dirty="0">
                    <a:latin typeface="Arial" panose="020B0604020202020204" pitchFamily="34" charset="0"/>
                    <a:cs typeface="Arial" panose="020B0604020202020204" pitchFamily="34" charset="0"/>
                  </a:rPr>
                  <a:t>la dilatación cúbica del tanque.</a:t>
                </a:r>
              </a:p>
              <a:p>
                <a:pPr marL="457200" indent="-457200" algn="just">
                  <a:buAutoNum type="alphaLcParenR"/>
                </a:pPr>
                <a:r>
                  <a:rPr lang="es-MX" sz="2400" dirty="0">
                    <a:latin typeface="Arial" panose="020B0604020202020204" pitchFamily="34" charset="0"/>
                    <a:cs typeface="Arial" panose="020B0604020202020204" pitchFamily="34" charset="0"/>
                  </a:rPr>
                  <a:t>la dilatación cúbica del petróleo.</a:t>
                </a:r>
              </a:p>
              <a:p>
                <a:pPr marL="457200" indent="-457200" algn="just">
                  <a:buAutoNum type="alphaLcParenR"/>
                </a:pPr>
                <a:r>
                  <a:rPr lang="es-MX" sz="2400" dirty="0">
                    <a:latin typeface="Arial" panose="020B0604020202020204" pitchFamily="34" charset="0"/>
                    <a:cs typeface="Arial" panose="020B0604020202020204" pitchFamily="34" charset="0"/>
                  </a:rPr>
                  <a:t>¿Cuánto petróleo se derramó en litros? </a:t>
                </a:r>
              </a:p>
              <a:p>
                <a:pPr marL="457200" indent="-457200" algn="just">
                  <a:buAutoNum type="alphaLcParenR"/>
                </a:pPr>
                <a:endParaRPr lang="es-MX" sz="2400" dirty="0">
                  <a:latin typeface="Arial" panose="020B0604020202020204" pitchFamily="34" charset="0"/>
                  <a:cs typeface="Arial" panose="020B0604020202020204" pitchFamily="34" charset="0"/>
                </a:endParaRPr>
              </a:p>
            </p:txBody>
          </p:sp>
        </mc:Choice>
        <mc:Fallback>
          <p:sp>
            <p:nvSpPr>
              <p:cNvPr id="4" name="CuadroTexto 3"/>
              <p:cNvSpPr txBox="1">
                <a:spLocks noRot="1" noChangeAspect="1" noMove="1" noResize="1" noEditPoints="1" noAdjustHandles="1" noChangeArrowheads="1" noChangeShapeType="1" noTextEdit="1"/>
              </p:cNvSpPr>
              <p:nvPr/>
            </p:nvSpPr>
            <p:spPr>
              <a:xfrm>
                <a:off x="358595" y="928095"/>
                <a:ext cx="11277882" cy="3136180"/>
              </a:xfrm>
              <a:prstGeom prst="rect">
                <a:avLst/>
              </a:prstGeom>
              <a:blipFill rotWithShape="0">
                <a:blip r:embed="rId2"/>
                <a:stretch>
                  <a:fillRect l="-919" t="-1553" r="-811"/>
                </a:stretch>
              </a:blipFill>
            </p:spPr>
            <p:txBody>
              <a:bodyPr/>
              <a:lstStyle/>
              <a:p>
                <a:r>
                  <a:rPr lang="es-CO">
                    <a:noFill/>
                  </a:rPr>
                  <a:t> </a:t>
                </a:r>
              </a:p>
            </p:txBody>
          </p:sp>
        </mc:Fallback>
      </mc:AlternateContent>
      <p:pic>
        <p:nvPicPr>
          <p:cNvPr id="7" name="Imagen 6"/>
          <p:cNvPicPr>
            <a:picLocks noChangeAspect="1"/>
          </p:cNvPicPr>
          <p:nvPr/>
        </p:nvPicPr>
        <p:blipFill>
          <a:blip r:embed="rId3"/>
          <a:stretch>
            <a:fillRect/>
          </a:stretch>
        </p:blipFill>
        <p:spPr>
          <a:xfrm>
            <a:off x="7895742" y="1870417"/>
            <a:ext cx="3458058" cy="24387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pPr algn="ctr"/>
            <a:r>
              <a:rPr lang="es-CO"/>
              <a:t>Física Ondulatoria</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13</a:t>
            </a:fld>
            <a:endParaRPr lang="es-CO" dirty="0"/>
          </a:p>
        </p:txBody>
      </p:sp>
      <p:sp>
        <p:nvSpPr>
          <p:cNvPr id="4" name="Rectángulo 3"/>
          <p:cNvSpPr/>
          <p:nvPr/>
        </p:nvSpPr>
        <p:spPr>
          <a:xfrm>
            <a:off x="490355" y="777472"/>
            <a:ext cx="3849131" cy="461665"/>
          </a:xfrm>
          <a:prstGeom prst="rect">
            <a:avLst/>
          </a:prstGeom>
          <a:effectLst>
            <a:outerShdw blurRad="50800" dist="38100" dir="5400000" algn="t" rotWithShape="0">
              <a:prstClr val="black">
                <a:alpha val="40000"/>
              </a:prstClr>
            </a:outerShdw>
          </a:effectLst>
        </p:spPr>
        <p:txBody>
          <a:bodyPr wrap="none">
            <a:prstTxWarp prst="textWave1">
              <a:avLst/>
            </a:prstTxWarp>
            <a:spAutoFit/>
          </a:bodyPr>
          <a:lstStyle/>
          <a:p>
            <a:r>
              <a:rPr lang="es-MX" sz="2400" b="1" dirty="0">
                <a:ln w="0"/>
                <a:solidFill>
                  <a:srgbClr val="FF0000"/>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¡¡Practica lo aprendido!! No. 1</a:t>
            </a:r>
          </a:p>
        </p:txBody>
      </p:sp>
      <p:sp>
        <p:nvSpPr>
          <p:cNvPr id="12" name="CuadroTexto 11"/>
          <p:cNvSpPr txBox="1"/>
          <p:nvPr/>
        </p:nvSpPr>
        <p:spPr>
          <a:xfrm>
            <a:off x="384375" y="5016740"/>
            <a:ext cx="7520760" cy="1015663"/>
          </a:xfrm>
          <a:prstGeom prst="rect">
            <a:avLst/>
          </a:prstGeom>
          <a:noFill/>
        </p:spPr>
        <p:txBody>
          <a:bodyPr wrap="square">
            <a:spAutoFit/>
          </a:bodyPr>
          <a:lstStyle/>
          <a:p>
            <a:pPr algn="just"/>
            <a:r>
              <a:rPr lang="es-MX" sz="20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4. </a:t>
            </a:r>
            <a:r>
              <a:rPr lang="es-MX" sz="2000" dirty="0">
                <a:latin typeface="Arial" panose="020B0604020202020204" pitchFamily="34" charset="0"/>
                <a:cs typeface="Arial" panose="020B0604020202020204" pitchFamily="34" charset="0"/>
              </a:rPr>
              <a:t>Un gas a presión constante y a 0°C ocupa un volumen de 25 litros. Si su temperatura aumenta a 18°C;            a) calcular el volumen final, b) La dilatación cúbica.</a:t>
            </a:r>
            <a:endParaRPr lang="es-CO" sz="2000" dirty="0">
              <a:latin typeface="Arial" panose="020B0604020202020204" pitchFamily="34" charset="0"/>
              <a:cs typeface="Arial" panose="020B0604020202020204" pitchFamily="34" charset="0"/>
            </a:endParaRPr>
          </a:p>
        </p:txBody>
      </p:sp>
      <p:sp>
        <p:nvSpPr>
          <p:cNvPr id="6" name="Rectángulo 5"/>
          <p:cNvSpPr/>
          <p:nvPr/>
        </p:nvSpPr>
        <p:spPr>
          <a:xfrm>
            <a:off x="384375" y="3633003"/>
            <a:ext cx="7405596" cy="1323439"/>
          </a:xfrm>
          <a:prstGeom prst="rect">
            <a:avLst/>
          </a:prstGeom>
        </p:spPr>
        <p:txBody>
          <a:bodyPr wrap="square">
            <a:spAutoFit/>
          </a:bodyPr>
          <a:lstStyle/>
          <a:p>
            <a:pPr algn="just"/>
            <a:r>
              <a:rPr lang="es-MX" sz="20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3. </a:t>
            </a:r>
            <a:r>
              <a:rPr lang="es-MX" sz="2000" dirty="0">
                <a:latin typeface="Arial" panose="020B0604020202020204" pitchFamily="34" charset="0"/>
                <a:cs typeface="Arial" panose="020B0604020202020204" pitchFamily="34" charset="0"/>
              </a:rPr>
              <a:t>Para construir una pared de 20m de largo, 3.2m de ancho y 22cm de espesor se usará concreto (el coeficiente de dilatación del concreto es el mismo que el del hierro) a 22 °C. ¿Cuál será el nuevo volumen de la pared a 35 °C</a:t>
            </a:r>
          </a:p>
        </p:txBody>
      </p:sp>
      <p:pic>
        <p:nvPicPr>
          <p:cNvPr id="7" name="Imagen 6"/>
          <p:cNvPicPr>
            <a:picLocks noChangeAspect="1"/>
          </p:cNvPicPr>
          <p:nvPr/>
        </p:nvPicPr>
        <p:blipFill>
          <a:blip r:embed="rId3"/>
          <a:stretch>
            <a:fillRect/>
          </a:stretch>
        </p:blipFill>
        <p:spPr>
          <a:xfrm>
            <a:off x="8100512" y="4507487"/>
            <a:ext cx="3448665" cy="1883435"/>
          </a:xfrm>
          <a:prstGeom prst="rect">
            <a:avLst/>
          </a:prstGeom>
        </p:spPr>
      </p:pic>
      <mc:AlternateContent xmlns:mc="http://schemas.openxmlformats.org/markup-compatibility/2006" xmlns:a14="http://schemas.microsoft.com/office/drawing/2010/main">
        <mc:Choice Requires="a14">
          <p:sp>
            <p:nvSpPr>
              <p:cNvPr id="9" name="Rectángulo 8"/>
              <p:cNvSpPr/>
              <p:nvPr/>
            </p:nvSpPr>
            <p:spPr>
              <a:xfrm>
                <a:off x="390206" y="1283728"/>
                <a:ext cx="11158971" cy="734240"/>
              </a:xfrm>
              <a:prstGeom prst="rect">
                <a:avLst/>
              </a:prstGeom>
            </p:spPr>
            <p:txBody>
              <a:bodyPr wrap="square">
                <a:spAutoFit/>
              </a:bodyPr>
              <a:lstStyle/>
              <a:p>
                <a:pPr algn="just"/>
                <a:r>
                  <a:rPr lang="es-MX" sz="20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1. </a:t>
                </a:r>
                <a:r>
                  <a:rPr lang="es-MX" sz="2000" dirty="0">
                    <a:latin typeface="Arial" panose="020B0604020202020204" pitchFamily="34" charset="0"/>
                    <a:cs typeface="Arial" panose="020B0604020202020204" pitchFamily="34" charset="0"/>
                  </a:rPr>
                  <a:t>A una temperatura de 18°C una varilla de hierro (</a:t>
                </a:r>
                <a14:m>
                  <m:oMath xmlns:m="http://schemas.openxmlformats.org/officeDocument/2006/math">
                    <m:r>
                      <a:rPr lang="es-MX" sz="2000" i="1" smtClean="0">
                        <a:latin typeface="Cambria Math" panose="02040503050406030204" pitchFamily="18" charset="0"/>
                        <a:ea typeface="Cambria Math" panose="02040503050406030204" pitchFamily="18" charset="0"/>
                        <a:cs typeface="Arial" panose="020B0604020202020204" pitchFamily="34" charset="0"/>
                      </a:rPr>
                      <m:t>𝛼</m:t>
                    </m:r>
                    <m:r>
                      <a:rPr lang="es-MX" sz="2000" b="0" i="1" smtClean="0">
                        <a:latin typeface="Cambria Math" panose="02040503050406030204" pitchFamily="18" charset="0"/>
                        <a:ea typeface="Cambria Math" panose="02040503050406030204" pitchFamily="18" charset="0"/>
                        <a:cs typeface="Arial" panose="020B0604020202020204" pitchFamily="34" charset="0"/>
                      </a:rPr>
                      <m:t>=12×</m:t>
                    </m:r>
                    <m:sSup>
                      <m:sSupPr>
                        <m:ctrlPr>
                          <a:rPr lang="es-MX"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s-MX" sz="2000" b="0" i="1" smtClean="0">
                            <a:latin typeface="Cambria Math" panose="02040503050406030204" pitchFamily="18" charset="0"/>
                            <a:ea typeface="Cambria Math" panose="02040503050406030204" pitchFamily="18" charset="0"/>
                            <a:cs typeface="Arial" panose="020B0604020202020204" pitchFamily="34" charset="0"/>
                          </a:rPr>
                          <m:t>10</m:t>
                        </m:r>
                      </m:e>
                      <m:sup>
                        <m:r>
                          <a:rPr lang="es-MX" sz="2000" b="0" i="1" smtClean="0">
                            <a:latin typeface="Cambria Math" panose="02040503050406030204" pitchFamily="18" charset="0"/>
                            <a:ea typeface="Cambria Math" panose="02040503050406030204" pitchFamily="18" charset="0"/>
                            <a:cs typeface="Arial" panose="020B0604020202020204" pitchFamily="34" charset="0"/>
                          </a:rPr>
                          <m:t>−6</m:t>
                        </m:r>
                      </m:sup>
                    </m:sSup>
                    <m:r>
                      <a:rPr lang="es-MX" sz="2000" b="0" i="0" smtClean="0">
                        <a:latin typeface="Cambria Math" panose="02040503050406030204" pitchFamily="18" charset="0"/>
                        <a:ea typeface="Cambria Math" panose="02040503050406030204" pitchFamily="18" charset="0"/>
                        <a:cs typeface="Arial" panose="020B0604020202020204" pitchFamily="34" charset="0"/>
                      </a:rPr>
                      <m:t> </m:t>
                    </m:r>
                    <m:sSup>
                      <m:sSupPr>
                        <m:ctrlPr>
                          <a:rPr lang="es-MX" sz="2000" b="0" i="1" smtClean="0">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s-MX" sz="2000" b="0" i="0" smtClean="0">
                            <a:latin typeface="Cambria Math" panose="02040503050406030204" pitchFamily="18" charset="0"/>
                            <a:ea typeface="Cambria Math" panose="02040503050406030204" pitchFamily="18" charset="0"/>
                            <a:cs typeface="Arial" panose="020B0604020202020204" pitchFamily="34" charset="0"/>
                          </a:rPr>
                          <m:t>K</m:t>
                        </m:r>
                      </m:e>
                      <m:sup>
                        <m:r>
                          <a:rPr lang="es-MX" sz="2000" b="0" i="0" smtClean="0">
                            <a:latin typeface="Cambria Math" panose="02040503050406030204" pitchFamily="18" charset="0"/>
                            <a:ea typeface="Cambria Math" panose="02040503050406030204" pitchFamily="18" charset="0"/>
                            <a:cs typeface="Arial" panose="020B0604020202020204" pitchFamily="34" charset="0"/>
                          </a:rPr>
                          <m:t>−1</m:t>
                        </m:r>
                      </m:sup>
                    </m:sSup>
                  </m:oMath>
                </a14:m>
                <a:r>
                  <a:rPr lang="es-MX" sz="2000" dirty="0">
                    <a:latin typeface="Arial" panose="020B0604020202020204" pitchFamily="34" charset="0"/>
                    <a:cs typeface="Arial" panose="020B0604020202020204" pitchFamily="34" charset="0"/>
                  </a:rPr>
                  <a:t>) tiene una longitud de 8 m. ¿Cuál será la longitud al aumentar su temperatura a 55 °C?</a:t>
                </a:r>
              </a:p>
            </p:txBody>
          </p:sp>
        </mc:Choice>
        <mc:Fallback xmlns="">
          <p:sp>
            <p:nvSpPr>
              <p:cNvPr id="9" name="Rectángulo 8"/>
              <p:cNvSpPr>
                <a:spLocks noRot="1" noChangeAspect="1" noMove="1" noResize="1" noEditPoints="1" noAdjustHandles="1" noChangeArrowheads="1" noChangeShapeType="1" noTextEdit="1"/>
              </p:cNvSpPr>
              <p:nvPr/>
            </p:nvSpPr>
            <p:spPr>
              <a:xfrm>
                <a:off x="390206" y="1283728"/>
                <a:ext cx="11158971" cy="734240"/>
              </a:xfrm>
              <a:prstGeom prst="rect">
                <a:avLst/>
              </a:prstGeom>
              <a:blipFill rotWithShape="1">
                <a:blip r:embed="rId4"/>
                <a:stretch>
                  <a:fillRect l="-3" t="-54" r="4" b="78"/>
                </a:stretch>
              </a:blipFill>
            </p:spPr>
            <p:txBody>
              <a:bodyPr/>
              <a:lstStyle/>
              <a:p>
                <a:r>
                  <a:rPr lang="es-ES" altLang="en-US">
                    <a:noFill/>
                  </a:rPr>
                  <a:t> </a:t>
                </a:r>
              </a:p>
            </p:txBody>
          </p:sp>
        </mc:Fallback>
      </mc:AlternateContent>
      <p:sp>
        <p:nvSpPr>
          <p:cNvPr id="10" name="Rectángulo 9"/>
          <p:cNvSpPr/>
          <p:nvPr/>
        </p:nvSpPr>
        <p:spPr>
          <a:xfrm>
            <a:off x="390206" y="1981629"/>
            <a:ext cx="7514930" cy="1631216"/>
          </a:xfrm>
          <a:prstGeom prst="rect">
            <a:avLst/>
          </a:prstGeom>
        </p:spPr>
        <p:txBody>
          <a:bodyPr wrap="square">
            <a:spAutoFit/>
          </a:bodyPr>
          <a:lstStyle/>
          <a:p>
            <a:pPr algn="just"/>
            <a:r>
              <a:rPr lang="es-MX" sz="20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2. </a:t>
            </a:r>
            <a:r>
              <a:rPr lang="es-MX" sz="2000" dirty="0">
                <a:latin typeface="Arial" panose="020B0604020202020204" pitchFamily="34" charset="0"/>
                <a:cs typeface="Arial" panose="020B0604020202020204" pitchFamily="34" charset="0"/>
              </a:rPr>
              <a:t>Un puente de acero por las mañanas cuando la temperatura está a los 19°C mantiene una longitud de  130  m  de  largo,  pero  por  la  tarde  registra  un  aumento  en  su  longitud  de  130.022425  metros.  ¿Qué temperatura alcanza dicha longitud?</a:t>
            </a:r>
          </a:p>
        </p:txBody>
      </p:sp>
      <p:pic>
        <p:nvPicPr>
          <p:cNvPr id="13" name="Imagen 12"/>
          <p:cNvPicPr>
            <a:picLocks noChangeAspect="1"/>
          </p:cNvPicPr>
          <p:nvPr/>
        </p:nvPicPr>
        <p:blipFill>
          <a:blip r:embed="rId5"/>
          <a:stretch>
            <a:fillRect/>
          </a:stretch>
        </p:blipFill>
        <p:spPr>
          <a:xfrm>
            <a:off x="8005920" y="2000226"/>
            <a:ext cx="3753374" cy="24101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14</a:t>
            </a:fld>
            <a:endParaRPr lang="es-CO" dirty="0"/>
          </a:p>
        </p:txBody>
      </p:sp>
      <p:sp>
        <p:nvSpPr>
          <p:cNvPr id="4" name="CuadroTexto 3"/>
          <p:cNvSpPr txBox="1"/>
          <p:nvPr/>
        </p:nvSpPr>
        <p:spPr>
          <a:xfrm>
            <a:off x="348338" y="718756"/>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Ley cero de la termodinámica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8" name="CuadroTexto 7"/>
          <p:cNvSpPr txBox="1"/>
          <p:nvPr/>
        </p:nvSpPr>
        <p:spPr>
          <a:xfrm>
            <a:off x="348338" y="1194208"/>
            <a:ext cx="11288139" cy="830997"/>
          </a:xfrm>
          <a:prstGeom prst="rect">
            <a:avLst/>
          </a:prstGeom>
          <a:noFill/>
        </p:spPr>
        <p:txBody>
          <a:bodyPr wrap="square">
            <a:spAutoFit/>
          </a:bodyPr>
          <a:lstStyle/>
          <a:p>
            <a:pPr algn="just"/>
            <a:r>
              <a:rPr lang="es-MX" sz="2400" dirty="0">
                <a:ea typeface="Cambria Math" panose="02040503050406030204" pitchFamily="18" charset="0"/>
                <a:cs typeface="Arial" panose="020B0604020202020204" pitchFamily="34" charset="0"/>
              </a:rPr>
              <a:t>Podemos descubrir una propiedad importante del equilibrio térmico considerando tres sistemas, A, B y C.</a:t>
            </a:r>
            <a:endParaRPr lang="es-MX" sz="2400" dirty="0">
              <a:latin typeface="Arial" panose="020B0604020202020204" pitchFamily="34" charset="0"/>
              <a:cs typeface="Arial" panose="020B0604020202020204" pitchFamily="34" charset="0"/>
            </a:endParaRPr>
          </a:p>
        </p:txBody>
      </p:sp>
      <p:pic>
        <p:nvPicPr>
          <p:cNvPr id="7" name="Imagen 6"/>
          <p:cNvPicPr>
            <a:picLocks noChangeAspect="1"/>
          </p:cNvPicPr>
          <p:nvPr/>
        </p:nvPicPr>
        <p:blipFill>
          <a:blip r:embed="rId2"/>
          <a:stretch>
            <a:fillRect/>
          </a:stretch>
        </p:blipFill>
        <p:spPr>
          <a:xfrm>
            <a:off x="1584392" y="1980961"/>
            <a:ext cx="8846240" cy="3682831"/>
          </a:xfrm>
          <a:prstGeom prst="rect">
            <a:avLst/>
          </a:prstGeom>
        </p:spPr>
      </p:pic>
      <p:sp>
        <p:nvSpPr>
          <p:cNvPr id="13" name="CuadroTexto 12"/>
          <p:cNvSpPr txBox="1"/>
          <p:nvPr/>
        </p:nvSpPr>
        <p:spPr>
          <a:xfrm>
            <a:off x="516195" y="5637451"/>
            <a:ext cx="11002296" cy="830997"/>
          </a:xfrm>
          <a:prstGeom prst="rect">
            <a:avLst/>
          </a:prstGeom>
          <a:noFill/>
        </p:spPr>
        <p:txBody>
          <a:bodyPr wrap="square">
            <a:spAutoFit/>
          </a:bodyPr>
          <a:lstStyle/>
          <a:p>
            <a:pPr algn="just"/>
            <a:r>
              <a:rPr lang="es-MX" sz="2400" i="1" dirty="0">
                <a:effectLst>
                  <a:outerShdw blurRad="38100" dist="38100" dir="2700000" algn="tl">
                    <a:srgbClr val="000000">
                      <a:alpha val="43137"/>
                    </a:srgbClr>
                  </a:outerShdw>
                </a:effectLst>
              </a:rPr>
              <a:t>Si inicialmente C está en equilibrio térmico con A y con B, entonces A y B también están en equilibrio térmico entre sí. Este resultado se llama ley cero de la termodinámica.</a:t>
            </a:r>
            <a:endParaRPr lang="es-CO" sz="2400" i="1" dirty="0">
              <a:effectLst>
                <a:outerShdw blurRad="38100" dist="38100" dir="2700000" algn="tl">
                  <a:srgbClr val="000000">
                    <a:alpha val="43137"/>
                  </a:srgbClr>
                </a:outerShdw>
              </a:effectL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15</a:t>
            </a:fld>
            <a:endParaRPr lang="es-CO" dirty="0"/>
          </a:p>
        </p:txBody>
      </p:sp>
      <p:sp>
        <p:nvSpPr>
          <p:cNvPr id="4" name="CuadroTexto 3"/>
          <p:cNvSpPr txBox="1"/>
          <p:nvPr/>
        </p:nvSpPr>
        <p:spPr>
          <a:xfrm>
            <a:off x="348338" y="718756"/>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Ley cero de la termodinámica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8" name="CuadroTexto 7"/>
          <p:cNvSpPr txBox="1"/>
          <p:nvPr/>
        </p:nvSpPr>
        <p:spPr>
          <a:xfrm>
            <a:off x="348338" y="1194208"/>
            <a:ext cx="11288139" cy="830997"/>
          </a:xfrm>
          <a:prstGeom prst="rect">
            <a:avLst/>
          </a:prstGeom>
          <a:noFill/>
        </p:spPr>
        <p:txBody>
          <a:bodyPr wrap="square">
            <a:spAutoFit/>
          </a:bodyPr>
          <a:lstStyle/>
          <a:p>
            <a:pPr algn="just"/>
            <a:r>
              <a:rPr lang="es-MX" sz="2400" dirty="0">
                <a:ea typeface="Cambria Math" panose="02040503050406030204" pitchFamily="18" charset="0"/>
                <a:cs typeface="Arial" panose="020B0604020202020204" pitchFamily="34" charset="0"/>
              </a:rPr>
              <a:t>Podemos descubrir una propiedad importante del equilibrio térmico considerando tres sistemas, A, B y C.</a:t>
            </a:r>
            <a:endParaRPr lang="es-MX" sz="2400" dirty="0">
              <a:latin typeface="Arial" panose="020B0604020202020204" pitchFamily="34" charset="0"/>
              <a:cs typeface="Arial" panose="020B0604020202020204" pitchFamily="34" charset="0"/>
            </a:endParaRPr>
          </a:p>
        </p:txBody>
      </p:sp>
      <p:pic>
        <p:nvPicPr>
          <p:cNvPr id="7" name="Imagen 6"/>
          <p:cNvPicPr>
            <a:picLocks noChangeAspect="1"/>
          </p:cNvPicPr>
          <p:nvPr/>
        </p:nvPicPr>
        <p:blipFill>
          <a:blip r:embed="rId2"/>
          <a:stretch>
            <a:fillRect/>
          </a:stretch>
        </p:blipFill>
        <p:spPr>
          <a:xfrm>
            <a:off x="1584392" y="1980961"/>
            <a:ext cx="8846240" cy="3682831"/>
          </a:xfrm>
          <a:prstGeom prst="rect">
            <a:avLst/>
          </a:prstGeom>
        </p:spPr>
      </p:pic>
      <p:sp>
        <p:nvSpPr>
          <p:cNvPr id="13" name="CuadroTexto 12"/>
          <p:cNvSpPr txBox="1"/>
          <p:nvPr/>
        </p:nvSpPr>
        <p:spPr>
          <a:xfrm>
            <a:off x="516195" y="5770184"/>
            <a:ext cx="11002296" cy="461665"/>
          </a:xfrm>
          <a:prstGeom prst="rect">
            <a:avLst/>
          </a:prstGeom>
          <a:noFill/>
        </p:spPr>
        <p:txBody>
          <a:bodyPr wrap="square">
            <a:spAutoFit/>
          </a:bodyPr>
          <a:lstStyle/>
          <a:p>
            <a:pPr algn="ctr"/>
            <a:r>
              <a:rPr lang="es-MX" sz="2400" b="1" i="1" dirty="0">
                <a:effectLst>
                  <a:outerShdw blurRad="38100" dist="38100" dir="2700000" algn="tl">
                    <a:srgbClr val="000000">
                      <a:alpha val="43137"/>
                    </a:srgbClr>
                  </a:outerShdw>
                </a:effectLst>
              </a:rPr>
              <a:t>Dos sistemas están en equilibrio térmico si y sólo si tienen la misma temperatura.</a:t>
            </a:r>
            <a:endParaRPr lang="es-CO" sz="2400" b="1" i="1" dirty="0">
              <a:effectLst>
                <a:outerShdw blurRad="38100" dist="38100" dir="2700000" algn="tl">
                  <a:srgbClr val="000000">
                    <a:alpha val="43137"/>
                  </a:srgbClr>
                </a:outerShdw>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16</a:t>
            </a:fld>
            <a:endParaRPr lang="es-CO" dirty="0"/>
          </a:p>
        </p:txBody>
      </p:sp>
      <p:sp>
        <p:nvSpPr>
          <p:cNvPr id="4" name="CuadroTexto 3"/>
          <p:cNvSpPr txBox="1"/>
          <p:nvPr/>
        </p:nvSpPr>
        <p:spPr>
          <a:xfrm>
            <a:off x="348338" y="674512"/>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Concepto de calor (Q)</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CuadroTexto 5"/>
          <p:cNvSpPr txBox="1"/>
          <p:nvPr/>
        </p:nvSpPr>
        <p:spPr>
          <a:xfrm>
            <a:off x="348338" y="1185547"/>
            <a:ext cx="11153804" cy="830997"/>
          </a:xfrm>
          <a:prstGeom prst="rect">
            <a:avLst/>
          </a:prstGeom>
          <a:noFill/>
        </p:spPr>
        <p:txBody>
          <a:bodyPr wrap="square">
            <a:spAutoFit/>
          </a:bodyPr>
          <a:lstStyle/>
          <a:p>
            <a:pPr algn="just"/>
            <a:r>
              <a:rPr lang="es-MX" sz="2400" dirty="0">
                <a:ea typeface="Cambria Math" panose="02040503050406030204" pitchFamily="18" charset="0"/>
                <a:cs typeface="Arial" panose="020B0604020202020204" pitchFamily="34" charset="0"/>
              </a:rPr>
              <a:t>El calor es la transferencia de energía térmica entre cuerpos o partes de un mismo cuerpo que tienen diferentes temperaturas.</a:t>
            </a:r>
            <a:endParaRPr lang="es-CO" sz="2400" dirty="0">
              <a:ea typeface="Cambria Math" panose="02040503050406030204" pitchFamily="18" charset="0"/>
              <a:cs typeface="Arial" panose="020B0604020202020204" pitchFamily="34" charset="0"/>
            </a:endParaRPr>
          </a:p>
        </p:txBody>
      </p:sp>
      <p:sp>
        <p:nvSpPr>
          <p:cNvPr id="8" name="CuadroTexto 7"/>
          <p:cNvSpPr txBox="1"/>
          <p:nvPr/>
        </p:nvSpPr>
        <p:spPr>
          <a:xfrm>
            <a:off x="348338" y="2111032"/>
            <a:ext cx="6666272" cy="4339650"/>
          </a:xfrm>
          <a:prstGeom prst="rect">
            <a:avLst/>
          </a:prstGeom>
          <a:noFill/>
        </p:spPr>
        <p:txBody>
          <a:bodyPr wrap="square">
            <a:spAutoFit/>
          </a:bodyPr>
          <a:lstStyle/>
          <a:p>
            <a:pPr algn="just"/>
            <a:r>
              <a:rPr lang="es-MX" sz="2400" b="1" dirty="0">
                <a:ea typeface="Cambria Math" panose="02040503050406030204" pitchFamily="18" charset="0"/>
                <a:cs typeface="Arial" panose="020B0604020202020204" pitchFamily="34" charset="0"/>
              </a:rPr>
              <a:t>Radiación térmica: </a:t>
            </a:r>
            <a:r>
              <a:rPr lang="es-MX" sz="2400" dirty="0">
                <a:ea typeface="Cambria Math" panose="02040503050406030204" pitchFamily="18" charset="0"/>
                <a:cs typeface="Arial" panose="020B0604020202020204" pitchFamily="34" charset="0"/>
              </a:rPr>
              <a:t>Se propaga a través de ondas electromagnéticas. Todos los cuerpos emiten calor de esta manera, excepto los que están a 0 Kelvin, es decir, a cero absoluto.</a:t>
            </a:r>
          </a:p>
          <a:p>
            <a:pPr algn="just"/>
            <a:endParaRPr lang="es-MX" dirty="0">
              <a:ea typeface="Cambria Math" panose="02040503050406030204" pitchFamily="18" charset="0"/>
              <a:cs typeface="Arial" panose="020B0604020202020204" pitchFamily="34" charset="0"/>
            </a:endParaRPr>
          </a:p>
          <a:p>
            <a:pPr algn="just"/>
            <a:r>
              <a:rPr lang="es-MX" sz="2400" b="1" dirty="0">
                <a:ea typeface="Cambria Math" panose="02040503050406030204" pitchFamily="18" charset="0"/>
                <a:cs typeface="Arial" panose="020B0604020202020204" pitchFamily="34" charset="0"/>
              </a:rPr>
              <a:t>Conducción térmica: </a:t>
            </a:r>
            <a:r>
              <a:rPr lang="es-MX" sz="2400" dirty="0">
                <a:ea typeface="Cambria Math" panose="02040503050406030204" pitchFamily="18" charset="0"/>
                <a:cs typeface="Arial" panose="020B0604020202020204" pitchFamily="34" charset="0"/>
              </a:rPr>
              <a:t>Se transmite por la agitación de las moléculas, lo que provoca que los cuerpos se dilaten, los sólidos se fundan y los líquidos se evaporen.</a:t>
            </a:r>
          </a:p>
          <a:p>
            <a:pPr algn="just"/>
            <a:endParaRPr lang="es-MX" dirty="0">
              <a:ea typeface="Cambria Math" panose="02040503050406030204" pitchFamily="18" charset="0"/>
              <a:cs typeface="Arial" panose="020B0604020202020204" pitchFamily="34" charset="0"/>
            </a:endParaRPr>
          </a:p>
          <a:p>
            <a:pPr algn="just"/>
            <a:r>
              <a:rPr lang="es-MX" sz="2400" b="1" dirty="0">
                <a:ea typeface="Cambria Math" panose="02040503050406030204" pitchFamily="18" charset="0"/>
                <a:cs typeface="Arial" panose="020B0604020202020204" pitchFamily="34" charset="0"/>
              </a:rPr>
              <a:t>Convección térmica: </a:t>
            </a:r>
            <a:r>
              <a:rPr lang="es-MX" sz="2400" dirty="0">
                <a:ea typeface="Cambria Math" panose="02040503050406030204" pitchFamily="18" charset="0"/>
                <a:cs typeface="Arial" panose="020B0604020202020204" pitchFamily="34" charset="0"/>
              </a:rPr>
              <a:t>Se transfiere por el movimiento de un fluido, como un líquido o un gas. </a:t>
            </a:r>
          </a:p>
        </p:txBody>
      </p:sp>
      <p:pic>
        <p:nvPicPr>
          <p:cNvPr id="9218" name="Picture 2" descr="Radiación, conducción y convección: tres formas de transferencia de cal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3606" y="2402458"/>
            <a:ext cx="4340048" cy="36859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17</a:t>
            </a:fld>
            <a:endParaRPr lang="es-CO" dirty="0"/>
          </a:p>
        </p:txBody>
      </p:sp>
      <p:sp>
        <p:nvSpPr>
          <p:cNvPr id="4" name="CuadroTexto 3"/>
          <p:cNvSpPr txBox="1"/>
          <p:nvPr/>
        </p:nvSpPr>
        <p:spPr>
          <a:xfrm>
            <a:off x="348338" y="674512"/>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Calor específico</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CuadroTexto 5"/>
          <p:cNvSpPr txBox="1"/>
          <p:nvPr/>
        </p:nvSpPr>
        <p:spPr>
          <a:xfrm>
            <a:off x="348338" y="1259287"/>
            <a:ext cx="11302888" cy="830997"/>
          </a:xfrm>
          <a:prstGeom prst="rect">
            <a:avLst/>
          </a:prstGeom>
          <a:noFill/>
        </p:spPr>
        <p:txBody>
          <a:bodyPr wrap="square">
            <a:spAutoFit/>
          </a:bodyPr>
          <a:lstStyle/>
          <a:p>
            <a:pPr algn="just"/>
            <a:r>
              <a:rPr lang="es-MX" sz="2400" dirty="0"/>
              <a:t>Es la cantidad de calor que se requiere para que una unidad de una sustancia incremente su temperatura en una unidad de grado Celsius.</a:t>
            </a:r>
          </a:p>
        </p:txBody>
      </p:sp>
      <p:sp>
        <p:nvSpPr>
          <p:cNvPr id="8" name="CuadroTexto 7"/>
          <p:cNvSpPr txBox="1"/>
          <p:nvPr/>
        </p:nvSpPr>
        <p:spPr>
          <a:xfrm>
            <a:off x="348337" y="2190379"/>
            <a:ext cx="11302887" cy="1200329"/>
          </a:xfrm>
          <a:prstGeom prst="rect">
            <a:avLst/>
          </a:prstGeom>
          <a:noFill/>
        </p:spPr>
        <p:txBody>
          <a:bodyPr wrap="square">
            <a:spAutoFit/>
          </a:bodyPr>
          <a:lstStyle/>
          <a:p>
            <a:pPr algn="just"/>
            <a:r>
              <a:rPr lang="es-MX" sz="2400" dirty="0"/>
              <a:t>El calor específico varía de acuerdo con el estado físico de la materia, es decir, es distinto si la materia se encuentra en estado sólido, líquido o gaseoso porque su particular estructura-molecular incide en la transmisión del calor dentro del sistema de partículas.</a:t>
            </a:r>
          </a:p>
        </p:txBody>
      </p:sp>
      <mc:AlternateContent xmlns:mc="http://schemas.openxmlformats.org/markup-compatibility/2006" xmlns:a14="http://schemas.microsoft.com/office/drawing/2010/main">
        <mc:Choice Requires="a14">
          <p:sp>
            <p:nvSpPr>
              <p:cNvPr id="9" name="CuadroTexto 8"/>
              <p:cNvSpPr txBox="1"/>
              <p:nvPr/>
            </p:nvSpPr>
            <p:spPr>
              <a:xfrm>
                <a:off x="2194149" y="3696251"/>
                <a:ext cx="2236253" cy="430887"/>
              </a:xfrm>
              <a:prstGeom prst="rect">
                <a:avLst/>
              </a:prstGeom>
              <a:noFill/>
            </p:spPr>
            <p:txBody>
              <a:bodyPr wrap="none" lIns="0" tIns="0" rIns="0" bIns="0" rtlCol="0">
                <a:spAutoFit/>
              </a:bodyPr>
              <a:lstStyle/>
              <a:p>
                <a14:m>
                  <m:oMath xmlns:m="http://schemas.openxmlformats.org/officeDocument/2006/math">
                    <m:r>
                      <a:rPr lang="es-MX" sz="2800" i="1" smtClean="0">
                        <a:effectLst>
                          <a:outerShdw blurRad="38100" dist="38100" dir="2700000" algn="tl">
                            <a:srgbClr val="000000">
                              <a:alpha val="43137"/>
                            </a:srgbClr>
                          </a:outerShdw>
                        </a:effectLst>
                        <a:latin typeface="Cambria Math" panose="02040503050406030204" pitchFamily="18" charset="0"/>
                      </a:rPr>
                      <m:t>𝑄</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𝑚𝑐</m:t>
                    </m:r>
                    <m:r>
                      <m:rPr>
                        <m:sty m:val="p"/>
                      </m:rPr>
                      <a:rPr lang="el-GR" sz="2800" b="0" i="1" smtClean="0">
                        <a:effectLst>
                          <a:outerShdw blurRad="38100" dist="38100" dir="2700000" algn="tl">
                            <a:srgbClr val="000000">
                              <a:alpha val="43137"/>
                            </a:srgbClr>
                          </a:outerShdw>
                        </a:effectLst>
                        <a:latin typeface="Cambria Math" panose="02040503050406030204" pitchFamily="18" charset="0"/>
                      </a:rPr>
                      <m:t>Δ</m:t>
                    </m:r>
                  </m:oMath>
                </a14:m>
                <a:r>
                  <a:rPr lang="es-CO" sz="2800" dirty="0">
                    <a:effectLst>
                      <a:outerShdw blurRad="38100" dist="38100" dir="2700000" algn="tl">
                        <a:srgbClr val="000000">
                          <a:alpha val="43137"/>
                        </a:srgbClr>
                      </a:outerShdw>
                    </a:effectLst>
                  </a:rPr>
                  <a:t>T    [J]</a:t>
                </a:r>
              </a:p>
            </p:txBody>
          </p:sp>
        </mc:Choice>
        <mc:Fallback xmlns="">
          <p:sp>
            <p:nvSpPr>
              <p:cNvPr id="9" name="CuadroTexto 8"/>
              <p:cNvSpPr txBox="1">
                <a:spLocks noRot="1" noChangeAspect="1" noMove="1" noResize="1" noEditPoints="1" noAdjustHandles="1" noChangeArrowheads="1" noChangeShapeType="1" noTextEdit="1"/>
              </p:cNvSpPr>
              <p:nvPr/>
            </p:nvSpPr>
            <p:spPr>
              <a:xfrm>
                <a:off x="2194149" y="3696251"/>
                <a:ext cx="2236253" cy="430887"/>
              </a:xfrm>
              <a:prstGeom prst="rect">
                <a:avLst/>
              </a:prstGeom>
              <a:blipFill rotWithShape="1">
                <a:blip r:embed="rId2"/>
                <a:stretch>
                  <a:fillRect l="-10" t="-1012" r="-2300" b="63"/>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0" name="CuadroTexto 9"/>
              <p:cNvSpPr txBox="1"/>
              <p:nvPr/>
            </p:nvSpPr>
            <p:spPr>
              <a:xfrm>
                <a:off x="491087" y="4543623"/>
                <a:ext cx="5642378" cy="369332"/>
              </a:xfrm>
              <a:prstGeom prst="rect">
                <a:avLst/>
              </a:prstGeom>
              <a:noFill/>
            </p:spPr>
            <p:txBody>
              <a:bodyPr wrap="none" lIns="0" tIns="0" rIns="0" bIns="0" rtlCol="0">
                <a:spAutoFit/>
              </a:bodyPr>
              <a:lstStyle/>
              <a:p>
                <a14:m>
                  <m:oMath xmlns:m="http://schemas.openxmlformats.org/officeDocument/2006/math">
                    <m:r>
                      <a:rPr lang="es-MX" sz="2400" i="1" smtClean="0">
                        <a:effectLst>
                          <a:outerShdw blurRad="38100" dist="38100" dir="2700000" algn="tl">
                            <a:srgbClr val="000000">
                              <a:alpha val="43137"/>
                            </a:srgbClr>
                          </a:outerShdw>
                        </a:effectLst>
                        <a:latin typeface="Cambria Math" panose="02040503050406030204" pitchFamily="18" charset="0"/>
                      </a:rPr>
                      <m:t>𝑐</m:t>
                    </m:r>
                  </m:oMath>
                </a14:m>
                <a:r>
                  <a:rPr lang="es-CO" sz="2400" dirty="0">
                    <a:effectLst>
                      <a:outerShdw blurRad="38100" dist="38100" dir="2700000" algn="tl">
                        <a:srgbClr val="000000">
                          <a:alpha val="43137"/>
                        </a:srgbClr>
                      </a:outerShdw>
                    </a:effectLst>
                  </a:rPr>
                  <a:t> </a:t>
                </a:r>
                <a:r>
                  <a:rPr lang="es-CO" sz="2400" dirty="0"/>
                  <a:t>corresponde al calor especifico del material</a:t>
                </a:r>
              </a:p>
            </p:txBody>
          </p:sp>
        </mc:Choice>
        <mc:Fallback xmlns="">
          <p:sp>
            <p:nvSpPr>
              <p:cNvPr id="10" name="CuadroTexto 9"/>
              <p:cNvSpPr txBox="1">
                <a:spLocks noRot="1" noChangeAspect="1" noMove="1" noResize="1" noEditPoints="1" noAdjustHandles="1" noChangeArrowheads="1" noChangeShapeType="1" noTextEdit="1"/>
              </p:cNvSpPr>
              <p:nvPr/>
            </p:nvSpPr>
            <p:spPr>
              <a:xfrm>
                <a:off x="491087" y="4543623"/>
                <a:ext cx="5642378" cy="369332"/>
              </a:xfrm>
              <a:prstGeom prst="rect">
                <a:avLst/>
              </a:prstGeom>
              <a:blipFill rotWithShape="1">
                <a:blip r:embed="rId3"/>
                <a:stretch>
                  <a:fillRect l="-4" t="-913" r="-124" b="161"/>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484915" y="5139646"/>
                <a:ext cx="4754763" cy="369332"/>
              </a:xfrm>
              <a:prstGeom prst="rect">
                <a:avLst/>
              </a:prstGeom>
              <a:noFill/>
            </p:spPr>
            <p:txBody>
              <a:bodyPr wrap="none" lIns="0" tIns="0" rIns="0" bIns="0" rtlCol="0">
                <a:spAutoFit/>
              </a:bodyPr>
              <a:lstStyle/>
              <a:p>
                <a:r>
                  <a:rPr lang="es-CO" sz="2400" dirty="0"/>
                  <a:t>Unidades del calor especifico: </a:t>
                </a:r>
                <a14:m>
                  <m:oMath xmlns:m="http://schemas.openxmlformats.org/officeDocument/2006/math">
                    <m:r>
                      <m:rPr>
                        <m:sty m:val="p"/>
                      </m:rPr>
                      <a:rPr lang="es-CO" sz="2400" dirty="0">
                        <a:latin typeface="Cambria Math" panose="02040503050406030204" pitchFamily="18" charset="0"/>
                      </a:rPr>
                      <m:t>J</m:t>
                    </m:r>
                    <m:r>
                      <a:rPr lang="es-CO" sz="2400" i="0" dirty="0" smtClean="0">
                        <a:latin typeface="Cambria Math" panose="02040503050406030204" pitchFamily="18" charset="0"/>
                      </a:rPr>
                      <m:t>/</m:t>
                    </m:r>
                    <m:r>
                      <m:rPr>
                        <m:sty m:val="p"/>
                      </m:rPr>
                      <a:rPr lang="es-CO" sz="2400" i="0" dirty="0" err="1" smtClean="0">
                        <a:latin typeface="Cambria Math" panose="02040503050406030204" pitchFamily="18" charset="0"/>
                      </a:rPr>
                      <m:t>kg</m:t>
                    </m:r>
                    <m:r>
                      <a:rPr lang="es-CO" sz="2400" i="1" dirty="0" smtClean="0">
                        <a:latin typeface="Cambria Math" panose="02040503050406030204" pitchFamily="18" charset="0"/>
                        <a:ea typeface="Cambria Math" panose="02040503050406030204" pitchFamily="18" charset="0"/>
                      </a:rPr>
                      <m:t>∙</m:t>
                    </m:r>
                    <m:r>
                      <m:rPr>
                        <m:sty m:val="p"/>
                      </m:rPr>
                      <a:rPr lang="es-CO" sz="2400" i="0" dirty="0" err="1" smtClean="0">
                        <a:latin typeface="Cambria Math" panose="02040503050406030204" pitchFamily="18" charset="0"/>
                      </a:rPr>
                      <m:t>K</m:t>
                    </m:r>
                  </m:oMath>
                </a14:m>
                <a:endParaRPr lang="es-CO" sz="24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484915" y="5139646"/>
                <a:ext cx="4754763" cy="369332"/>
              </a:xfrm>
              <a:prstGeom prst="rect">
                <a:avLst/>
              </a:prstGeom>
              <a:blipFill rotWithShape="1">
                <a:blip r:embed="rId4"/>
                <a:stretch>
                  <a:fillRect l="-9" t="-1020" r="-261" b="96"/>
                </a:stretch>
              </a:blipFill>
            </p:spPr>
            <p:txBody>
              <a:bodyPr/>
              <a:lstStyle/>
              <a:p>
                <a:r>
                  <a:rPr lang="es-ES" altLang="en-US">
                    <a:noFill/>
                  </a:rPr>
                  <a:t> </a:t>
                </a:r>
              </a:p>
            </p:txBody>
          </p:sp>
        </mc:Fallback>
      </mc:AlternateContent>
      <p:pic>
        <p:nvPicPr>
          <p:cNvPr id="13" name="Imagen 12"/>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rcRect t="23680"/>
          <a:stretch>
            <a:fillRect/>
          </a:stretch>
        </p:blipFill>
        <p:spPr>
          <a:xfrm>
            <a:off x="7373257" y="3458980"/>
            <a:ext cx="3810532" cy="2973630"/>
          </a:xfrm>
          <a:prstGeom prst="rect">
            <a:avLst/>
          </a:prstGeom>
        </p:spPr>
      </p:pic>
      <p:sp>
        <p:nvSpPr>
          <p:cNvPr id="15" name="CuadroTexto 14"/>
          <p:cNvSpPr txBox="1"/>
          <p:nvPr/>
        </p:nvSpPr>
        <p:spPr>
          <a:xfrm>
            <a:off x="8831826" y="3532432"/>
            <a:ext cx="3040624" cy="646331"/>
          </a:xfrm>
          <a:prstGeom prst="rect">
            <a:avLst/>
          </a:prstGeom>
          <a:noFill/>
        </p:spPr>
        <p:txBody>
          <a:bodyPr wrap="square">
            <a:spAutoFit/>
          </a:bodyPr>
          <a:lstStyle/>
          <a:p>
            <a:pPr algn="just"/>
            <a:r>
              <a:rPr lang="es-MX" dirty="0">
                <a:effectLst>
                  <a:outerShdw blurRad="38100" dist="38100" dir="2700000" algn="tl">
                    <a:srgbClr val="000000">
                      <a:alpha val="43137"/>
                    </a:srgbClr>
                  </a:outerShdw>
                </a:effectLst>
              </a:rPr>
              <a:t>Capacidad calorífica del agua en </a:t>
            </a:r>
            <a:r>
              <a:rPr lang="es-CO" dirty="0">
                <a:effectLst>
                  <a:outerShdw blurRad="38100" dist="38100" dir="2700000" algn="tl">
                    <a:srgbClr val="000000">
                      <a:alpha val="43137"/>
                    </a:srgbClr>
                  </a:outerShdw>
                </a:effectLst>
              </a:rPr>
              <a:t>función de la temperatura.</a:t>
            </a:r>
          </a:p>
        </p:txBody>
      </p:sp>
      <p:cxnSp>
        <p:nvCxnSpPr>
          <p:cNvPr id="16" name="Conector recto 15"/>
          <p:cNvCxnSpPr/>
          <p:nvPr/>
        </p:nvCxnSpPr>
        <p:spPr>
          <a:xfrm>
            <a:off x="7289072" y="3514740"/>
            <a:ext cx="0" cy="284530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18</a:t>
            </a:fld>
            <a:endParaRPr lang="es-CO" dirty="0"/>
          </a:p>
        </p:txBody>
      </p:sp>
      <p:sp>
        <p:nvSpPr>
          <p:cNvPr id="4" name="CuadroTexto 3"/>
          <p:cNvSpPr txBox="1"/>
          <p:nvPr/>
        </p:nvSpPr>
        <p:spPr>
          <a:xfrm>
            <a:off x="348338" y="674512"/>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Calor específico</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pSp>
        <p:nvGrpSpPr>
          <p:cNvPr id="14" name="Grupo 13"/>
          <p:cNvGrpSpPr/>
          <p:nvPr/>
        </p:nvGrpSpPr>
        <p:grpSpPr>
          <a:xfrm>
            <a:off x="436826" y="1259287"/>
            <a:ext cx="11155404" cy="5093839"/>
            <a:chOff x="348338" y="1259287"/>
            <a:chExt cx="11155404" cy="5093839"/>
          </a:xfrm>
        </p:grpSpPr>
        <p:pic>
          <p:nvPicPr>
            <p:cNvPr id="7" name="Imagen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48338" y="1259287"/>
              <a:ext cx="11155404" cy="5093839"/>
            </a:xfrm>
            <a:prstGeom prst="rect">
              <a:avLst/>
            </a:prstGeom>
          </p:spPr>
        </p:pic>
        <p:sp>
          <p:nvSpPr>
            <p:cNvPr id="12" name="Rectángulo 11"/>
            <p:cNvSpPr/>
            <p:nvPr/>
          </p:nvSpPr>
          <p:spPr>
            <a:xfrm>
              <a:off x="501445" y="1259287"/>
              <a:ext cx="1592826" cy="3187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smtClean="0"/>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19</a:t>
            </a:fld>
            <a:endParaRPr lang="es-CO" dirty="0"/>
          </a:p>
        </p:txBody>
      </p:sp>
      <p:sp>
        <p:nvSpPr>
          <p:cNvPr id="4" name="CuadroTexto 3"/>
          <p:cNvSpPr txBox="1"/>
          <p:nvPr/>
        </p:nvSpPr>
        <p:spPr>
          <a:xfrm>
            <a:off x="139337" y="522515"/>
            <a:ext cx="2157129" cy="584775"/>
          </a:xfrm>
          <a:prstGeom prst="rect">
            <a:avLst/>
          </a:prstGeom>
          <a:noFill/>
        </p:spPr>
        <p:txBody>
          <a:bodyPr wrap="none" rtlCol="0">
            <a:spAutoFit/>
          </a:bodyPr>
          <a:lstStyle/>
          <a:p>
            <a:r>
              <a:rPr lang="es-CO" sz="3200" b="1" dirty="0" smtClean="0">
                <a:solidFill>
                  <a:srgbClr val="FF0000"/>
                </a:solidFill>
              </a:rPr>
              <a:t>EJEMPLO 6:</a:t>
            </a:r>
            <a:endParaRPr lang="es-CO" sz="3200" b="1" dirty="0">
              <a:solidFill>
                <a:srgbClr val="FF0000"/>
              </a:solidFill>
            </a:endParaRPr>
          </a:p>
        </p:txBody>
      </p:sp>
      <p:pic>
        <p:nvPicPr>
          <p:cNvPr id="5" name="Imagen 4"/>
          <p:cNvPicPr>
            <a:picLocks noChangeAspect="1"/>
          </p:cNvPicPr>
          <p:nvPr/>
        </p:nvPicPr>
        <p:blipFill>
          <a:blip r:embed="rId2"/>
          <a:stretch>
            <a:fillRect/>
          </a:stretch>
        </p:blipFill>
        <p:spPr>
          <a:xfrm>
            <a:off x="279285" y="1107290"/>
            <a:ext cx="6843713" cy="1352550"/>
          </a:xfrm>
          <a:prstGeom prst="rect">
            <a:avLst/>
          </a:prstGeom>
          <a:noFill/>
          <a:ln w="9525">
            <a:noFill/>
          </a:ln>
        </p:spPr>
      </p:pic>
      <p:pic>
        <p:nvPicPr>
          <p:cNvPr id="6" name="Picture 2" descr="Resultado de imagen para hombre con fiebre ANIMADO"/>
          <p:cNvPicPr>
            <a:picLocks noChangeAspect="1"/>
          </p:cNvPicPr>
          <p:nvPr/>
        </p:nvPicPr>
        <p:blipFill>
          <a:blip r:embed="rId3"/>
          <a:stretch>
            <a:fillRect/>
          </a:stretch>
        </p:blipFill>
        <p:spPr>
          <a:xfrm>
            <a:off x="8386354" y="397623"/>
            <a:ext cx="3048000" cy="3049587"/>
          </a:xfrm>
          <a:prstGeom prst="rect">
            <a:avLst/>
          </a:prstGeom>
          <a:noFill/>
          <a:ln w="9525">
            <a:noFill/>
          </a:ln>
        </p:spPr>
      </p:pic>
    </p:spTree>
    <p:extLst>
      <p:ext uri="{BB962C8B-B14F-4D97-AF65-F5344CB8AC3E}">
        <p14:creationId xmlns:p14="http://schemas.microsoft.com/office/powerpoint/2010/main" val="882806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20</a:t>
            </a:fld>
            <a:endParaRPr lang="es-CO" dirty="0"/>
          </a:p>
        </p:txBody>
      </p:sp>
      <p:sp>
        <p:nvSpPr>
          <p:cNvPr id="4" name="CuadroTexto 3"/>
          <p:cNvSpPr txBox="1"/>
          <p:nvPr/>
        </p:nvSpPr>
        <p:spPr>
          <a:xfrm>
            <a:off x="348338" y="674512"/>
            <a:ext cx="7024919"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Calorimetría </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CuadroTexto 5"/>
          <p:cNvSpPr txBox="1"/>
          <p:nvPr/>
        </p:nvSpPr>
        <p:spPr>
          <a:xfrm>
            <a:off x="348337" y="1367134"/>
            <a:ext cx="11184901" cy="1569660"/>
          </a:xfrm>
          <a:prstGeom prst="rect">
            <a:avLst/>
          </a:prstGeom>
          <a:noFill/>
        </p:spPr>
        <p:txBody>
          <a:bodyPr wrap="square">
            <a:spAutoFit/>
          </a:bodyPr>
          <a:lstStyle/>
          <a:p>
            <a:pPr algn="just"/>
            <a:r>
              <a:rPr lang="es-MX" sz="2400" dirty="0"/>
              <a:t>Es una técnica para medir el calor específico que involucra el calentamiento de una muestra en alguna temperatura conocida al colocarla en un recipiente que contenga agua de masa conocida  para de esta manera medir la temperatura del agua después de que se logra el equilibrio. </a:t>
            </a:r>
            <a:endParaRPr lang="es-CO" sz="2400" dirty="0"/>
          </a:p>
        </p:txBody>
      </p:sp>
      <p:pic>
        <p:nvPicPr>
          <p:cNvPr id="12290" name="Picture 2" descr="Calorímetro de presión constante - Labs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3401" y="2559440"/>
            <a:ext cx="3200400" cy="398687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uadroTexto 6"/>
              <p:cNvSpPr txBox="1"/>
              <p:nvPr/>
            </p:nvSpPr>
            <p:spPr>
              <a:xfrm>
                <a:off x="2590798" y="3260648"/>
                <a:ext cx="2895601" cy="4653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80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𝑄</m:t>
                          </m:r>
                        </m:e>
                        <m:sub>
                          <m:r>
                            <a:rPr lang="es-MX" sz="2800" b="0" i="1" smtClean="0">
                              <a:effectLst>
                                <a:outerShdw blurRad="38100" dist="38100" dir="2700000" algn="tl">
                                  <a:srgbClr val="000000">
                                    <a:alpha val="43137"/>
                                  </a:srgbClr>
                                </a:outerShdw>
                              </a:effectLst>
                              <a:latin typeface="Cambria Math" panose="02040503050406030204" pitchFamily="18" charset="0"/>
                            </a:rPr>
                            <m:t>𝑓𝑟</m:t>
                          </m:r>
                          <m:r>
                            <a:rPr lang="es-MX" sz="2800" b="0" i="1" smtClean="0">
                              <a:effectLst>
                                <a:outerShdw blurRad="38100" dist="38100" dir="2700000" algn="tl">
                                  <a:srgbClr val="000000">
                                    <a:alpha val="43137"/>
                                  </a:srgbClr>
                                </a:outerShdw>
                              </a:effectLst>
                              <a:latin typeface="Cambria Math" panose="02040503050406030204" pitchFamily="18" charset="0"/>
                            </a:rPr>
                            <m:t>í</m:t>
                          </m:r>
                          <m:r>
                            <a:rPr lang="es-MX" sz="2800" b="0" i="1" smtClean="0">
                              <a:effectLst>
                                <a:outerShdw blurRad="38100" dist="38100" dir="2700000" algn="tl">
                                  <a:srgbClr val="000000">
                                    <a:alpha val="43137"/>
                                  </a:srgbClr>
                                </a:outerShdw>
                              </a:effectLst>
                              <a:latin typeface="Cambria Math" panose="02040503050406030204" pitchFamily="18" charset="0"/>
                            </a:rPr>
                            <m:t>𝑜</m:t>
                          </m:r>
                        </m:sub>
                      </m:sSub>
                      <m:r>
                        <a:rPr lang="es-MX" sz="2800" b="0" i="1" smtClean="0">
                          <a:effectLst>
                            <a:outerShdw blurRad="38100" dist="38100" dir="2700000" algn="tl">
                              <a:srgbClr val="000000">
                                <a:alpha val="43137"/>
                              </a:srgbClr>
                            </a:outerShdw>
                          </a:effectLst>
                          <a:latin typeface="Cambria Math" panose="02040503050406030204" pitchFamily="18" charset="0"/>
                        </a:rPr>
                        <m:t>=−</m:t>
                      </m:r>
                      <m:sSub>
                        <m:sSubPr>
                          <m:ctrlPr>
                            <a:rPr lang="es-MX" sz="2800" i="1">
                              <a:effectLst>
                                <a:outerShdw blurRad="38100" dist="38100" dir="2700000" algn="tl">
                                  <a:srgbClr val="000000">
                                    <a:alpha val="43137"/>
                                  </a:srgbClr>
                                </a:outerShdw>
                              </a:effectLst>
                              <a:latin typeface="Cambria Math" panose="02040503050406030204" pitchFamily="18" charset="0"/>
                            </a:rPr>
                          </m:ctrlPr>
                        </m:sSubPr>
                        <m:e>
                          <m:r>
                            <a:rPr lang="es-MX" sz="2800" i="1">
                              <a:effectLst>
                                <a:outerShdw blurRad="38100" dist="38100" dir="2700000" algn="tl">
                                  <a:srgbClr val="000000">
                                    <a:alpha val="43137"/>
                                  </a:srgbClr>
                                </a:outerShdw>
                              </a:effectLst>
                              <a:latin typeface="Cambria Math" panose="02040503050406030204" pitchFamily="18" charset="0"/>
                            </a:rPr>
                            <m:t>𝑄</m:t>
                          </m:r>
                        </m:e>
                        <m:sub>
                          <m:r>
                            <a:rPr lang="es-MX" sz="2800" b="0" i="1" smtClean="0">
                              <a:effectLst>
                                <a:outerShdw blurRad="38100" dist="38100" dir="2700000" algn="tl">
                                  <a:srgbClr val="000000">
                                    <a:alpha val="43137"/>
                                  </a:srgbClr>
                                </a:outerShdw>
                              </a:effectLst>
                              <a:latin typeface="Cambria Math" panose="02040503050406030204" pitchFamily="18" charset="0"/>
                            </a:rPr>
                            <m:t>𝑐𝑎𝑙𝑖𝑒𝑛𝑡𝑒</m:t>
                          </m:r>
                        </m:sub>
                      </m:sSub>
                    </m:oMath>
                  </m:oMathPara>
                </a14:m>
                <a:endParaRPr lang="es-CO" sz="2800" dirty="0">
                  <a:effectLst>
                    <a:outerShdw blurRad="38100" dist="38100" dir="2700000" algn="tl">
                      <a:srgbClr val="000000">
                        <a:alpha val="43137"/>
                      </a:srgbClr>
                    </a:outerShdw>
                  </a:effectLst>
                </a:endParaRPr>
              </a:p>
            </p:txBody>
          </p:sp>
        </mc:Choice>
        <mc:Fallback xmlns="">
          <p:sp>
            <p:nvSpPr>
              <p:cNvPr id="7" name="CuadroTexto 6"/>
              <p:cNvSpPr txBox="1">
                <a:spLocks noRot="1" noChangeAspect="1" noMove="1" noResize="1" noEditPoints="1" noAdjustHandles="1" noChangeArrowheads="1" noChangeShapeType="1" noTextEdit="1"/>
              </p:cNvSpPr>
              <p:nvPr/>
            </p:nvSpPr>
            <p:spPr>
              <a:xfrm>
                <a:off x="2590798" y="3260648"/>
                <a:ext cx="2895601" cy="465384"/>
              </a:xfrm>
              <a:prstGeom prst="rect">
                <a:avLst/>
              </a:prstGeom>
              <a:blipFill rotWithShape="1">
                <a:blip r:embed="rId3"/>
                <a:stretch>
                  <a:fillRect l="-22" t="-120" r="-197" b="105"/>
                </a:stretch>
              </a:blipFill>
            </p:spPr>
            <p:txBody>
              <a:bodyPr/>
              <a:lstStyle/>
              <a:p>
                <a:r>
                  <a:rPr lang="es-ES" altLang="en-US">
                    <a:noFill/>
                  </a:rPr>
                  <a:t> </a:t>
                </a:r>
              </a:p>
            </p:txBody>
          </p:sp>
        </mc:Fallback>
      </mc:AlternateContent>
      <p:cxnSp>
        <p:nvCxnSpPr>
          <p:cNvPr id="8" name="Conector recto 7"/>
          <p:cNvCxnSpPr/>
          <p:nvPr/>
        </p:nvCxnSpPr>
        <p:spPr>
          <a:xfrm>
            <a:off x="7937999" y="2630888"/>
            <a:ext cx="0" cy="3787105"/>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CuadroTexto 8"/>
              <p:cNvSpPr txBox="1"/>
              <p:nvPr/>
            </p:nvSpPr>
            <p:spPr>
              <a:xfrm>
                <a:off x="333098" y="4087239"/>
                <a:ext cx="7411003" cy="3994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400" i="1" smtClean="0">
                              <a:effectLst>
                                <a:outerShdw blurRad="38100" dist="38100" dir="2700000" algn="tl">
                                  <a:srgbClr val="000000">
                                    <a:alpha val="43137"/>
                                  </a:srgbClr>
                                </a:outerShdw>
                              </a:effectLst>
                              <a:latin typeface="Cambria Math" panose="02040503050406030204" pitchFamily="18" charset="0"/>
                            </a:rPr>
                          </m:ctrlPr>
                        </m:sSubPr>
                        <m:e>
                          <m:r>
                            <a:rPr lang="es-MX" sz="2400" b="0" i="1" smtClean="0">
                              <a:effectLst>
                                <a:outerShdw blurRad="38100" dist="38100" dir="2700000" algn="tl">
                                  <a:srgbClr val="000000">
                                    <a:alpha val="43137"/>
                                  </a:srgbClr>
                                </a:outerShdw>
                              </a:effectLst>
                              <a:latin typeface="Cambria Math" panose="02040503050406030204" pitchFamily="18" charset="0"/>
                            </a:rPr>
                            <m:t>𝑚</m:t>
                          </m:r>
                        </m:e>
                        <m:sub>
                          <m:r>
                            <a:rPr lang="es-MX" sz="2400" b="0" i="1" smtClean="0">
                              <a:effectLst>
                                <a:outerShdw blurRad="38100" dist="38100" dir="2700000" algn="tl">
                                  <a:srgbClr val="000000">
                                    <a:alpha val="43137"/>
                                  </a:srgbClr>
                                </a:outerShdw>
                              </a:effectLst>
                              <a:latin typeface="Cambria Math" panose="02040503050406030204" pitchFamily="18" charset="0"/>
                            </a:rPr>
                            <m:t>𝑎𝑔𝑢𝑎</m:t>
                          </m:r>
                        </m:sub>
                      </m:sSub>
                      <m:sSub>
                        <m:sSubPr>
                          <m:ctrlPr>
                            <a:rPr lang="es-MX" sz="2400" i="1" smtClean="0">
                              <a:effectLst>
                                <a:outerShdw blurRad="38100" dist="38100" dir="2700000" algn="tl">
                                  <a:srgbClr val="000000">
                                    <a:alpha val="43137"/>
                                  </a:srgbClr>
                                </a:outerShdw>
                              </a:effectLst>
                              <a:latin typeface="Cambria Math" panose="02040503050406030204" pitchFamily="18" charset="0"/>
                            </a:rPr>
                          </m:ctrlPr>
                        </m:sSubPr>
                        <m:e>
                          <m:r>
                            <a:rPr lang="es-MX" sz="2400" b="0" i="1" smtClean="0">
                              <a:effectLst>
                                <a:outerShdw blurRad="38100" dist="38100" dir="2700000" algn="tl">
                                  <a:srgbClr val="000000">
                                    <a:alpha val="43137"/>
                                  </a:srgbClr>
                                </a:outerShdw>
                              </a:effectLst>
                              <a:latin typeface="Cambria Math" panose="02040503050406030204" pitchFamily="18" charset="0"/>
                            </a:rPr>
                            <m:t>𝑐</m:t>
                          </m:r>
                        </m:e>
                        <m:sub>
                          <m:r>
                            <a:rPr lang="es-MX" sz="2400" b="0" i="1" smtClean="0">
                              <a:effectLst>
                                <a:outerShdw blurRad="38100" dist="38100" dir="2700000" algn="tl">
                                  <a:srgbClr val="000000">
                                    <a:alpha val="43137"/>
                                  </a:srgbClr>
                                </a:outerShdw>
                              </a:effectLst>
                              <a:latin typeface="Cambria Math" panose="02040503050406030204" pitchFamily="18" charset="0"/>
                            </a:rPr>
                            <m:t>𝑎𝑔𝑢𝑎</m:t>
                          </m:r>
                        </m:sub>
                      </m:sSub>
                      <m:r>
                        <a:rPr lang="es-MX" sz="2400" b="0" i="1" smtClean="0">
                          <a:effectLst>
                            <a:outerShdw blurRad="38100" dist="38100" dir="2700000" algn="tl">
                              <a:srgbClr val="000000">
                                <a:alpha val="43137"/>
                              </a:srgbClr>
                            </a:outerShdw>
                          </a:effectLst>
                          <a:latin typeface="Cambria Math" panose="02040503050406030204" pitchFamily="18" charset="0"/>
                        </a:rPr>
                        <m:t>(</m:t>
                      </m:r>
                      <m:sSub>
                        <m:sSubPr>
                          <m:ctrlPr>
                            <a:rPr lang="es-MX" sz="2400" b="0" i="1" smtClean="0">
                              <a:effectLst>
                                <a:outerShdw blurRad="38100" dist="38100" dir="2700000" algn="tl">
                                  <a:srgbClr val="000000">
                                    <a:alpha val="43137"/>
                                  </a:srgbClr>
                                </a:outerShdw>
                              </a:effectLst>
                              <a:latin typeface="Cambria Math" panose="02040503050406030204" pitchFamily="18" charset="0"/>
                            </a:rPr>
                          </m:ctrlPr>
                        </m:sSubPr>
                        <m:e>
                          <m:r>
                            <a:rPr lang="es-MX" sz="2400" b="0" i="1" smtClean="0">
                              <a:effectLst>
                                <a:outerShdw blurRad="38100" dist="38100" dir="2700000" algn="tl">
                                  <a:srgbClr val="000000">
                                    <a:alpha val="43137"/>
                                  </a:srgbClr>
                                </a:outerShdw>
                              </a:effectLst>
                              <a:latin typeface="Cambria Math" panose="02040503050406030204" pitchFamily="18" charset="0"/>
                            </a:rPr>
                            <m:t>𝑇</m:t>
                          </m:r>
                        </m:e>
                        <m:sub>
                          <m:r>
                            <a:rPr lang="es-MX" sz="2400" b="0" i="1" smtClean="0">
                              <a:effectLst>
                                <a:outerShdw blurRad="38100" dist="38100" dir="2700000" algn="tl">
                                  <a:srgbClr val="000000">
                                    <a:alpha val="43137"/>
                                  </a:srgbClr>
                                </a:outerShdw>
                              </a:effectLst>
                              <a:latin typeface="Cambria Math" panose="02040503050406030204" pitchFamily="18" charset="0"/>
                            </a:rPr>
                            <m:t>𝑓</m:t>
                          </m:r>
                        </m:sub>
                      </m:sSub>
                      <m:r>
                        <a:rPr lang="es-MX" sz="2400" b="0" i="1" smtClean="0">
                          <a:effectLst>
                            <a:outerShdw blurRad="38100" dist="38100" dir="2700000" algn="tl">
                              <a:srgbClr val="000000">
                                <a:alpha val="43137"/>
                              </a:srgbClr>
                            </a:outerShdw>
                          </a:effectLst>
                          <a:latin typeface="Cambria Math" panose="02040503050406030204" pitchFamily="18" charset="0"/>
                        </a:rPr>
                        <m:t>−</m:t>
                      </m:r>
                      <m:sSub>
                        <m:sSubPr>
                          <m:ctrlPr>
                            <a:rPr lang="es-MX" sz="2400" b="0" i="1" smtClean="0">
                              <a:effectLst>
                                <a:outerShdw blurRad="38100" dist="38100" dir="2700000" algn="tl">
                                  <a:srgbClr val="000000">
                                    <a:alpha val="43137"/>
                                  </a:srgbClr>
                                </a:outerShdw>
                              </a:effectLst>
                              <a:latin typeface="Cambria Math" panose="02040503050406030204" pitchFamily="18" charset="0"/>
                            </a:rPr>
                          </m:ctrlPr>
                        </m:sSubPr>
                        <m:e>
                          <m:r>
                            <a:rPr lang="es-MX" sz="2400" b="0" i="1" smtClean="0">
                              <a:effectLst>
                                <a:outerShdw blurRad="38100" dist="38100" dir="2700000" algn="tl">
                                  <a:srgbClr val="000000">
                                    <a:alpha val="43137"/>
                                  </a:srgbClr>
                                </a:outerShdw>
                              </a:effectLst>
                              <a:latin typeface="Cambria Math" panose="02040503050406030204" pitchFamily="18" charset="0"/>
                            </a:rPr>
                            <m:t>𝑇</m:t>
                          </m:r>
                        </m:e>
                        <m:sub>
                          <m:r>
                            <a:rPr lang="es-MX" sz="2400" b="0" i="1" smtClean="0">
                              <a:effectLst>
                                <a:outerShdw blurRad="38100" dist="38100" dir="2700000" algn="tl">
                                  <a:srgbClr val="000000">
                                    <a:alpha val="43137"/>
                                  </a:srgbClr>
                                </a:outerShdw>
                              </a:effectLst>
                              <a:latin typeface="Cambria Math" panose="02040503050406030204" pitchFamily="18" charset="0"/>
                            </a:rPr>
                            <m:t>𝑎𝑔𝑢𝑎</m:t>
                          </m:r>
                        </m:sub>
                      </m:sSub>
                      <m:r>
                        <a:rPr lang="es-MX" sz="2400" b="0" i="1" smtClean="0">
                          <a:effectLst>
                            <a:outerShdw blurRad="38100" dist="38100" dir="2700000" algn="tl">
                              <a:srgbClr val="000000">
                                <a:alpha val="43137"/>
                              </a:srgbClr>
                            </a:outerShdw>
                          </a:effectLst>
                          <a:latin typeface="Cambria Math" panose="02040503050406030204" pitchFamily="18" charset="0"/>
                        </a:rPr>
                        <m:t>)=−</m:t>
                      </m:r>
                      <m:sSub>
                        <m:sSubPr>
                          <m:ctrlPr>
                            <a:rPr lang="es-MX" sz="2400" i="1" smtClean="0">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𝑚</m:t>
                          </m:r>
                        </m:e>
                        <m:sub>
                          <m:r>
                            <a:rPr lang="es-MX" sz="2400" b="0" i="1" smtClean="0">
                              <a:effectLst>
                                <a:outerShdw blurRad="38100" dist="38100" dir="2700000" algn="tl">
                                  <a:srgbClr val="000000">
                                    <a:alpha val="43137"/>
                                  </a:srgbClr>
                                </a:outerShdw>
                              </a:effectLst>
                              <a:latin typeface="Cambria Math" panose="02040503050406030204" pitchFamily="18" charset="0"/>
                            </a:rPr>
                            <m:t>𝑠</m:t>
                          </m:r>
                          <m:r>
                            <a:rPr lang="es-MX" sz="2400" b="0" i="1" smtClean="0">
                              <a:effectLst>
                                <a:outerShdw blurRad="38100" dist="38100" dir="2700000" algn="tl">
                                  <a:srgbClr val="000000">
                                    <a:alpha val="43137"/>
                                  </a:srgbClr>
                                </a:outerShdw>
                              </a:effectLst>
                              <a:latin typeface="Cambria Math" panose="02040503050406030204" pitchFamily="18" charset="0"/>
                            </a:rPr>
                            <m:t>ó</m:t>
                          </m:r>
                          <m:r>
                            <a:rPr lang="es-MX" sz="2400" b="0" i="1" smtClean="0">
                              <a:effectLst>
                                <a:outerShdw blurRad="38100" dist="38100" dir="2700000" algn="tl">
                                  <a:srgbClr val="000000">
                                    <a:alpha val="43137"/>
                                  </a:srgbClr>
                                </a:outerShdw>
                              </a:effectLst>
                              <a:latin typeface="Cambria Math" panose="02040503050406030204" pitchFamily="18" charset="0"/>
                            </a:rPr>
                            <m:t>𝑙𝑖𝑑𝑜</m:t>
                          </m:r>
                        </m:sub>
                      </m:sSub>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𝑐</m:t>
                          </m:r>
                        </m:e>
                        <m:sub>
                          <m:r>
                            <a:rPr lang="es-MX" sz="2400" i="1">
                              <a:effectLst>
                                <a:outerShdw blurRad="38100" dist="38100" dir="2700000" algn="tl">
                                  <a:srgbClr val="000000">
                                    <a:alpha val="43137"/>
                                  </a:srgbClr>
                                </a:outerShdw>
                              </a:effectLst>
                              <a:latin typeface="Cambria Math" panose="02040503050406030204" pitchFamily="18" charset="0"/>
                            </a:rPr>
                            <m:t>𝑠</m:t>
                          </m:r>
                          <m:r>
                            <a:rPr lang="es-MX" sz="2400" i="1">
                              <a:effectLst>
                                <a:outerShdw blurRad="38100" dist="38100" dir="2700000" algn="tl">
                                  <a:srgbClr val="000000">
                                    <a:alpha val="43137"/>
                                  </a:srgbClr>
                                </a:outerShdw>
                              </a:effectLst>
                              <a:latin typeface="Cambria Math" panose="02040503050406030204" pitchFamily="18" charset="0"/>
                            </a:rPr>
                            <m:t>ó</m:t>
                          </m:r>
                          <m:r>
                            <a:rPr lang="es-MX" sz="2400" i="1">
                              <a:effectLst>
                                <a:outerShdw blurRad="38100" dist="38100" dir="2700000" algn="tl">
                                  <a:srgbClr val="000000">
                                    <a:alpha val="43137"/>
                                  </a:srgbClr>
                                </a:outerShdw>
                              </a:effectLst>
                              <a:latin typeface="Cambria Math" panose="02040503050406030204" pitchFamily="18" charset="0"/>
                            </a:rPr>
                            <m:t>𝑙𝑖𝑑𝑜</m:t>
                          </m:r>
                        </m:sub>
                      </m:sSub>
                      <m:r>
                        <a:rPr lang="es-MX" sz="2400" i="1">
                          <a:effectLst>
                            <a:outerShdw blurRad="38100" dist="38100" dir="2700000" algn="tl">
                              <a:srgbClr val="000000">
                                <a:alpha val="43137"/>
                              </a:srgbClr>
                            </a:outerShdw>
                          </a:effectLst>
                          <a:latin typeface="Cambria Math" panose="02040503050406030204" pitchFamily="18" charset="0"/>
                        </a:rPr>
                        <m:t>(</m:t>
                      </m:r>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𝑇</m:t>
                          </m:r>
                        </m:e>
                        <m:sub>
                          <m:r>
                            <a:rPr lang="es-MX" sz="2400" i="1">
                              <a:effectLst>
                                <a:outerShdw blurRad="38100" dist="38100" dir="2700000" algn="tl">
                                  <a:srgbClr val="000000">
                                    <a:alpha val="43137"/>
                                  </a:srgbClr>
                                </a:outerShdw>
                              </a:effectLst>
                              <a:latin typeface="Cambria Math" panose="02040503050406030204" pitchFamily="18" charset="0"/>
                            </a:rPr>
                            <m:t>𝑓</m:t>
                          </m:r>
                        </m:sub>
                      </m:sSub>
                      <m:r>
                        <a:rPr lang="es-MX" sz="2400" i="1">
                          <a:effectLst>
                            <a:outerShdw blurRad="38100" dist="38100" dir="2700000" algn="tl">
                              <a:srgbClr val="000000">
                                <a:alpha val="43137"/>
                              </a:srgbClr>
                            </a:outerShdw>
                          </a:effectLst>
                          <a:latin typeface="Cambria Math" panose="02040503050406030204" pitchFamily="18" charset="0"/>
                        </a:rPr>
                        <m:t>−</m:t>
                      </m:r>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𝑇</m:t>
                          </m:r>
                        </m:e>
                        <m:sub>
                          <m:r>
                            <a:rPr lang="es-MX" sz="2400" i="1">
                              <a:effectLst>
                                <a:outerShdw blurRad="38100" dist="38100" dir="2700000" algn="tl">
                                  <a:srgbClr val="000000">
                                    <a:alpha val="43137"/>
                                  </a:srgbClr>
                                </a:outerShdw>
                              </a:effectLst>
                              <a:latin typeface="Cambria Math" panose="02040503050406030204" pitchFamily="18" charset="0"/>
                            </a:rPr>
                            <m:t>𝑠</m:t>
                          </m:r>
                          <m:r>
                            <a:rPr lang="es-MX" sz="2400" i="1">
                              <a:effectLst>
                                <a:outerShdw blurRad="38100" dist="38100" dir="2700000" algn="tl">
                                  <a:srgbClr val="000000">
                                    <a:alpha val="43137"/>
                                  </a:srgbClr>
                                </a:outerShdw>
                              </a:effectLst>
                              <a:latin typeface="Cambria Math" panose="02040503050406030204" pitchFamily="18" charset="0"/>
                            </a:rPr>
                            <m:t>ó</m:t>
                          </m:r>
                          <m:r>
                            <a:rPr lang="es-MX" sz="2400" i="1">
                              <a:effectLst>
                                <a:outerShdw blurRad="38100" dist="38100" dir="2700000" algn="tl">
                                  <a:srgbClr val="000000">
                                    <a:alpha val="43137"/>
                                  </a:srgbClr>
                                </a:outerShdw>
                              </a:effectLst>
                              <a:latin typeface="Cambria Math" panose="02040503050406030204" pitchFamily="18" charset="0"/>
                            </a:rPr>
                            <m:t>𝑙𝑖𝑑𝑜</m:t>
                          </m:r>
                        </m:sub>
                      </m:sSub>
                      <m:r>
                        <a:rPr lang="es-MX" sz="2400" i="1">
                          <a:effectLst>
                            <a:outerShdw blurRad="38100" dist="38100" dir="2700000" algn="tl">
                              <a:srgbClr val="000000">
                                <a:alpha val="43137"/>
                              </a:srgbClr>
                            </a:outerShdw>
                          </a:effectLst>
                          <a:latin typeface="Cambria Math" panose="02040503050406030204" pitchFamily="18" charset="0"/>
                        </a:rPr>
                        <m:t>)</m:t>
                      </m:r>
                    </m:oMath>
                  </m:oMathPara>
                </a14:m>
                <a:endParaRPr lang="es-CO" sz="2400" dirty="0">
                  <a:effectLst>
                    <a:outerShdw blurRad="38100" dist="38100" dir="2700000" algn="tl">
                      <a:srgbClr val="000000">
                        <a:alpha val="43137"/>
                      </a:srgbClr>
                    </a:outerShdw>
                  </a:effectLst>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333098" y="4087239"/>
                <a:ext cx="7411003" cy="399405"/>
              </a:xfrm>
              <a:prstGeom prst="rect">
                <a:avLst/>
              </a:prstGeom>
              <a:blipFill rotWithShape="1">
                <a:blip r:embed="rId4"/>
                <a:stretch>
                  <a:fillRect l="-5" t="-95" r="-836" b="92"/>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0" name="CuadroTexto 9"/>
              <p:cNvSpPr txBox="1"/>
              <p:nvPr/>
            </p:nvSpPr>
            <p:spPr>
              <a:xfrm>
                <a:off x="1480718" y="5043190"/>
                <a:ext cx="4507581" cy="8185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400" i="1" smtClean="0">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𝑐</m:t>
                          </m:r>
                        </m:e>
                        <m:sub>
                          <m:r>
                            <a:rPr lang="es-MX" sz="2400" i="1">
                              <a:effectLst>
                                <a:outerShdw blurRad="38100" dist="38100" dir="2700000" algn="tl">
                                  <a:srgbClr val="000000">
                                    <a:alpha val="43137"/>
                                  </a:srgbClr>
                                </a:outerShdw>
                              </a:effectLst>
                              <a:latin typeface="Cambria Math" panose="02040503050406030204" pitchFamily="18" charset="0"/>
                            </a:rPr>
                            <m:t>𝑠</m:t>
                          </m:r>
                          <m:r>
                            <a:rPr lang="es-MX" sz="2400" i="1">
                              <a:effectLst>
                                <a:outerShdw blurRad="38100" dist="38100" dir="2700000" algn="tl">
                                  <a:srgbClr val="000000">
                                    <a:alpha val="43137"/>
                                  </a:srgbClr>
                                </a:outerShdw>
                              </a:effectLst>
                              <a:latin typeface="Cambria Math" panose="02040503050406030204" pitchFamily="18" charset="0"/>
                            </a:rPr>
                            <m:t>ó</m:t>
                          </m:r>
                          <m:r>
                            <a:rPr lang="es-MX" sz="2400" i="1">
                              <a:effectLst>
                                <a:outerShdw blurRad="38100" dist="38100" dir="2700000" algn="tl">
                                  <a:srgbClr val="000000">
                                    <a:alpha val="43137"/>
                                  </a:srgbClr>
                                </a:outerShdw>
                              </a:effectLst>
                              <a:latin typeface="Cambria Math" panose="02040503050406030204" pitchFamily="18" charset="0"/>
                            </a:rPr>
                            <m:t>𝑙𝑖𝑑𝑜</m:t>
                          </m:r>
                        </m:sub>
                      </m:sSub>
                      <m:r>
                        <a:rPr lang="es-MX" sz="2400" b="0" i="1" smtClean="0">
                          <a:effectLst>
                            <a:outerShdw blurRad="38100" dist="38100" dir="2700000" algn="tl">
                              <a:srgbClr val="000000">
                                <a:alpha val="43137"/>
                              </a:srgbClr>
                            </a:outerShdw>
                          </a:effectLst>
                          <a:latin typeface="Cambria Math" panose="02040503050406030204" pitchFamily="18" charset="0"/>
                        </a:rPr>
                        <m:t>=</m:t>
                      </m:r>
                      <m:f>
                        <m:fPr>
                          <m:ctrlPr>
                            <a:rPr lang="es-MX" sz="2400" b="0" i="1" smtClean="0">
                              <a:effectLst>
                                <a:outerShdw blurRad="38100" dist="38100" dir="2700000" algn="tl">
                                  <a:srgbClr val="000000">
                                    <a:alpha val="43137"/>
                                  </a:srgbClr>
                                </a:outerShdw>
                              </a:effectLst>
                              <a:latin typeface="Cambria Math" panose="02040503050406030204" pitchFamily="18" charset="0"/>
                            </a:rPr>
                          </m:ctrlPr>
                        </m:fPr>
                        <m:num>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𝑚</m:t>
                              </m:r>
                            </m:e>
                            <m:sub>
                              <m:r>
                                <a:rPr lang="es-MX" sz="2400" i="1">
                                  <a:effectLst>
                                    <a:outerShdw blurRad="38100" dist="38100" dir="2700000" algn="tl">
                                      <a:srgbClr val="000000">
                                        <a:alpha val="43137"/>
                                      </a:srgbClr>
                                    </a:outerShdw>
                                  </a:effectLst>
                                  <a:latin typeface="Cambria Math" panose="02040503050406030204" pitchFamily="18" charset="0"/>
                                </a:rPr>
                                <m:t>𝑎𝑔𝑢𝑎</m:t>
                              </m:r>
                            </m:sub>
                          </m:sSub>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𝑐</m:t>
                              </m:r>
                            </m:e>
                            <m:sub>
                              <m:r>
                                <a:rPr lang="es-MX" sz="2400" i="1">
                                  <a:effectLst>
                                    <a:outerShdw blurRad="38100" dist="38100" dir="2700000" algn="tl">
                                      <a:srgbClr val="000000">
                                        <a:alpha val="43137"/>
                                      </a:srgbClr>
                                    </a:outerShdw>
                                  </a:effectLst>
                                  <a:latin typeface="Cambria Math" panose="02040503050406030204" pitchFamily="18" charset="0"/>
                                </a:rPr>
                                <m:t>𝑎𝑔𝑢𝑎</m:t>
                              </m:r>
                            </m:sub>
                          </m:sSub>
                          <m:r>
                            <a:rPr lang="es-MX" sz="2400" i="1">
                              <a:effectLst>
                                <a:outerShdw blurRad="38100" dist="38100" dir="2700000" algn="tl">
                                  <a:srgbClr val="000000">
                                    <a:alpha val="43137"/>
                                  </a:srgbClr>
                                </a:outerShdw>
                              </a:effectLst>
                              <a:latin typeface="Cambria Math" panose="02040503050406030204" pitchFamily="18" charset="0"/>
                            </a:rPr>
                            <m:t>(</m:t>
                          </m:r>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𝑇</m:t>
                              </m:r>
                            </m:e>
                            <m:sub>
                              <m:r>
                                <a:rPr lang="es-MX" sz="2400" i="1">
                                  <a:effectLst>
                                    <a:outerShdw blurRad="38100" dist="38100" dir="2700000" algn="tl">
                                      <a:srgbClr val="000000">
                                        <a:alpha val="43137"/>
                                      </a:srgbClr>
                                    </a:outerShdw>
                                  </a:effectLst>
                                  <a:latin typeface="Cambria Math" panose="02040503050406030204" pitchFamily="18" charset="0"/>
                                </a:rPr>
                                <m:t>𝑎𝑔𝑢𝑎</m:t>
                              </m:r>
                            </m:sub>
                          </m:sSub>
                          <m:r>
                            <a:rPr lang="es-MX" sz="2400" b="0" i="1" smtClean="0">
                              <a:effectLst>
                                <a:outerShdw blurRad="38100" dist="38100" dir="2700000" algn="tl">
                                  <a:srgbClr val="000000">
                                    <a:alpha val="43137"/>
                                  </a:srgbClr>
                                </a:outerShdw>
                              </a:effectLst>
                              <a:latin typeface="Cambria Math" panose="02040503050406030204" pitchFamily="18" charset="0"/>
                            </a:rPr>
                            <m:t>−</m:t>
                          </m:r>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𝑇</m:t>
                              </m:r>
                            </m:e>
                            <m:sub>
                              <m:r>
                                <a:rPr lang="es-MX" sz="2400" i="1">
                                  <a:effectLst>
                                    <a:outerShdw blurRad="38100" dist="38100" dir="2700000" algn="tl">
                                      <a:srgbClr val="000000">
                                        <a:alpha val="43137"/>
                                      </a:srgbClr>
                                    </a:outerShdw>
                                  </a:effectLst>
                                  <a:latin typeface="Cambria Math" panose="02040503050406030204" pitchFamily="18" charset="0"/>
                                </a:rPr>
                                <m:t>𝑓</m:t>
                              </m:r>
                            </m:sub>
                          </m:sSub>
                          <m:r>
                            <a:rPr lang="es-MX" sz="2400" i="1">
                              <a:effectLst>
                                <a:outerShdw blurRad="38100" dist="38100" dir="2700000" algn="tl">
                                  <a:srgbClr val="000000">
                                    <a:alpha val="43137"/>
                                  </a:srgbClr>
                                </a:outerShdw>
                              </a:effectLst>
                              <a:latin typeface="Cambria Math" panose="02040503050406030204" pitchFamily="18" charset="0"/>
                            </a:rPr>
                            <m:t>)</m:t>
                          </m:r>
                        </m:num>
                        <m:den>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𝑚</m:t>
                              </m:r>
                            </m:e>
                            <m:sub>
                              <m:r>
                                <a:rPr lang="es-MX" sz="2400" i="1">
                                  <a:effectLst>
                                    <a:outerShdw blurRad="38100" dist="38100" dir="2700000" algn="tl">
                                      <a:srgbClr val="000000">
                                        <a:alpha val="43137"/>
                                      </a:srgbClr>
                                    </a:outerShdw>
                                  </a:effectLst>
                                  <a:latin typeface="Cambria Math" panose="02040503050406030204" pitchFamily="18" charset="0"/>
                                </a:rPr>
                                <m:t>𝑠</m:t>
                              </m:r>
                              <m:r>
                                <a:rPr lang="es-MX" sz="2400" i="1">
                                  <a:effectLst>
                                    <a:outerShdw blurRad="38100" dist="38100" dir="2700000" algn="tl">
                                      <a:srgbClr val="000000">
                                        <a:alpha val="43137"/>
                                      </a:srgbClr>
                                    </a:outerShdw>
                                  </a:effectLst>
                                  <a:latin typeface="Cambria Math" panose="02040503050406030204" pitchFamily="18" charset="0"/>
                                </a:rPr>
                                <m:t>ó</m:t>
                              </m:r>
                              <m:r>
                                <a:rPr lang="es-MX" sz="2400" i="1">
                                  <a:effectLst>
                                    <a:outerShdw blurRad="38100" dist="38100" dir="2700000" algn="tl">
                                      <a:srgbClr val="000000">
                                        <a:alpha val="43137"/>
                                      </a:srgbClr>
                                    </a:outerShdw>
                                  </a:effectLst>
                                  <a:latin typeface="Cambria Math" panose="02040503050406030204" pitchFamily="18" charset="0"/>
                                </a:rPr>
                                <m:t>𝑙𝑖𝑑𝑜</m:t>
                              </m:r>
                            </m:sub>
                          </m:sSub>
                          <m:r>
                            <a:rPr lang="es-MX" sz="2400" i="1">
                              <a:effectLst>
                                <a:outerShdw blurRad="38100" dist="38100" dir="2700000" algn="tl">
                                  <a:srgbClr val="000000">
                                    <a:alpha val="43137"/>
                                  </a:srgbClr>
                                </a:outerShdw>
                              </a:effectLst>
                              <a:latin typeface="Cambria Math" panose="02040503050406030204" pitchFamily="18" charset="0"/>
                            </a:rPr>
                            <m:t>(</m:t>
                          </m:r>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𝑇</m:t>
                              </m:r>
                            </m:e>
                            <m:sub>
                              <m:r>
                                <a:rPr lang="es-MX" sz="2400" i="1">
                                  <a:effectLst>
                                    <a:outerShdw blurRad="38100" dist="38100" dir="2700000" algn="tl">
                                      <a:srgbClr val="000000">
                                        <a:alpha val="43137"/>
                                      </a:srgbClr>
                                    </a:outerShdw>
                                  </a:effectLst>
                                  <a:latin typeface="Cambria Math" panose="02040503050406030204" pitchFamily="18" charset="0"/>
                                </a:rPr>
                                <m:t>𝑓</m:t>
                              </m:r>
                            </m:sub>
                          </m:sSub>
                          <m:r>
                            <a:rPr lang="es-MX" sz="2400" i="1">
                              <a:effectLst>
                                <a:outerShdw blurRad="38100" dist="38100" dir="2700000" algn="tl">
                                  <a:srgbClr val="000000">
                                    <a:alpha val="43137"/>
                                  </a:srgbClr>
                                </a:outerShdw>
                              </a:effectLst>
                              <a:latin typeface="Cambria Math" panose="02040503050406030204" pitchFamily="18" charset="0"/>
                            </a:rPr>
                            <m:t>−</m:t>
                          </m:r>
                          <m:sSub>
                            <m:sSubPr>
                              <m:ctrlPr>
                                <a:rPr lang="es-MX" sz="2400" i="1">
                                  <a:effectLst>
                                    <a:outerShdw blurRad="38100" dist="38100" dir="2700000" algn="tl">
                                      <a:srgbClr val="000000">
                                        <a:alpha val="43137"/>
                                      </a:srgbClr>
                                    </a:outerShdw>
                                  </a:effectLst>
                                  <a:latin typeface="Cambria Math" panose="02040503050406030204" pitchFamily="18" charset="0"/>
                                </a:rPr>
                              </m:ctrlPr>
                            </m:sSubPr>
                            <m:e>
                              <m:r>
                                <a:rPr lang="es-MX" sz="2400" i="1">
                                  <a:effectLst>
                                    <a:outerShdw blurRad="38100" dist="38100" dir="2700000" algn="tl">
                                      <a:srgbClr val="000000">
                                        <a:alpha val="43137"/>
                                      </a:srgbClr>
                                    </a:outerShdw>
                                  </a:effectLst>
                                  <a:latin typeface="Cambria Math" panose="02040503050406030204" pitchFamily="18" charset="0"/>
                                </a:rPr>
                                <m:t>𝑇</m:t>
                              </m:r>
                            </m:e>
                            <m:sub>
                              <m:r>
                                <a:rPr lang="es-MX" sz="2400" i="1">
                                  <a:effectLst>
                                    <a:outerShdw blurRad="38100" dist="38100" dir="2700000" algn="tl">
                                      <a:srgbClr val="000000">
                                        <a:alpha val="43137"/>
                                      </a:srgbClr>
                                    </a:outerShdw>
                                  </a:effectLst>
                                  <a:latin typeface="Cambria Math" panose="02040503050406030204" pitchFamily="18" charset="0"/>
                                </a:rPr>
                                <m:t>𝑠</m:t>
                              </m:r>
                              <m:r>
                                <a:rPr lang="es-MX" sz="2400" i="1">
                                  <a:effectLst>
                                    <a:outerShdw blurRad="38100" dist="38100" dir="2700000" algn="tl">
                                      <a:srgbClr val="000000">
                                        <a:alpha val="43137"/>
                                      </a:srgbClr>
                                    </a:outerShdw>
                                  </a:effectLst>
                                  <a:latin typeface="Cambria Math" panose="02040503050406030204" pitchFamily="18" charset="0"/>
                                </a:rPr>
                                <m:t>ó</m:t>
                              </m:r>
                              <m:r>
                                <a:rPr lang="es-MX" sz="2400" i="1">
                                  <a:effectLst>
                                    <a:outerShdw blurRad="38100" dist="38100" dir="2700000" algn="tl">
                                      <a:srgbClr val="000000">
                                        <a:alpha val="43137"/>
                                      </a:srgbClr>
                                    </a:outerShdw>
                                  </a:effectLst>
                                  <a:latin typeface="Cambria Math" panose="02040503050406030204" pitchFamily="18" charset="0"/>
                                </a:rPr>
                                <m:t>𝑙𝑖𝑑𝑜</m:t>
                              </m:r>
                            </m:sub>
                          </m:sSub>
                          <m:r>
                            <a:rPr lang="es-MX" sz="2400" i="1">
                              <a:effectLst>
                                <a:outerShdw blurRad="38100" dist="38100" dir="2700000" algn="tl">
                                  <a:srgbClr val="000000">
                                    <a:alpha val="43137"/>
                                  </a:srgbClr>
                                </a:outerShdw>
                              </a:effectLst>
                              <a:latin typeface="Cambria Math" panose="02040503050406030204" pitchFamily="18" charset="0"/>
                            </a:rPr>
                            <m:t>)</m:t>
                          </m:r>
                        </m:den>
                      </m:f>
                    </m:oMath>
                  </m:oMathPara>
                </a14:m>
                <a:endParaRPr lang="es-CO" sz="2400" dirty="0">
                  <a:effectLst>
                    <a:outerShdw blurRad="38100" dist="38100" dir="2700000" algn="tl">
                      <a:srgbClr val="000000">
                        <a:alpha val="43137"/>
                      </a:srgbClr>
                    </a:outerShdw>
                  </a:effectLst>
                </a:endParaRPr>
              </a:p>
            </p:txBody>
          </p:sp>
        </mc:Choice>
        <mc:Fallback xmlns="">
          <p:sp>
            <p:nvSpPr>
              <p:cNvPr id="10" name="CuadroTexto 9"/>
              <p:cNvSpPr txBox="1">
                <a:spLocks noRot="1" noChangeAspect="1" noMove="1" noResize="1" noEditPoints="1" noAdjustHandles="1" noChangeArrowheads="1" noChangeShapeType="1" noTextEdit="1"/>
              </p:cNvSpPr>
              <p:nvPr/>
            </p:nvSpPr>
            <p:spPr>
              <a:xfrm>
                <a:off x="1480718" y="5043190"/>
                <a:ext cx="4507581" cy="818557"/>
              </a:xfrm>
              <a:prstGeom prst="rect">
                <a:avLst/>
              </a:prstGeom>
              <a:blipFill rotWithShape="1">
                <a:blip r:embed="rId5"/>
                <a:stretch>
                  <a:fillRect l="-12" t="-2" r="-1121" b="-1078"/>
                </a:stretch>
              </a:blipFill>
            </p:spPr>
            <p:txBody>
              <a:bodyPr/>
              <a:lstStyle/>
              <a:p>
                <a:r>
                  <a:rPr lang="es-ES" altLang="en-US">
                    <a:noFill/>
                  </a:rPr>
                  <a:t> </a:t>
                </a:r>
              </a:p>
            </p:txBody>
          </p:sp>
        </mc:Fallback>
      </mc:AlternateContent>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21</a:t>
            </a:fld>
            <a:endParaRPr lang="es-CO" dirty="0"/>
          </a:p>
        </p:txBody>
      </p:sp>
      <p:sp>
        <p:nvSpPr>
          <p:cNvPr id="4" name="CuadroTexto 3"/>
          <p:cNvSpPr txBox="1"/>
          <p:nvPr/>
        </p:nvSpPr>
        <p:spPr>
          <a:xfrm>
            <a:off x="358595" y="706870"/>
            <a:ext cx="11277882" cy="1569660"/>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7.</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Un lingote de 0.05 kg de metal se calienta a 200.0°C y después se deja caer en un calorímetro que contiene 0.400 kg de agua inicialmente a 20.0°C. La temperatura de equilibrio final del sistema mezclado es 22.4°C. Encuentre el calor específico del metal.</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22</a:t>
            </a:fld>
            <a:endParaRPr lang="es-CO" dirty="0"/>
          </a:p>
        </p:txBody>
      </p:sp>
      <p:sp>
        <p:nvSpPr>
          <p:cNvPr id="4" name="CuadroTexto 3"/>
          <p:cNvSpPr txBox="1"/>
          <p:nvPr/>
        </p:nvSpPr>
        <p:spPr>
          <a:xfrm>
            <a:off x="358595" y="706870"/>
            <a:ext cx="11277882" cy="2308324"/>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8.</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En el campo una geóloga bebe su café matutino de una taza de aluminio. La taza tiene una masa de 0.120 kg e inicialmente está a 20.0 °C cuando se vierte en ella 0.300 kg de café que inicialmente estaba a 70.0 °C. ¿A qué temperatura alcanzarán la taza y el café el equilibrio térmico? (Suponga que el calor específico del café es el mismo del agua y que no hay intercambio de calor con el entorno.)</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pPr algn="ctr"/>
            <a:r>
              <a:rPr lang="es-CO"/>
              <a:t>Física Ondulatoria</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23</a:t>
            </a:fld>
            <a:endParaRPr lang="es-CO" dirty="0"/>
          </a:p>
        </p:txBody>
      </p:sp>
      <p:sp>
        <p:nvSpPr>
          <p:cNvPr id="4" name="Rectángulo 3"/>
          <p:cNvSpPr/>
          <p:nvPr/>
        </p:nvSpPr>
        <p:spPr>
          <a:xfrm>
            <a:off x="490355" y="777472"/>
            <a:ext cx="3849131" cy="461665"/>
          </a:xfrm>
          <a:prstGeom prst="rect">
            <a:avLst/>
          </a:prstGeom>
          <a:effectLst>
            <a:outerShdw blurRad="50800" dist="38100" dir="5400000" algn="t" rotWithShape="0">
              <a:prstClr val="black">
                <a:alpha val="40000"/>
              </a:prstClr>
            </a:outerShdw>
          </a:effectLst>
        </p:spPr>
        <p:txBody>
          <a:bodyPr wrap="none">
            <a:prstTxWarp prst="textWave1">
              <a:avLst/>
            </a:prstTxWarp>
            <a:spAutoFit/>
          </a:bodyPr>
          <a:lstStyle/>
          <a:p>
            <a:r>
              <a:rPr lang="es-MX" sz="2400" b="1" dirty="0">
                <a:ln w="0"/>
                <a:solidFill>
                  <a:srgbClr val="FF0000"/>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¡¡Practica lo aprendido!! No. 2</a:t>
            </a:r>
          </a:p>
        </p:txBody>
      </p:sp>
      <p:sp>
        <p:nvSpPr>
          <p:cNvPr id="12" name="CuadroTexto 11"/>
          <p:cNvSpPr txBox="1"/>
          <p:nvPr/>
        </p:nvSpPr>
        <p:spPr>
          <a:xfrm>
            <a:off x="399123" y="4707022"/>
            <a:ext cx="11158968" cy="1446550"/>
          </a:xfrm>
          <a:prstGeom prst="rect">
            <a:avLst/>
          </a:prstGeom>
          <a:noFill/>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4. </a:t>
            </a:r>
            <a:r>
              <a:rPr lang="es-MX" sz="2200" dirty="0">
                <a:latin typeface="Arial" panose="020B0604020202020204" pitchFamily="34" charset="0"/>
                <a:cs typeface="Arial" panose="020B0604020202020204" pitchFamily="34" charset="0"/>
              </a:rPr>
              <a:t>Queremos  enfriar  un  recipiente  de  metal  mediante  la  adición  de  2 litros  de  agua. El recipiente  tenía una  temperatura  inicial  de  80 °C  y queremos  que  pase  a  25 </a:t>
            </a:r>
            <a:r>
              <a:rPr lang="es-MX" sz="2200" dirty="0" err="1">
                <a:latin typeface="Arial" panose="020B0604020202020204" pitchFamily="34" charset="0"/>
                <a:cs typeface="Arial" panose="020B0604020202020204" pitchFamily="34" charset="0"/>
              </a:rPr>
              <a:t>ºC</a:t>
            </a:r>
            <a:r>
              <a:rPr lang="es-MX" sz="2200" dirty="0">
                <a:latin typeface="Arial" panose="020B0604020202020204" pitchFamily="34" charset="0"/>
                <a:cs typeface="Arial" panose="020B0604020202020204" pitchFamily="34" charset="0"/>
              </a:rPr>
              <a:t>.  El  recipiente  una  masa  de  750  g.  y  la temperatura  del  agua  es  de  10oC  Determinar  el  calor  específico  del metal del recipiente. </a:t>
            </a:r>
            <a:endParaRPr lang="es-CO" sz="2200" dirty="0">
              <a:latin typeface="Arial" panose="020B0604020202020204" pitchFamily="34" charset="0"/>
              <a:cs typeface="Arial" panose="020B0604020202020204" pitchFamily="34" charset="0"/>
            </a:endParaRPr>
          </a:p>
        </p:txBody>
      </p:sp>
      <p:sp>
        <p:nvSpPr>
          <p:cNvPr id="6" name="Rectángulo 5"/>
          <p:cNvSpPr/>
          <p:nvPr/>
        </p:nvSpPr>
        <p:spPr>
          <a:xfrm>
            <a:off x="384374" y="1376502"/>
            <a:ext cx="11158969" cy="769441"/>
          </a:xfrm>
          <a:prstGeom prst="rect">
            <a:avLst/>
          </a:prstGeom>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1. </a:t>
            </a:r>
            <a:r>
              <a:rPr lang="es-MX" sz="2200" dirty="0">
                <a:latin typeface="Arial" panose="020B0604020202020204" pitchFamily="34" charset="0"/>
                <a:cs typeface="Arial" panose="020B0604020202020204" pitchFamily="34" charset="0"/>
              </a:rPr>
              <a:t>Sean 400 g de hierro a la temperatura de 8 °C. Determine su temperatura después de haber cedido 1.000 cal. Sabiendo que: </a:t>
            </a:r>
            <a:r>
              <a:rPr lang="es-MX" sz="2200" i="1" dirty="0" err="1">
                <a:latin typeface="Arial" panose="020B0604020202020204" pitchFamily="34" charset="0"/>
                <a:cs typeface="Arial" panose="020B0604020202020204" pitchFamily="34" charset="0"/>
              </a:rPr>
              <a:t>c</a:t>
            </a:r>
            <a:r>
              <a:rPr lang="es-MX" sz="2200" baseline="-25000" dirty="0" err="1">
                <a:latin typeface="Arial" panose="020B0604020202020204" pitchFamily="34" charset="0"/>
                <a:cs typeface="Arial" panose="020B0604020202020204" pitchFamily="34" charset="0"/>
              </a:rPr>
              <a:t>hierro</a:t>
            </a:r>
            <a:r>
              <a:rPr lang="es-MX" sz="2200" dirty="0">
                <a:latin typeface="Arial" panose="020B0604020202020204" pitchFamily="34" charset="0"/>
                <a:cs typeface="Arial" panose="020B0604020202020204" pitchFamily="34" charset="0"/>
              </a:rPr>
              <a:t> = 0,11 cal /g °C</a:t>
            </a:r>
          </a:p>
        </p:txBody>
      </p:sp>
      <p:sp>
        <p:nvSpPr>
          <p:cNvPr id="9" name="Rectángulo 8"/>
          <p:cNvSpPr/>
          <p:nvPr/>
        </p:nvSpPr>
        <p:spPr>
          <a:xfrm>
            <a:off x="390206" y="2153883"/>
            <a:ext cx="11158971" cy="1107996"/>
          </a:xfrm>
          <a:prstGeom prst="rect">
            <a:avLst/>
          </a:prstGeom>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2. </a:t>
            </a:r>
            <a:r>
              <a:rPr lang="es-MX" sz="2200" dirty="0">
                <a:latin typeface="Arial" panose="020B0604020202020204" pitchFamily="34" charset="0"/>
                <a:cs typeface="Arial" panose="020B0604020202020204" pitchFamily="34" charset="0"/>
              </a:rPr>
              <a:t>La temperatura de una barra de plata se eleva 10.0°C cuando absorbe 1.23 kJ de energía por calor. La masa de la barra es 525 g. Determine el calor específico de la plata.</a:t>
            </a:r>
          </a:p>
        </p:txBody>
      </p:sp>
      <p:sp>
        <p:nvSpPr>
          <p:cNvPr id="10" name="Rectángulo 9"/>
          <p:cNvSpPr/>
          <p:nvPr/>
        </p:nvSpPr>
        <p:spPr>
          <a:xfrm>
            <a:off x="390206" y="3249981"/>
            <a:ext cx="11158970" cy="1446550"/>
          </a:xfrm>
          <a:prstGeom prst="rect">
            <a:avLst/>
          </a:prstGeom>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3. </a:t>
            </a:r>
            <a:r>
              <a:rPr lang="es-MX" sz="2200" dirty="0">
                <a:latin typeface="Arial" panose="020B0604020202020204" pitchFamily="34" charset="0"/>
                <a:cs typeface="Arial" panose="020B0604020202020204" pitchFamily="34" charset="0"/>
              </a:rPr>
              <a:t>Una herradura de hierro de 1.50 kg, inicialmente a 600°C, se deja caer en una cubeta que contiene 20.0 kg de agua a 25.0°C. ¿Cuál es la temperatura final? (Ignore la capacidad térmica del contenedor y suponga que hierve una cantidad despreciable de agua.</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24</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Calor latente de fusión y vaporización </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CuadroTexto 4"/>
          <p:cNvSpPr txBox="1"/>
          <p:nvPr/>
        </p:nvSpPr>
        <p:spPr>
          <a:xfrm>
            <a:off x="348338" y="1259287"/>
            <a:ext cx="11302888" cy="1938992"/>
          </a:xfrm>
          <a:prstGeom prst="rect">
            <a:avLst/>
          </a:prstGeom>
          <a:noFill/>
        </p:spPr>
        <p:txBody>
          <a:bodyPr wrap="square">
            <a:spAutoFit/>
          </a:bodyPr>
          <a:lstStyle/>
          <a:p>
            <a:pPr algn="just"/>
            <a:r>
              <a:rPr lang="es-MX" sz="2400" dirty="0"/>
              <a:t>El calor latente se refiere a la energía requerida por una sustancia para cambiar de estado. Cuando este cambio supone pasar de fase sólida a líquida, hablamos de calor latente de fusión, y cuando el cambio se produce de estado líquido a gaseoso, hablamos de calor latente de vaporización.</a:t>
            </a:r>
          </a:p>
          <a:p>
            <a:pPr algn="just"/>
            <a:endParaRPr lang="es-MX" sz="2400" dirty="0"/>
          </a:p>
        </p:txBody>
      </p:sp>
      <p:pic>
        <p:nvPicPr>
          <p:cNvPr id="15362" name="Picture 2" descr="Calor latente: fusión, vaporización, solidificación, condensació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57605" y="2437513"/>
            <a:ext cx="4388749" cy="391561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p:nvSpPr>
        <p:spPr>
          <a:xfrm>
            <a:off x="7373257" y="5988001"/>
            <a:ext cx="915337" cy="36512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CO"/>
          </a:p>
        </p:txBody>
      </p:sp>
      <p:pic>
        <p:nvPicPr>
          <p:cNvPr id="15364" name="Picture 4" descr="CALOR ESPECÍFICO Y CALOR LATENTE - FÍSICA APLICADA | 157 jugadas | Quiziz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737" y="2802046"/>
            <a:ext cx="5118119" cy="33814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25</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Calor latente de fusión y vaporización </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CuadroTexto 4"/>
          <p:cNvSpPr txBox="1"/>
          <p:nvPr/>
        </p:nvSpPr>
        <p:spPr>
          <a:xfrm>
            <a:off x="348338" y="1259287"/>
            <a:ext cx="11302888" cy="1569660"/>
          </a:xfrm>
          <a:prstGeom prst="rect">
            <a:avLst/>
          </a:prstGeom>
          <a:noFill/>
        </p:spPr>
        <p:txBody>
          <a:bodyPr wrap="square">
            <a:spAutoFit/>
          </a:bodyPr>
          <a:lstStyle/>
          <a:p>
            <a:pPr algn="just"/>
            <a:r>
              <a:rPr lang="es-MX" sz="2400" dirty="0"/>
              <a:t>El calor latente se refiere a la energía requerida por una sustancia para cambiar de estado. Cuando este cambio supone pasar de fase sólida a líquida, hablamos de calor latente de fusión, y cuando el cambio se produce de estado líquido a gaseoso, hablamos de calor latente de vaporización.</a:t>
            </a:r>
          </a:p>
        </p:txBody>
      </p:sp>
      <p:pic>
        <p:nvPicPr>
          <p:cNvPr id="15362" name="Picture 2" descr="Calor latente: fusión, vaporización, solidificación, condensació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57605" y="2437513"/>
            <a:ext cx="4388749" cy="391561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p:nvSpPr>
        <p:spPr>
          <a:xfrm>
            <a:off x="7373257" y="5988001"/>
            <a:ext cx="915337" cy="36512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7" name="CuadroTexto 6"/>
              <p:cNvSpPr txBox="1"/>
              <p:nvPr/>
            </p:nvSpPr>
            <p:spPr>
              <a:xfrm>
                <a:off x="348338" y="2795732"/>
                <a:ext cx="6712733" cy="1229952"/>
              </a:xfrm>
              <a:prstGeom prst="rect">
                <a:avLst/>
              </a:prstGeom>
              <a:noFill/>
            </p:spPr>
            <p:txBody>
              <a:bodyPr wrap="square">
                <a:spAutoFit/>
              </a:bodyPr>
              <a:lstStyle/>
              <a:p>
                <a:pPr algn="just"/>
                <a:r>
                  <a:rPr lang="es-MX" sz="2400" dirty="0"/>
                  <a:t>En términos generales, para fundir una masa </a:t>
                </a:r>
                <a14:m>
                  <m:oMath xmlns:m="http://schemas.openxmlformats.org/officeDocument/2006/math">
                    <m:r>
                      <a:rPr lang="es-MX" sz="2400" i="1" dirty="0" smtClean="0">
                        <a:latin typeface="Cambria Math" panose="02040503050406030204" pitchFamily="18" charset="0"/>
                      </a:rPr>
                      <m:t>𝑚</m:t>
                    </m:r>
                  </m:oMath>
                </a14:m>
                <a:r>
                  <a:rPr lang="es-MX" sz="2400" dirty="0"/>
                  <a:t> de material con calor de fusión </a:t>
                </a:r>
                <a14:m>
                  <m:oMath xmlns:m="http://schemas.openxmlformats.org/officeDocument/2006/math">
                    <m:sSub>
                      <m:sSubPr>
                        <m:ctrlPr>
                          <a:rPr lang="es-MX" sz="2400" i="1" dirty="0" smtClean="0">
                            <a:latin typeface="Cambria Math" panose="02040503050406030204" pitchFamily="18" charset="0"/>
                          </a:rPr>
                        </m:ctrlPr>
                      </m:sSubPr>
                      <m:e>
                        <m:r>
                          <a:rPr lang="es-MX" sz="2400" b="0" i="1" dirty="0" smtClean="0">
                            <a:latin typeface="Cambria Math" panose="02040503050406030204" pitchFamily="18" charset="0"/>
                          </a:rPr>
                          <m:t>𝐿</m:t>
                        </m:r>
                      </m:e>
                      <m:sub>
                        <m:r>
                          <a:rPr lang="es-MX" sz="2400" b="0" i="1" dirty="0" smtClean="0">
                            <a:latin typeface="Cambria Math" panose="02040503050406030204" pitchFamily="18" charset="0"/>
                          </a:rPr>
                          <m:t>𝑓</m:t>
                        </m:r>
                      </m:sub>
                    </m:sSub>
                  </m:oMath>
                </a14:m>
                <a:r>
                  <a:rPr lang="es-MX" sz="2400" dirty="0"/>
                  <a:t> se requiere una cantidad de calor </a:t>
                </a:r>
                <a14:m>
                  <m:oMath xmlns:m="http://schemas.openxmlformats.org/officeDocument/2006/math">
                    <m:r>
                      <a:rPr lang="es-MX" sz="2400" i="1" dirty="0" smtClean="0">
                        <a:latin typeface="Cambria Math" panose="02040503050406030204" pitchFamily="18" charset="0"/>
                      </a:rPr>
                      <m:t>𝑄</m:t>
                    </m:r>
                  </m:oMath>
                </a14:m>
                <a:r>
                  <a:rPr lang="es-MX" sz="2400" dirty="0"/>
                  <a:t> dada por</a:t>
                </a:r>
                <a:endParaRPr lang="es-CO"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348338" y="2795732"/>
                <a:ext cx="6712733" cy="1229952"/>
              </a:xfrm>
              <a:prstGeom prst="rect">
                <a:avLst/>
              </a:prstGeom>
              <a:blipFill rotWithShape="1">
                <a:blip r:embed="rId3"/>
                <a:stretch>
                  <a:fillRect l="-5" t="-38" r="8" b="34"/>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2814356" y="4094351"/>
                <a:ext cx="1724831" cy="4653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i="1" smtClean="0">
                          <a:latin typeface="Cambria Math" panose="02040503050406030204" pitchFamily="18" charset="0"/>
                        </a:rPr>
                        <m:t>𝑄</m:t>
                      </m:r>
                      <m:r>
                        <a:rPr lang="es-MX" sz="2800" b="0" i="1" smtClean="0">
                          <a:latin typeface="Cambria Math" panose="02040503050406030204" pitchFamily="18" charset="0"/>
                        </a:rPr>
                        <m:t>=±</m:t>
                      </m:r>
                      <m:r>
                        <a:rPr lang="es-MX" sz="2800" b="0" i="1" smtClean="0">
                          <a:latin typeface="Cambria Math" panose="02040503050406030204" pitchFamily="18" charset="0"/>
                        </a:rPr>
                        <m:t>𝑚</m:t>
                      </m:r>
                      <m:sSub>
                        <m:sSubPr>
                          <m:ctrlPr>
                            <a:rPr lang="es-MX" sz="2800" i="1" dirty="0">
                              <a:latin typeface="Cambria Math" panose="02040503050406030204" pitchFamily="18" charset="0"/>
                            </a:rPr>
                          </m:ctrlPr>
                        </m:sSubPr>
                        <m:e>
                          <m:r>
                            <a:rPr lang="es-MX" sz="2800" i="1" dirty="0">
                              <a:latin typeface="Cambria Math" panose="02040503050406030204" pitchFamily="18" charset="0"/>
                            </a:rPr>
                            <m:t>𝐿</m:t>
                          </m:r>
                        </m:e>
                        <m:sub>
                          <m:r>
                            <a:rPr lang="es-MX" sz="2800" i="1" dirty="0">
                              <a:latin typeface="Cambria Math" panose="02040503050406030204" pitchFamily="18" charset="0"/>
                            </a:rPr>
                            <m:t>𝑓</m:t>
                          </m:r>
                        </m:sub>
                      </m:sSub>
                    </m:oMath>
                  </m:oMathPara>
                </a14:m>
                <a:endParaRPr lang="es-CO" sz="28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2814356" y="4094351"/>
                <a:ext cx="1724831" cy="465384"/>
              </a:xfrm>
              <a:prstGeom prst="rect">
                <a:avLst/>
              </a:prstGeom>
              <a:blipFill rotWithShape="1">
                <a:blip r:embed="rId4"/>
                <a:stretch>
                  <a:fillRect l="-2" t="-109" r="-1240" b="93"/>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348338" y="4585213"/>
                <a:ext cx="6712734" cy="1569660"/>
              </a:xfrm>
              <a:prstGeom prst="rect">
                <a:avLst/>
              </a:prstGeom>
              <a:noFill/>
            </p:spPr>
            <p:txBody>
              <a:bodyPr wrap="square">
                <a:spAutoFit/>
              </a:bodyPr>
              <a:lstStyle/>
              <a:p>
                <a:pPr algn="just"/>
                <a:r>
                  <a:rPr lang="es-MX" sz="2400" dirty="0"/>
                  <a:t>En el caso de la ebullición o evaporación, una transición de fase entre líquido y gas. El calor correspondiente (por unidad de masa) se llama calor de vaporización </a:t>
                </a:r>
                <a14:m>
                  <m:oMath xmlns:m="http://schemas.openxmlformats.org/officeDocument/2006/math">
                    <m:sSub>
                      <m:sSubPr>
                        <m:ctrlPr>
                          <a:rPr lang="es-MX" sz="2400" i="1" dirty="0" smtClean="0">
                            <a:latin typeface="Cambria Math" panose="02040503050406030204" pitchFamily="18" charset="0"/>
                          </a:rPr>
                        </m:ctrlPr>
                      </m:sSubPr>
                      <m:e>
                        <m:r>
                          <a:rPr lang="es-MX" sz="2400" b="0" i="1" dirty="0" smtClean="0">
                            <a:latin typeface="Cambria Math" panose="02040503050406030204" pitchFamily="18" charset="0"/>
                          </a:rPr>
                          <m:t>𝐿</m:t>
                        </m:r>
                      </m:e>
                      <m:sub>
                        <m:r>
                          <a:rPr lang="es-MX" sz="2400" b="0" i="1" dirty="0" smtClean="0">
                            <a:latin typeface="Cambria Math" panose="02040503050406030204" pitchFamily="18" charset="0"/>
                          </a:rPr>
                          <m:t>𝑣</m:t>
                        </m:r>
                      </m:sub>
                    </m:sSub>
                  </m:oMath>
                </a14:m>
                <a:r>
                  <a:rPr lang="es-MX" sz="2400" dirty="0"/>
                  <a:t>. </a:t>
                </a:r>
                <a:endParaRPr lang="es-CO" sz="2400"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348338" y="4585213"/>
                <a:ext cx="6712734" cy="1569660"/>
              </a:xfrm>
              <a:prstGeom prst="rect">
                <a:avLst/>
              </a:prstGeom>
              <a:blipFill rotWithShape="1">
                <a:blip r:embed="rId5"/>
                <a:stretch>
                  <a:fillRect l="-5" t="-33" r="8" b="29"/>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2814355" y="6070304"/>
                <a:ext cx="173656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i="1" smtClean="0">
                          <a:latin typeface="Cambria Math" panose="02040503050406030204" pitchFamily="18" charset="0"/>
                        </a:rPr>
                        <m:t>𝑄</m:t>
                      </m:r>
                      <m:r>
                        <a:rPr lang="es-MX" sz="2800" b="0" i="1" smtClean="0">
                          <a:latin typeface="Cambria Math" panose="02040503050406030204" pitchFamily="18" charset="0"/>
                        </a:rPr>
                        <m:t>=±</m:t>
                      </m:r>
                      <m:r>
                        <a:rPr lang="es-MX" sz="2800" b="0" i="1" smtClean="0">
                          <a:latin typeface="Cambria Math" panose="02040503050406030204" pitchFamily="18" charset="0"/>
                        </a:rPr>
                        <m:t>𝑚</m:t>
                      </m:r>
                      <m:sSub>
                        <m:sSubPr>
                          <m:ctrlPr>
                            <a:rPr lang="es-MX" sz="2800" i="1" dirty="0">
                              <a:latin typeface="Cambria Math" panose="02040503050406030204" pitchFamily="18" charset="0"/>
                            </a:rPr>
                          </m:ctrlPr>
                        </m:sSubPr>
                        <m:e>
                          <m:r>
                            <a:rPr lang="es-MX" sz="2800" i="1" dirty="0">
                              <a:latin typeface="Cambria Math" panose="02040503050406030204" pitchFamily="18" charset="0"/>
                            </a:rPr>
                            <m:t>𝐿</m:t>
                          </m:r>
                        </m:e>
                        <m:sub>
                          <m:r>
                            <a:rPr lang="es-MX" sz="2800" b="0" i="1" dirty="0" smtClean="0">
                              <a:latin typeface="Cambria Math" panose="02040503050406030204" pitchFamily="18" charset="0"/>
                            </a:rPr>
                            <m:t>𝑣</m:t>
                          </m:r>
                        </m:sub>
                      </m:sSub>
                    </m:oMath>
                  </m:oMathPara>
                </a14:m>
                <a:endParaRPr lang="es-CO" sz="28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2814355" y="6070304"/>
                <a:ext cx="1736566" cy="430887"/>
              </a:xfrm>
              <a:prstGeom prst="rect">
                <a:avLst/>
              </a:prstGeom>
              <a:blipFill rotWithShape="1">
                <a:blip r:embed="rId6"/>
                <a:stretch>
                  <a:fillRect l="-2" t="-79" r="-629" b="14"/>
                </a:stretch>
              </a:blipFill>
            </p:spPr>
            <p:txBody>
              <a:bodyPr/>
              <a:lstStyle/>
              <a:p>
                <a:r>
                  <a:rPr lang="es-ES" alt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26</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Calor latente de fusión y vaporización </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2"/>
          <a:stretch>
            <a:fillRect/>
          </a:stretch>
        </p:blipFill>
        <p:spPr>
          <a:xfrm>
            <a:off x="958635" y="1259287"/>
            <a:ext cx="9497971" cy="505125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27</a:t>
            </a:fld>
            <a:endParaRPr lang="es-CO" dirty="0"/>
          </a:p>
        </p:txBody>
      </p:sp>
      <p:sp>
        <p:nvSpPr>
          <p:cNvPr id="4" name="CuadroTexto 3"/>
          <p:cNvSpPr txBox="1"/>
          <p:nvPr/>
        </p:nvSpPr>
        <p:spPr>
          <a:xfrm>
            <a:off x="358595" y="706870"/>
            <a:ext cx="11277882" cy="1200329"/>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9.</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¿Qué masa de vapor (calor específico 2,01 kJ/(</a:t>
            </a:r>
            <a:r>
              <a:rPr lang="es-MX" sz="2400" dirty="0" err="1">
                <a:latin typeface="Arial" panose="020B0604020202020204" pitchFamily="34" charset="0"/>
                <a:cs typeface="Arial" panose="020B0604020202020204" pitchFamily="34" charset="0"/>
              </a:rPr>
              <a:t>kg·K</a:t>
            </a:r>
            <a:r>
              <a:rPr lang="es-MX" sz="2400" dirty="0">
                <a:latin typeface="Arial" panose="020B0604020202020204" pitchFamily="34" charset="0"/>
                <a:cs typeface="Arial" panose="020B0604020202020204" pitchFamily="34" charset="0"/>
              </a:rPr>
              <a:t>)), inicialmente a 130°C, se necesita para calentar 200 g de agua en un contenedor de vidrio de 100 g, de 20.0°C a 50.0°C?</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28</a:t>
            </a:fld>
            <a:endParaRPr lang="es-CO" dirty="0"/>
          </a:p>
        </p:txBody>
      </p:sp>
      <p:sp>
        <p:nvSpPr>
          <p:cNvPr id="4" name="CuadroTexto 3"/>
          <p:cNvSpPr txBox="1"/>
          <p:nvPr/>
        </p:nvSpPr>
        <p:spPr>
          <a:xfrm>
            <a:off x="358594" y="706870"/>
            <a:ext cx="11469612" cy="461665"/>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10.</a:t>
            </a:r>
            <a:r>
              <a:rPr lang="es-MX" sz="2400" dirty="0" smtClean="0">
                <a:latin typeface="Arial" panose="020B0604020202020204" pitchFamily="34" charset="0"/>
                <a:cs typeface="Arial" panose="020B0604020202020204" pitchFamily="34" charset="0"/>
              </a:rPr>
              <a:t> </a:t>
            </a:r>
            <a:endParaRPr lang="es-MX" sz="24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288924" y="1168535"/>
            <a:ext cx="11570745" cy="2628402"/>
          </a:xfrm>
          <a:prstGeom prst="rect">
            <a:avLst/>
          </a:prstGeom>
          <a:noFill/>
          <a:ln w="9525">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pPr algn="ctr"/>
            <a:r>
              <a:rPr lang="es-CO"/>
              <a:t>Física Ondulatoria</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29</a:t>
            </a:fld>
            <a:endParaRPr lang="es-CO" dirty="0"/>
          </a:p>
        </p:txBody>
      </p:sp>
      <p:sp>
        <p:nvSpPr>
          <p:cNvPr id="4" name="Rectángulo 3"/>
          <p:cNvSpPr/>
          <p:nvPr/>
        </p:nvSpPr>
        <p:spPr>
          <a:xfrm>
            <a:off x="490355" y="777472"/>
            <a:ext cx="3849131" cy="461665"/>
          </a:xfrm>
          <a:prstGeom prst="rect">
            <a:avLst/>
          </a:prstGeom>
          <a:effectLst>
            <a:outerShdw blurRad="50800" dist="38100" dir="5400000" algn="t" rotWithShape="0">
              <a:prstClr val="black">
                <a:alpha val="40000"/>
              </a:prstClr>
            </a:outerShdw>
          </a:effectLst>
        </p:spPr>
        <p:txBody>
          <a:bodyPr wrap="none">
            <a:prstTxWarp prst="textWave1">
              <a:avLst/>
            </a:prstTxWarp>
            <a:spAutoFit/>
          </a:bodyPr>
          <a:lstStyle/>
          <a:p>
            <a:r>
              <a:rPr lang="es-MX" sz="2400" b="1" dirty="0">
                <a:ln w="0"/>
                <a:solidFill>
                  <a:srgbClr val="FF0000"/>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¡¡Practica lo aprendido!! No. 3</a:t>
            </a:r>
          </a:p>
        </p:txBody>
      </p:sp>
      <p:sp>
        <p:nvSpPr>
          <p:cNvPr id="12" name="CuadroTexto 11"/>
          <p:cNvSpPr txBox="1"/>
          <p:nvPr/>
        </p:nvSpPr>
        <p:spPr>
          <a:xfrm>
            <a:off x="399123" y="4707022"/>
            <a:ext cx="11158968" cy="1107996"/>
          </a:xfrm>
          <a:prstGeom prst="rect">
            <a:avLst/>
          </a:prstGeom>
          <a:noFill/>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3. </a:t>
            </a:r>
            <a:r>
              <a:rPr lang="es-MX" sz="2200" dirty="0">
                <a:latin typeface="Arial" panose="020B0604020202020204" pitchFamily="34" charset="0"/>
                <a:cs typeface="Arial" panose="020B0604020202020204" pitchFamily="34" charset="0"/>
              </a:rPr>
              <a:t>En un recipiente aislado 250 g de hielo a 0°C se agregan a 600 g de agua a 18.0°C. a) ¿Cuál es la temperatura final del sistema? b) ¿Cuánto hielo permanece cuando el sistema alcanza el equilibrio?</a:t>
            </a:r>
            <a:endParaRPr lang="es-CO" sz="2200" dirty="0">
              <a:latin typeface="Arial" panose="020B0604020202020204" pitchFamily="34" charset="0"/>
              <a:cs typeface="Arial" panose="020B0604020202020204" pitchFamily="34" charset="0"/>
            </a:endParaRPr>
          </a:p>
        </p:txBody>
      </p:sp>
      <p:sp>
        <p:nvSpPr>
          <p:cNvPr id="6" name="Rectángulo 5"/>
          <p:cNvSpPr/>
          <p:nvPr/>
        </p:nvSpPr>
        <p:spPr>
          <a:xfrm>
            <a:off x="384374" y="1376502"/>
            <a:ext cx="11158969" cy="1107996"/>
          </a:xfrm>
          <a:prstGeom prst="rect">
            <a:avLst/>
          </a:prstGeom>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1. </a:t>
            </a:r>
            <a:r>
              <a:rPr lang="es-MX" sz="2200" dirty="0">
                <a:latin typeface="Arial" panose="020B0604020202020204" pitchFamily="34" charset="0"/>
                <a:cs typeface="Arial" panose="020B0604020202020204" pitchFamily="34" charset="0"/>
              </a:rPr>
              <a:t>Una bandeja para hacer hielo con masa despreciable contiene 0.350 kg de agua a 18.0 °C. ¿Cuánto calor (en J) debe extraerse para enfriar el agua a 0.00 °C y congelarla?</a:t>
            </a:r>
          </a:p>
        </p:txBody>
      </p:sp>
      <p:sp>
        <p:nvSpPr>
          <p:cNvPr id="7" name="CuadroTexto 6"/>
          <p:cNvSpPr txBox="1"/>
          <p:nvPr/>
        </p:nvSpPr>
        <p:spPr>
          <a:xfrm>
            <a:off x="399123" y="2905276"/>
            <a:ext cx="11144220" cy="1107996"/>
          </a:xfrm>
          <a:prstGeom prst="rect">
            <a:avLst/>
          </a:prstGeom>
          <a:noFill/>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2. </a:t>
            </a:r>
            <a:r>
              <a:rPr lang="es-MX" sz="2200" dirty="0">
                <a:latin typeface="Arial" panose="020B0604020202020204" pitchFamily="34" charset="0"/>
                <a:cs typeface="Arial" panose="020B0604020202020204" pitchFamily="34" charset="0"/>
              </a:rPr>
              <a:t>Vapor a 100°C se agrega a hielo a 0°C. Encuentre la cantidad de hielo derretido y la temperatura final cuando la masa de vapor es 10.0 g y la masa de hielo es 50.0 g.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30</a:t>
            </a:fld>
            <a:endParaRPr lang="es-CO" dirty="0"/>
          </a:p>
        </p:txBody>
      </p:sp>
      <p:sp>
        <p:nvSpPr>
          <p:cNvPr id="6" name="CuadroTexto 5"/>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Transferencia de calor</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1" name="Rectángulo 10"/>
          <p:cNvSpPr/>
          <p:nvPr/>
        </p:nvSpPr>
        <p:spPr>
          <a:xfrm>
            <a:off x="9447597" y="5862151"/>
            <a:ext cx="811161" cy="2102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4" name="Imagen 13"/>
          <p:cNvPicPr>
            <a:picLocks noChangeAspect="1"/>
          </p:cNvPicPr>
          <p:nvPr/>
        </p:nvPicPr>
        <p:blipFill>
          <a:blip r:embed="rId2"/>
          <a:stretch>
            <a:fillRect/>
          </a:stretch>
        </p:blipFill>
        <p:spPr>
          <a:xfrm>
            <a:off x="348338" y="1245996"/>
            <a:ext cx="7805062" cy="4966778"/>
          </a:xfrm>
          <a:prstGeom prst="rect">
            <a:avLst/>
          </a:prstGeom>
        </p:spPr>
      </p:pic>
      <p:pic>
        <p:nvPicPr>
          <p:cNvPr id="15" name="Picture 4" descr="Temperatura y calor"/>
          <p:cNvPicPr>
            <a:picLocks noChangeAspect="1" noChangeArrowheads="1"/>
          </p:cNvPicPr>
          <p:nvPr/>
        </p:nvPicPr>
        <p:blipFill rotWithShape="1">
          <a:blip r:embed="rId3">
            <a:extLst>
              <a:ext uri="{28A0092B-C50C-407E-A947-70E740481C1C}">
                <a14:useLocalDpi xmlns:a14="http://schemas.microsoft.com/office/drawing/2010/main" val="0"/>
              </a:ext>
            </a:extLst>
          </a:blip>
          <a:srcRect l="13303" t="15333" r="11347" b="5720"/>
          <a:stretch>
            <a:fillRect/>
          </a:stretch>
        </p:blipFill>
        <p:spPr bwMode="auto">
          <a:xfrm>
            <a:off x="8442711" y="1629244"/>
            <a:ext cx="3400951" cy="44431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31</a:t>
            </a:fld>
            <a:endParaRPr lang="es-CO" dirty="0"/>
          </a:p>
        </p:txBody>
      </p:sp>
      <p:sp>
        <p:nvSpPr>
          <p:cNvPr id="6" name="CuadroTexto 5"/>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Transferencia de calor</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Rectángulo 3"/>
          <p:cNvSpPr/>
          <p:nvPr/>
        </p:nvSpPr>
        <p:spPr>
          <a:xfrm>
            <a:off x="348338" y="1804206"/>
            <a:ext cx="2668542" cy="584775"/>
          </a:xfrm>
          <a:prstGeom prst="rect">
            <a:avLst/>
          </a:prstGeom>
        </p:spPr>
        <p:txBody>
          <a:bodyPr wrap="square">
            <a:spAutoFit/>
          </a:bodyPr>
          <a:lstStyle/>
          <a:p>
            <a:pPr algn="just"/>
            <a:r>
              <a:rPr lang="es-MX" sz="32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Conducción</a:t>
            </a:r>
            <a:endParaRPr lang="es-MX" sz="2200" dirty="0">
              <a:latin typeface="Arial" panose="020B0604020202020204" pitchFamily="34" charset="0"/>
              <a:cs typeface="Arial" panose="020B0604020202020204" pitchFamily="34" charset="0"/>
            </a:endParaRPr>
          </a:p>
        </p:txBody>
      </p:sp>
      <p:sp>
        <p:nvSpPr>
          <p:cNvPr id="5" name="Rectángulo 4"/>
          <p:cNvSpPr/>
          <p:nvPr/>
        </p:nvSpPr>
        <p:spPr>
          <a:xfrm>
            <a:off x="3904950" y="1779610"/>
            <a:ext cx="3893574" cy="769441"/>
          </a:xfrm>
          <a:prstGeom prst="rect">
            <a:avLst/>
          </a:prstGeom>
        </p:spPr>
        <p:txBody>
          <a:bodyPr wrap="square">
            <a:spAutoFit/>
          </a:bodyPr>
          <a:lstStyle/>
          <a:p>
            <a:pPr algn="just"/>
            <a:r>
              <a:rPr lang="es-MX" sz="2200" dirty="0">
                <a:latin typeface="Arial" panose="020B0604020202020204" pitchFamily="34" charset="0"/>
                <a:cs typeface="Arial" panose="020B0604020202020204" pitchFamily="34" charset="0"/>
              </a:rPr>
              <a:t>Transfiere calor a través de un material</a:t>
            </a:r>
          </a:p>
        </p:txBody>
      </p:sp>
      <p:sp>
        <p:nvSpPr>
          <p:cNvPr id="7" name="Rectángulo 6"/>
          <p:cNvSpPr/>
          <p:nvPr/>
        </p:nvSpPr>
        <p:spPr>
          <a:xfrm>
            <a:off x="348338" y="3566530"/>
            <a:ext cx="2668542" cy="584775"/>
          </a:xfrm>
          <a:prstGeom prst="rect">
            <a:avLst/>
          </a:prstGeom>
        </p:spPr>
        <p:txBody>
          <a:bodyPr wrap="square">
            <a:spAutoFit/>
          </a:bodyPr>
          <a:lstStyle/>
          <a:p>
            <a:pPr algn="just"/>
            <a:r>
              <a:rPr lang="es-MX" sz="32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Convección</a:t>
            </a:r>
            <a:endParaRPr lang="es-MX" sz="2200" dirty="0">
              <a:latin typeface="Arial" panose="020B0604020202020204" pitchFamily="34" charset="0"/>
              <a:cs typeface="Arial" panose="020B0604020202020204" pitchFamily="34" charset="0"/>
            </a:endParaRPr>
          </a:p>
        </p:txBody>
      </p:sp>
      <p:sp>
        <p:nvSpPr>
          <p:cNvPr id="8" name="Rectángulo 7"/>
          <p:cNvSpPr/>
          <p:nvPr/>
        </p:nvSpPr>
        <p:spPr>
          <a:xfrm>
            <a:off x="3904950" y="3541934"/>
            <a:ext cx="3893574" cy="769441"/>
          </a:xfrm>
          <a:prstGeom prst="rect">
            <a:avLst/>
          </a:prstGeom>
        </p:spPr>
        <p:txBody>
          <a:bodyPr wrap="square">
            <a:spAutoFit/>
          </a:bodyPr>
          <a:lstStyle/>
          <a:p>
            <a:pPr algn="just"/>
            <a:r>
              <a:rPr lang="es-MX" sz="2200" dirty="0">
                <a:latin typeface="Arial" panose="020B0604020202020204" pitchFamily="34" charset="0"/>
                <a:cs typeface="Arial" panose="020B0604020202020204" pitchFamily="34" charset="0"/>
              </a:rPr>
              <a:t>Transfiere calor por ascenso de un gas o un líquido.</a:t>
            </a:r>
          </a:p>
        </p:txBody>
      </p:sp>
      <p:sp>
        <p:nvSpPr>
          <p:cNvPr id="9" name="Rectángulo 8"/>
          <p:cNvSpPr/>
          <p:nvPr/>
        </p:nvSpPr>
        <p:spPr>
          <a:xfrm>
            <a:off x="348338" y="5165465"/>
            <a:ext cx="2668542" cy="584775"/>
          </a:xfrm>
          <a:prstGeom prst="rect">
            <a:avLst/>
          </a:prstGeom>
        </p:spPr>
        <p:txBody>
          <a:bodyPr wrap="square">
            <a:spAutoFit/>
          </a:bodyPr>
          <a:lstStyle/>
          <a:p>
            <a:pPr algn="just"/>
            <a:r>
              <a:rPr lang="es-MX" sz="32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Radiación</a:t>
            </a:r>
            <a:endParaRPr lang="es-MX" sz="2200" dirty="0">
              <a:latin typeface="Arial" panose="020B0604020202020204" pitchFamily="34" charset="0"/>
              <a:cs typeface="Arial" panose="020B0604020202020204" pitchFamily="34" charset="0"/>
            </a:endParaRPr>
          </a:p>
        </p:txBody>
      </p:sp>
      <p:sp>
        <p:nvSpPr>
          <p:cNvPr id="10" name="Rectángulo 9"/>
          <p:cNvSpPr/>
          <p:nvPr/>
        </p:nvSpPr>
        <p:spPr>
          <a:xfrm>
            <a:off x="3904950" y="5140869"/>
            <a:ext cx="3893574" cy="769441"/>
          </a:xfrm>
          <a:prstGeom prst="rect">
            <a:avLst/>
          </a:prstGeom>
        </p:spPr>
        <p:txBody>
          <a:bodyPr wrap="square">
            <a:spAutoFit/>
          </a:bodyPr>
          <a:lstStyle/>
          <a:p>
            <a:pPr algn="just"/>
            <a:r>
              <a:rPr lang="es-MX" sz="2200" dirty="0">
                <a:latin typeface="Arial" panose="020B0604020202020204" pitchFamily="34" charset="0"/>
                <a:cs typeface="Arial" panose="020B0604020202020204" pitchFamily="34" charset="0"/>
              </a:rPr>
              <a:t>Transfiere calor mediante ondas electromagnéticas.</a:t>
            </a:r>
          </a:p>
        </p:txBody>
      </p:sp>
      <p:pic>
        <p:nvPicPr>
          <p:cNvPr id="1026" name="Picture 2" descr="✓ Cómo se propaga el calor por conducción: principios básico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26880" y="937403"/>
            <a:ext cx="3126920" cy="19237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ué es la convección? | Explora | Univis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5890" y="3222812"/>
            <a:ext cx="2334678" cy="154799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ransferencia de Calor ::. Energia y Combustion"/>
          <p:cNvPicPr>
            <a:picLocks noChangeAspect="1" noChangeArrowheads="1"/>
          </p:cNvPicPr>
          <p:nvPr/>
        </p:nvPicPr>
        <p:blipFill rotWithShape="1">
          <a:blip r:embed="rId4">
            <a:extLst>
              <a:ext uri="{28A0092B-C50C-407E-A947-70E740481C1C}">
                <a14:useLocalDpi xmlns:a14="http://schemas.microsoft.com/office/drawing/2010/main" val="0"/>
              </a:ext>
            </a:extLst>
          </a:blip>
          <a:srcRect l="21695" t="60480" r="16225"/>
          <a:stretch>
            <a:fillRect/>
          </a:stretch>
        </p:blipFill>
        <p:spPr bwMode="auto">
          <a:xfrm>
            <a:off x="8472517" y="5016154"/>
            <a:ext cx="2576534" cy="1167334"/>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p:cNvSpPr/>
          <p:nvPr/>
        </p:nvSpPr>
        <p:spPr>
          <a:xfrm>
            <a:off x="9447597" y="5862151"/>
            <a:ext cx="811161" cy="2102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32</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Gas ideal</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Rectángulo 4"/>
          <p:cNvSpPr/>
          <p:nvPr/>
        </p:nvSpPr>
        <p:spPr>
          <a:xfrm>
            <a:off x="348337" y="1259287"/>
            <a:ext cx="6789881"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Descripción macroscópica de un gas ideal</a:t>
            </a:r>
            <a:endParaRPr lang="es-MX" dirty="0">
              <a:latin typeface="Arial" panose="020B0604020202020204" pitchFamily="34" charset="0"/>
              <a:cs typeface="Arial" panose="020B0604020202020204" pitchFamily="34" charset="0"/>
            </a:endParaRPr>
          </a:p>
        </p:txBody>
      </p:sp>
      <p:sp>
        <p:nvSpPr>
          <p:cNvPr id="6" name="Rectángulo 5"/>
          <p:cNvSpPr/>
          <p:nvPr/>
        </p:nvSpPr>
        <p:spPr>
          <a:xfrm>
            <a:off x="348337" y="1844062"/>
            <a:ext cx="11243761" cy="1200329"/>
          </a:xfrm>
          <a:prstGeom prst="rect">
            <a:avLst/>
          </a:prstGeom>
        </p:spPr>
        <p:txBody>
          <a:bodyPr wrap="square">
            <a:spAutoFit/>
          </a:bodyPr>
          <a:lstStyle/>
          <a:p>
            <a:pPr algn="just"/>
            <a:r>
              <a:rPr lang="es-MX" sz="2400" dirty="0">
                <a:cs typeface="Arial" panose="020B0604020202020204" pitchFamily="34" charset="0"/>
              </a:rPr>
              <a:t>En términos generales un gas ideal es un modelo donde se relacionan las magnitudes de Volumen, presión y temperatura bajo presiones bajas. Por lo que se reducen las ecuaciones de estado a un modelo simple.</a:t>
            </a:r>
          </a:p>
        </p:txBody>
      </p:sp>
      <mc:AlternateContent xmlns:mc="http://schemas.openxmlformats.org/markup-compatibility/2006" xmlns:a14="http://schemas.microsoft.com/office/drawing/2010/main">
        <mc:Choice Requires="a14">
          <p:sp>
            <p:nvSpPr>
              <p:cNvPr id="8" name="CuadroTexto 7"/>
              <p:cNvSpPr txBox="1"/>
              <p:nvPr/>
            </p:nvSpPr>
            <p:spPr>
              <a:xfrm>
                <a:off x="348336" y="3034769"/>
                <a:ext cx="11243762" cy="1569660"/>
              </a:xfrm>
              <a:prstGeom prst="rect">
                <a:avLst/>
              </a:prstGeom>
              <a:noFill/>
            </p:spPr>
            <p:txBody>
              <a:bodyPr wrap="square">
                <a:spAutoFit/>
              </a:bodyPr>
              <a:lstStyle/>
              <a:p>
                <a:pPr algn="just"/>
                <a:r>
                  <a:rPr lang="es-MX" sz="2400" dirty="0">
                    <a:cs typeface="Arial" panose="020B0604020202020204" pitchFamily="34" charset="0"/>
                  </a:rPr>
                  <a:t>Un </a:t>
                </a:r>
                <a:r>
                  <a:rPr lang="es-MX" sz="2400" dirty="0">
                    <a:solidFill>
                      <a:srgbClr val="0033CC"/>
                    </a:solidFill>
                    <a:cs typeface="Arial" panose="020B0604020202020204" pitchFamily="34" charset="0"/>
                  </a:rPr>
                  <a:t>mol </a:t>
                </a:r>
                <a:r>
                  <a:rPr lang="es-MX" sz="2400" dirty="0">
                    <a:cs typeface="Arial" panose="020B0604020202020204" pitchFamily="34" charset="0"/>
                  </a:rPr>
                  <a:t>de cualquier sustancia es aquella cantidad de la sustancia que contiene un número de Avogadro </a:t>
                </a:r>
                <a14:m>
                  <m:oMath xmlns:m="http://schemas.openxmlformats.org/officeDocument/2006/math">
                    <m:r>
                      <a:rPr lang="es-MX" sz="2400" i="1" dirty="0" smtClean="0">
                        <a:latin typeface="Cambria Math" panose="02040503050406030204" pitchFamily="18" charset="0"/>
                        <a:cs typeface="Arial" panose="020B0604020202020204" pitchFamily="34" charset="0"/>
                      </a:rPr>
                      <m:t>𝑁</m:t>
                    </m:r>
                    <m:r>
                      <a:rPr lang="es-MX" sz="2400" i="1" baseline="-25000" dirty="0">
                        <a:latin typeface="Cambria Math" panose="02040503050406030204" pitchFamily="18" charset="0"/>
                        <a:cs typeface="Arial" panose="020B0604020202020204" pitchFamily="34" charset="0"/>
                      </a:rPr>
                      <m:t>𝐴</m:t>
                    </m:r>
                    <m:r>
                      <a:rPr lang="es-MX" sz="2400" i="1" dirty="0">
                        <a:latin typeface="Cambria Math" panose="02040503050406030204" pitchFamily="18" charset="0"/>
                        <a:cs typeface="Arial" panose="020B0604020202020204" pitchFamily="34" charset="0"/>
                      </a:rPr>
                      <m:t> </m:t>
                    </m:r>
                    <m:r>
                      <a:rPr lang="es-MX" sz="2400" i="1" dirty="0" smtClean="0">
                        <a:latin typeface="Cambria Math" panose="02040503050406030204" pitchFamily="18" charset="0"/>
                        <a:cs typeface="Arial" panose="020B0604020202020204" pitchFamily="34" charset="0"/>
                      </a:rPr>
                      <m:t>= 6.022</m:t>
                    </m:r>
                    <m:r>
                      <a:rPr lang="es-MX" sz="2400" i="1" dirty="0" smtClean="0">
                        <a:latin typeface="Cambria Math" panose="02040503050406030204" pitchFamily="18" charset="0"/>
                        <a:ea typeface="Cambria Math" panose="02040503050406030204" pitchFamily="18" charset="0"/>
                        <a:cs typeface="Arial" panose="020B0604020202020204" pitchFamily="34" charset="0"/>
                      </a:rPr>
                      <m:t>×</m:t>
                    </m:r>
                    <m:sSup>
                      <m:sSupPr>
                        <m:ctrlPr>
                          <a:rPr lang="es-MX" sz="2400" i="1" dirty="0" smtClean="0">
                            <a:latin typeface="Cambria Math" panose="02040503050406030204" pitchFamily="18" charset="0"/>
                            <a:ea typeface="Cambria Math" panose="02040503050406030204" pitchFamily="18" charset="0"/>
                            <a:cs typeface="Arial" panose="020B0604020202020204" pitchFamily="34" charset="0"/>
                          </a:rPr>
                        </m:ctrlPr>
                      </m:sSupPr>
                      <m:e>
                        <m:r>
                          <a:rPr lang="es-MX" sz="2400" i="1" dirty="0">
                            <a:latin typeface="Cambria Math" panose="02040503050406030204" pitchFamily="18" charset="0"/>
                            <a:cs typeface="Arial" panose="020B0604020202020204" pitchFamily="34" charset="0"/>
                          </a:rPr>
                          <m:t>10</m:t>
                        </m:r>
                      </m:e>
                      <m:sup>
                        <m:r>
                          <a:rPr lang="es-MX" sz="2400" b="0" i="1" dirty="0" smtClean="0">
                            <a:latin typeface="Cambria Math" panose="02040503050406030204" pitchFamily="18" charset="0"/>
                            <a:ea typeface="Cambria Math" panose="02040503050406030204" pitchFamily="18" charset="0"/>
                            <a:cs typeface="Arial" panose="020B0604020202020204" pitchFamily="34" charset="0"/>
                          </a:rPr>
                          <m:t>23</m:t>
                        </m:r>
                      </m:sup>
                    </m:sSup>
                    <m:r>
                      <a:rPr lang="es-MX" sz="2400" i="1" dirty="0" smtClean="0">
                        <a:latin typeface="Cambria Math" panose="02040503050406030204" pitchFamily="18" charset="0"/>
                        <a:cs typeface="Arial" panose="020B0604020202020204" pitchFamily="34" charset="0"/>
                      </a:rPr>
                      <m:t> </m:t>
                    </m:r>
                  </m:oMath>
                </a14:m>
                <a:r>
                  <a:rPr lang="es-MX" sz="2400" dirty="0">
                    <a:cs typeface="Arial" panose="020B0604020202020204" pitchFamily="34" charset="0"/>
                  </a:rPr>
                  <a:t>de partículas constituyentes (átomos o moléculas). El número de moles n de una sustancia se relaciona con su masa m a través de la expresión</a:t>
                </a:r>
                <a:endParaRPr lang="es-CO" sz="2400" dirty="0">
                  <a:cs typeface="Arial" panose="020B0604020202020204" pitchFamily="34" charset="0"/>
                </a:endParaRPr>
              </a:p>
            </p:txBody>
          </p:sp>
        </mc:Choice>
        <mc:Fallback xmlns="">
          <p:sp>
            <p:nvSpPr>
              <p:cNvPr id="8" name="CuadroTexto 7"/>
              <p:cNvSpPr txBox="1">
                <a:spLocks noRot="1" noChangeAspect="1" noMove="1" noResize="1" noEditPoints="1" noAdjustHandles="1" noChangeArrowheads="1" noChangeShapeType="1" noTextEdit="1"/>
              </p:cNvSpPr>
              <p:nvPr/>
            </p:nvSpPr>
            <p:spPr>
              <a:xfrm>
                <a:off x="348336" y="3034769"/>
                <a:ext cx="11243762" cy="1569660"/>
              </a:xfrm>
              <a:prstGeom prst="rect">
                <a:avLst/>
              </a:prstGeom>
              <a:blipFill rotWithShape="1">
                <a:blip r:embed="rId2"/>
                <a:stretch>
                  <a:fillRect l="-3" t="-7" r="2" b="3"/>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5016555" y="4695658"/>
                <a:ext cx="1076898" cy="7351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rPr>
                        <m:t>𝑛</m:t>
                      </m:r>
                      <m:r>
                        <a:rPr lang="es-MX" sz="2800" b="0" i="1" smtClean="0">
                          <a:effectLst>
                            <a:outerShdw blurRad="38100" dist="38100" dir="2700000" algn="tl">
                              <a:srgbClr val="000000">
                                <a:alpha val="43137"/>
                              </a:srgbClr>
                            </a:outerShdw>
                          </a:effectLst>
                          <a:latin typeface="Cambria Math" panose="02040503050406030204" pitchFamily="18" charset="0"/>
                        </a:rPr>
                        <m:t>=</m:t>
                      </m:r>
                      <m:f>
                        <m:fPr>
                          <m:ctrlPr>
                            <a:rPr lang="es-MX" sz="2800" b="0" i="1" smtClean="0">
                              <a:effectLst>
                                <a:outerShdw blurRad="38100" dist="38100" dir="2700000" algn="tl">
                                  <a:srgbClr val="000000">
                                    <a:alpha val="43137"/>
                                  </a:srgbClr>
                                </a:outerShdw>
                              </a:effectLst>
                              <a:latin typeface="Cambria Math" panose="02040503050406030204" pitchFamily="18" charset="0"/>
                            </a:rPr>
                          </m:ctrlPr>
                        </m:fPr>
                        <m:num>
                          <m:r>
                            <a:rPr lang="es-MX" sz="2800" b="0" i="1" smtClean="0">
                              <a:effectLst>
                                <a:outerShdw blurRad="38100" dist="38100" dir="2700000" algn="tl">
                                  <a:srgbClr val="000000">
                                    <a:alpha val="43137"/>
                                  </a:srgbClr>
                                </a:outerShdw>
                              </a:effectLst>
                              <a:latin typeface="Cambria Math" panose="02040503050406030204" pitchFamily="18" charset="0"/>
                            </a:rPr>
                            <m:t>𝑚</m:t>
                          </m:r>
                        </m:num>
                        <m:den>
                          <m:r>
                            <a:rPr lang="es-MX" sz="2800" b="0" i="1" smtClean="0">
                              <a:effectLst>
                                <a:outerShdw blurRad="38100" dist="38100" dir="2700000" algn="tl">
                                  <a:srgbClr val="000000">
                                    <a:alpha val="43137"/>
                                  </a:srgbClr>
                                </a:outerShdw>
                              </a:effectLst>
                              <a:latin typeface="Cambria Math" panose="02040503050406030204" pitchFamily="18" charset="0"/>
                            </a:rPr>
                            <m:t>𝑀</m:t>
                          </m:r>
                        </m:den>
                      </m:f>
                    </m:oMath>
                  </m:oMathPara>
                </a14:m>
                <a:endParaRPr lang="es-CO" sz="2800" dirty="0">
                  <a:effectLst>
                    <a:outerShdw blurRad="38100" dist="38100" dir="2700000" algn="tl">
                      <a:srgbClr val="000000">
                        <a:alpha val="43137"/>
                      </a:srgbClr>
                    </a:outerShdw>
                  </a:effectLst>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5016555" y="4695658"/>
                <a:ext cx="1076898" cy="735138"/>
              </a:xfrm>
              <a:prstGeom prst="rect">
                <a:avLst/>
              </a:prstGeom>
              <a:blipFill rotWithShape="1">
                <a:blip r:embed="rId3"/>
                <a:stretch>
                  <a:fillRect l="-5" t="-64" r="-2595" b="-1863"/>
                </a:stretch>
              </a:blipFill>
            </p:spPr>
            <p:txBody>
              <a:bodyPr/>
              <a:lstStyle/>
              <a:p>
                <a:r>
                  <a:rPr lang="es-ES" altLang="en-US">
                    <a:noFill/>
                  </a:rPr>
                  <a:t> </a:t>
                </a:r>
              </a:p>
            </p:txBody>
          </p:sp>
        </mc:Fallback>
      </mc:AlternateContent>
      <p:sp>
        <p:nvSpPr>
          <p:cNvPr id="11" name="CuadroTexto 10"/>
          <p:cNvSpPr txBox="1"/>
          <p:nvPr/>
        </p:nvSpPr>
        <p:spPr>
          <a:xfrm>
            <a:off x="348336" y="5635012"/>
            <a:ext cx="9356103" cy="830997"/>
          </a:xfrm>
          <a:prstGeom prst="rect">
            <a:avLst/>
          </a:prstGeom>
          <a:noFill/>
        </p:spPr>
        <p:txBody>
          <a:bodyPr wrap="square">
            <a:spAutoFit/>
          </a:bodyPr>
          <a:lstStyle/>
          <a:p>
            <a:pPr algn="just"/>
            <a:r>
              <a:rPr lang="es-MX" sz="2400" dirty="0">
                <a:cs typeface="Arial" panose="020B0604020202020204" pitchFamily="34" charset="0"/>
              </a:rPr>
              <a:t>donde M es la masa molar de la sustancia. La masa molar de cada elemento químico es la masa atómica expresada en gramos por cada mol.</a:t>
            </a:r>
            <a:endParaRPr lang="es-CO" sz="2400" dirty="0">
              <a:cs typeface="Arial" panose="020B0604020202020204" pitchFamily="34" charset="0"/>
            </a:endParaRPr>
          </a:p>
        </p:txBody>
      </p:sp>
      <p:pic>
        <p:nvPicPr>
          <p:cNvPr id="4098" name="Picture 2" descr="Un mol de cualquier elemento... - Aprende química fácil | Faceboo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2927" y="4235098"/>
            <a:ext cx="1887659" cy="18876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33</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Gas ideal</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6" name="CuadroTexto 5"/>
          <p:cNvSpPr txBox="1"/>
          <p:nvPr/>
        </p:nvSpPr>
        <p:spPr>
          <a:xfrm>
            <a:off x="348338" y="1130648"/>
            <a:ext cx="11258643" cy="830997"/>
          </a:xfrm>
          <a:prstGeom prst="rect">
            <a:avLst/>
          </a:prstGeom>
          <a:noFill/>
        </p:spPr>
        <p:txBody>
          <a:bodyPr wrap="square">
            <a:spAutoFit/>
          </a:bodyPr>
          <a:lstStyle/>
          <a:p>
            <a:pPr algn="just"/>
            <a:r>
              <a:rPr lang="es-MX" sz="2400" b="0" i="0" u="none" strike="noStrike" baseline="0" dirty="0">
                <a:latin typeface="NewBaskerville-Roman"/>
              </a:rPr>
              <a:t>Suponga que un gas ideal esta confinado a un contenedor cilíndrico cuyo volumen puede variar mediante un pistón móvil, como en la figura. </a:t>
            </a:r>
          </a:p>
        </p:txBody>
      </p:sp>
      <p:sp>
        <p:nvSpPr>
          <p:cNvPr id="8" name="CuadroTexto 7"/>
          <p:cNvSpPr txBox="1"/>
          <p:nvPr/>
        </p:nvSpPr>
        <p:spPr>
          <a:xfrm>
            <a:off x="348338" y="1828913"/>
            <a:ext cx="8574436" cy="4385816"/>
          </a:xfrm>
          <a:prstGeom prst="rect">
            <a:avLst/>
          </a:prstGeom>
          <a:noFill/>
        </p:spPr>
        <p:txBody>
          <a:bodyPr wrap="square">
            <a:spAutoFit/>
          </a:bodyPr>
          <a:lstStyle/>
          <a:p>
            <a:pPr algn="just"/>
            <a:r>
              <a:rPr lang="es-MX" sz="2400" b="0" i="0" u="none" strike="noStrike" baseline="0" dirty="0">
                <a:latin typeface="NewBaskerville-Roman"/>
              </a:rPr>
              <a:t>Si supone que el cilindro no tiene fugas, la masa (o el numero de moles) del gas permanece constante. Para tal sistema, los experimentos proporcionan la siguiente información:</a:t>
            </a:r>
          </a:p>
          <a:p>
            <a:pPr marL="342900" indent="-342900" algn="just">
              <a:buFont typeface="Arial" panose="020B0604020202020204" pitchFamily="34" charset="0"/>
              <a:buChar char="•"/>
            </a:pPr>
            <a:r>
              <a:rPr lang="es-MX" sz="2300" b="0" i="0" u="none" strike="noStrike" baseline="0" dirty="0">
                <a:effectLst>
                  <a:outerShdw blurRad="38100" dist="38100" dir="2700000" algn="tl">
                    <a:srgbClr val="000000">
                      <a:alpha val="43137"/>
                    </a:srgbClr>
                  </a:outerShdw>
                </a:effectLst>
                <a:latin typeface="NewBaskerville-Roman"/>
              </a:rPr>
              <a:t>Cuando el gas se mantiene a una temperatura constante, su presión es inversamente proporcional al volumen.                         (Este comportamiento se describe como ley de Boyle.)</a:t>
            </a:r>
          </a:p>
          <a:p>
            <a:pPr marL="342900" indent="-342900" algn="just">
              <a:buFont typeface="Arial" panose="020B0604020202020204" pitchFamily="34" charset="0"/>
              <a:buChar char="•"/>
            </a:pPr>
            <a:r>
              <a:rPr lang="es-MX" sz="2300" b="0" i="0" u="none" strike="noStrike" baseline="0" dirty="0">
                <a:effectLst>
                  <a:outerShdw blurRad="38100" dist="38100" dir="2700000" algn="tl">
                    <a:srgbClr val="000000">
                      <a:alpha val="43137"/>
                    </a:srgbClr>
                  </a:outerShdw>
                </a:effectLst>
                <a:latin typeface="NewBaskerville-Roman"/>
              </a:rPr>
              <a:t>Cuando la presión del gas se mantiene constante, el volumen es directamente proporcional a la temperatura. (Este comportamiento se describe como ley de Charles.)</a:t>
            </a:r>
          </a:p>
          <a:p>
            <a:pPr marL="342900" indent="-342900" algn="just">
              <a:buFont typeface="Arial" panose="020B0604020202020204" pitchFamily="34" charset="0"/>
              <a:buChar char="•"/>
            </a:pPr>
            <a:r>
              <a:rPr lang="es-MX" sz="2300" b="0" i="0" u="none" strike="noStrike" baseline="0" dirty="0">
                <a:effectLst>
                  <a:outerShdw blurRad="38100" dist="38100" dir="2700000" algn="tl">
                    <a:srgbClr val="000000">
                      <a:alpha val="43137"/>
                    </a:srgbClr>
                  </a:outerShdw>
                </a:effectLst>
                <a:latin typeface="NewBaskerville-Roman"/>
              </a:rPr>
              <a:t>Cuando el volumen del gas se mantiene constante, la presión es directamente proporcional a la temperatura. (Este comportamiento se describe como ley de </a:t>
            </a:r>
            <a:r>
              <a:rPr lang="es-CO" sz="2300" b="0" i="0" u="none" strike="noStrike" baseline="0" dirty="0">
                <a:effectLst>
                  <a:outerShdw blurRad="38100" dist="38100" dir="2700000" algn="tl">
                    <a:srgbClr val="000000">
                      <a:alpha val="43137"/>
                    </a:srgbClr>
                  </a:outerShdw>
                </a:effectLst>
                <a:latin typeface="NewBaskerville-Roman"/>
              </a:rPr>
              <a:t>Gay–Lussac.)</a:t>
            </a:r>
            <a:endParaRPr lang="es-CO" sz="2300" dirty="0">
              <a:effectLst>
                <a:outerShdw blurRad="38100" dist="38100" dir="2700000" algn="tl">
                  <a:srgbClr val="000000">
                    <a:alpha val="43137"/>
                  </a:srgbClr>
                </a:outerShdw>
              </a:effectLst>
            </a:endParaRPr>
          </a:p>
        </p:txBody>
      </p:sp>
      <p:pic>
        <p:nvPicPr>
          <p:cNvPr id="10" name="Imagen 9"/>
          <p:cNvPicPr>
            <a:picLocks noChangeAspect="1"/>
          </p:cNvPicPr>
          <p:nvPr/>
        </p:nvPicPr>
        <p:blipFill>
          <a:blip r:embed="rId2"/>
          <a:stretch>
            <a:fillRect/>
          </a:stretch>
        </p:blipFill>
        <p:spPr>
          <a:xfrm>
            <a:off x="9573719" y="1961645"/>
            <a:ext cx="1721089" cy="3742951"/>
          </a:xfrm>
          <a:prstGeom prst="rect">
            <a:avLst/>
          </a:prstGeom>
        </p:spPr>
      </p:pic>
      <mc:AlternateContent xmlns:mc="http://schemas.openxmlformats.org/markup-compatibility/2006" xmlns:a14="http://schemas.microsoft.com/office/drawing/2010/main">
        <mc:Choice Requires="a14">
          <p:sp>
            <p:nvSpPr>
              <p:cNvPr id="11" name="CuadroTexto 10"/>
              <p:cNvSpPr txBox="1"/>
              <p:nvPr/>
            </p:nvSpPr>
            <p:spPr>
              <a:xfrm>
                <a:off x="9632711" y="5813417"/>
                <a:ext cx="166475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rPr>
                        <m:t>𝑃𝑉</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𝑛𝑅𝑇</m:t>
                      </m:r>
                    </m:oMath>
                  </m:oMathPara>
                </a14:m>
                <a:endParaRPr lang="es-CO" sz="2800" dirty="0">
                  <a:effectLst>
                    <a:outerShdw blurRad="38100" dist="38100" dir="2700000" algn="tl">
                      <a:srgbClr val="000000">
                        <a:alpha val="43137"/>
                      </a:srgbClr>
                    </a:outerShdw>
                  </a:effectLst>
                </a:endParaRPr>
              </a:p>
            </p:txBody>
          </p:sp>
        </mc:Choice>
        <mc:Fallback xmlns="">
          <p:sp>
            <p:nvSpPr>
              <p:cNvPr id="11" name="CuadroTexto 10"/>
              <p:cNvSpPr txBox="1">
                <a:spLocks noRot="1" noChangeAspect="1" noMove="1" noResize="1" noEditPoints="1" noAdjustHandles="1" noChangeArrowheads="1" noChangeShapeType="1" noTextEdit="1"/>
              </p:cNvSpPr>
              <p:nvPr/>
            </p:nvSpPr>
            <p:spPr>
              <a:xfrm>
                <a:off x="9632711" y="5813417"/>
                <a:ext cx="1664751" cy="430887"/>
              </a:xfrm>
              <a:prstGeom prst="rect">
                <a:avLst/>
              </a:prstGeom>
              <a:blipFill rotWithShape="1">
                <a:blip r:embed="rId3"/>
                <a:stretch>
                  <a:fillRect l="-24" t="-146" r="-1363" b="81"/>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334738" y="6148377"/>
                <a:ext cx="6194322" cy="369332"/>
              </a:xfrm>
              <a:prstGeom prst="rect">
                <a:avLst/>
              </a:prstGeom>
              <a:noFill/>
            </p:spPr>
            <p:txBody>
              <a:bodyPr wrap="square">
                <a:spAutoFit/>
              </a:bodyPr>
              <a:lstStyle/>
              <a:p>
                <a14:m>
                  <m:oMath xmlns:m="http://schemas.openxmlformats.org/officeDocument/2006/math">
                    <m:r>
                      <a:rPr lang="es-MX" b="1" i="1" dirty="0" smtClean="0">
                        <a:latin typeface="Cambria Math" panose="02040503050406030204" pitchFamily="18" charset="0"/>
                      </a:rPr>
                      <m:t>𝑹</m:t>
                    </m:r>
                  </m:oMath>
                </a14:m>
                <a:r>
                  <a:rPr lang="es-MX" dirty="0"/>
                  <a:t> se llama constante universal de los gases  = 8.314 J/mol </a:t>
                </a:r>
                <a14:m>
                  <m:oMath xmlns:m="http://schemas.openxmlformats.org/officeDocument/2006/math">
                    <m:r>
                      <a:rPr lang="es-MX"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 </m:t>
                    </m:r>
                  </m:oMath>
                </a14:m>
                <a:r>
                  <a:rPr lang="es-MX" dirty="0"/>
                  <a:t>K</a:t>
                </a:r>
                <a:endParaRPr lang="es-CO"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334738" y="6148377"/>
                <a:ext cx="6194322" cy="369332"/>
              </a:xfrm>
              <a:prstGeom prst="rect">
                <a:avLst/>
              </a:prstGeom>
              <a:blipFill rotWithShape="1">
                <a:blip r:embed="rId4"/>
                <a:stretch>
                  <a:fillRect l="-2" t="-83" r="10" b="19"/>
                </a:stretch>
              </a:blipFill>
            </p:spPr>
            <p:txBody>
              <a:bodyPr/>
              <a:lstStyle/>
              <a:p>
                <a:r>
                  <a:rPr lang="es-ES" altLang="en-US">
                    <a:noFill/>
                  </a:rPr>
                  <a:t> </a:t>
                </a:r>
              </a:p>
            </p:txBody>
          </p:sp>
        </mc:Fallback>
      </mc:AlternateContent>
      <p:cxnSp>
        <p:nvCxnSpPr>
          <p:cNvPr id="15" name="Conector recto 14"/>
          <p:cNvCxnSpPr/>
          <p:nvPr/>
        </p:nvCxnSpPr>
        <p:spPr>
          <a:xfrm>
            <a:off x="451574" y="6148377"/>
            <a:ext cx="5629321" cy="0"/>
          </a:xfrm>
          <a:prstGeom prst="line">
            <a:avLst/>
          </a:prstGeom>
          <a:ln>
            <a:solidFill>
              <a:srgbClr val="FB0517"/>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34</a:t>
            </a:fld>
            <a:endParaRPr lang="es-CO" dirty="0"/>
          </a:p>
        </p:txBody>
      </p:sp>
      <p:sp>
        <p:nvSpPr>
          <p:cNvPr id="4" name="CuadroTexto 3"/>
          <p:cNvSpPr txBox="1"/>
          <p:nvPr/>
        </p:nvSpPr>
        <p:spPr>
          <a:xfrm>
            <a:off x="358594" y="706870"/>
            <a:ext cx="11469612" cy="1938992"/>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11.</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Una lata de aerosol que contiene un gas propelente al doble de la presión atmosférica (202 kPa) y que tiene un volumen de 125.00 cm</a:t>
            </a:r>
            <a:r>
              <a:rPr lang="es-MX" sz="2400" baseline="30000" dirty="0">
                <a:latin typeface="Arial" panose="020B0604020202020204" pitchFamily="34" charset="0"/>
                <a:cs typeface="Arial" panose="020B0604020202020204" pitchFamily="34" charset="0"/>
              </a:rPr>
              <a:t>3</a:t>
            </a:r>
            <a:r>
              <a:rPr lang="es-MX" sz="2400" dirty="0">
                <a:latin typeface="Arial" panose="020B0604020202020204" pitchFamily="34" charset="0"/>
                <a:cs typeface="Arial" panose="020B0604020202020204" pitchFamily="34" charset="0"/>
              </a:rPr>
              <a:t> está a 22°C. Después se lanza a un fuego abierto. Cuando la temperatura del gas en la lata alcanza 195°C, ¿cuál es la presión dentro de la lata? Suponga que cualquier cambio en el volumen de la lata es despreciable.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35</a:t>
            </a:fld>
            <a:endParaRPr lang="es-CO" dirty="0"/>
          </a:p>
        </p:txBody>
      </p:sp>
      <mc:AlternateContent xmlns:mc="http://schemas.openxmlformats.org/markup-compatibility/2006" xmlns:a14="http://schemas.microsoft.com/office/drawing/2010/main">
        <mc:Choice Requires="a14">
          <p:sp>
            <p:nvSpPr>
              <p:cNvPr id="4" name="CuadroTexto 3"/>
              <p:cNvSpPr txBox="1"/>
              <p:nvPr/>
            </p:nvSpPr>
            <p:spPr>
              <a:xfrm>
                <a:off x="358594" y="706870"/>
                <a:ext cx="11336877" cy="2312493"/>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12.</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Un tanque de buceo común tiene un volumen de 11.0 L y una presión manométrica, cuando está lleno, de </a:t>
                </a:r>
                <a14:m>
                  <m:oMath xmlns:m="http://schemas.openxmlformats.org/officeDocument/2006/math">
                    <m:r>
                      <a:rPr lang="es-MX" sz="2400" i="0" dirty="0" smtClean="0">
                        <a:latin typeface="Cambria Math" panose="02040503050406030204" pitchFamily="18" charset="0"/>
                        <a:cs typeface="Arial" panose="020B0604020202020204" pitchFamily="34" charset="0"/>
                      </a:rPr>
                      <m:t>2.10 </m:t>
                    </m:r>
                    <m:r>
                      <a:rPr lang="es-MX" sz="2400" i="1" dirty="0" smtClean="0">
                        <a:latin typeface="Cambria Math" panose="02040503050406030204" pitchFamily="18" charset="0"/>
                        <a:ea typeface="Cambria Math" panose="02040503050406030204" pitchFamily="18" charset="0"/>
                        <a:cs typeface="Arial" panose="020B0604020202020204" pitchFamily="34" charset="0"/>
                      </a:rPr>
                      <m:t>×</m:t>
                    </m:r>
                    <m:sSup>
                      <m:sSupPr>
                        <m:ctrlPr>
                          <a:rPr lang="es-MX" sz="2400" i="1" dirty="0" smtClean="0">
                            <a:latin typeface="Cambria Math" panose="02040503050406030204" pitchFamily="18" charset="0"/>
                            <a:ea typeface="Cambria Math" panose="02040503050406030204" pitchFamily="18" charset="0"/>
                            <a:cs typeface="Arial" panose="020B0604020202020204" pitchFamily="34" charset="0"/>
                          </a:rPr>
                        </m:ctrlPr>
                      </m:sSupPr>
                      <m:e>
                        <m:r>
                          <a:rPr lang="es-MX" sz="2400" b="0" i="1" dirty="0" smtClean="0">
                            <a:latin typeface="Cambria Math" panose="02040503050406030204" pitchFamily="18" charset="0"/>
                            <a:ea typeface="Cambria Math" panose="02040503050406030204" pitchFamily="18" charset="0"/>
                            <a:cs typeface="Arial" panose="020B0604020202020204" pitchFamily="34" charset="0"/>
                          </a:rPr>
                          <m:t>10</m:t>
                        </m:r>
                      </m:e>
                      <m:sup>
                        <m:r>
                          <a:rPr lang="es-MX" sz="2400" b="0" i="1" dirty="0" smtClean="0">
                            <a:latin typeface="Cambria Math" panose="02040503050406030204" pitchFamily="18" charset="0"/>
                            <a:ea typeface="Cambria Math" panose="02040503050406030204" pitchFamily="18" charset="0"/>
                            <a:cs typeface="Arial" panose="020B0604020202020204" pitchFamily="34" charset="0"/>
                          </a:rPr>
                          <m:t>7</m:t>
                        </m:r>
                      </m:sup>
                    </m:sSup>
                    <m:r>
                      <a:rPr lang="es-MX" sz="2400" i="0" dirty="0" smtClean="0">
                        <a:latin typeface="Cambria Math" panose="02040503050406030204" pitchFamily="18" charset="0"/>
                        <a:cs typeface="Arial" panose="020B0604020202020204" pitchFamily="34" charset="0"/>
                      </a:rPr>
                      <m:t> </m:t>
                    </m:r>
                    <m:r>
                      <m:rPr>
                        <m:sty m:val="p"/>
                      </m:rPr>
                      <a:rPr lang="es-MX" sz="2400" i="0" dirty="0" err="1" smtClean="0">
                        <a:latin typeface="Cambria Math" panose="02040503050406030204" pitchFamily="18" charset="0"/>
                        <a:cs typeface="Arial" panose="020B0604020202020204" pitchFamily="34" charset="0"/>
                      </a:rPr>
                      <m:t>Pa</m:t>
                    </m:r>
                  </m:oMath>
                </a14:m>
                <a:r>
                  <a:rPr lang="es-MX" sz="2400" dirty="0">
                    <a:latin typeface="Arial" panose="020B0604020202020204" pitchFamily="34" charset="0"/>
                    <a:cs typeface="Arial" panose="020B0604020202020204" pitchFamily="34" charset="0"/>
                  </a:rPr>
                  <a:t>. El tanque “vacío” contiene 11.0 L de aire a 21 °C y 1 atm (</a:t>
                </a:r>
                <a14:m>
                  <m:oMath xmlns:m="http://schemas.openxmlformats.org/officeDocument/2006/math">
                    <m:r>
                      <a:rPr lang="es-MX" sz="2400" i="1" dirty="0" smtClean="0">
                        <a:latin typeface="Cambria Math" panose="02040503050406030204" pitchFamily="18" charset="0"/>
                        <a:cs typeface="Arial" panose="020B0604020202020204" pitchFamily="34" charset="0"/>
                      </a:rPr>
                      <m:t>1.013</m:t>
                    </m:r>
                    <m:r>
                      <a:rPr lang="es-MX" sz="2400" i="1" dirty="0" smtClean="0">
                        <a:latin typeface="Cambria Math" panose="02040503050406030204" pitchFamily="18" charset="0"/>
                        <a:ea typeface="Cambria Math" panose="02040503050406030204" pitchFamily="18" charset="0"/>
                        <a:cs typeface="Arial" panose="020B0604020202020204" pitchFamily="34" charset="0"/>
                      </a:rPr>
                      <m:t>×</m:t>
                    </m:r>
                    <m:sSup>
                      <m:sSupPr>
                        <m:ctrlPr>
                          <a:rPr lang="es-MX" sz="2400" i="1" dirty="0" smtClean="0">
                            <a:latin typeface="Cambria Math" panose="02040503050406030204" pitchFamily="18" charset="0"/>
                            <a:ea typeface="Cambria Math" panose="02040503050406030204" pitchFamily="18" charset="0"/>
                            <a:cs typeface="Arial" panose="020B0604020202020204" pitchFamily="34" charset="0"/>
                          </a:rPr>
                        </m:ctrlPr>
                      </m:sSupPr>
                      <m:e>
                        <m:r>
                          <a:rPr lang="es-MX" sz="2400" b="0" i="1" dirty="0" smtClean="0">
                            <a:latin typeface="Cambria Math" panose="02040503050406030204" pitchFamily="18" charset="0"/>
                            <a:ea typeface="Cambria Math" panose="02040503050406030204" pitchFamily="18" charset="0"/>
                            <a:cs typeface="Arial" panose="020B0604020202020204" pitchFamily="34" charset="0"/>
                          </a:rPr>
                          <m:t>10</m:t>
                        </m:r>
                      </m:e>
                      <m:sup>
                        <m:r>
                          <a:rPr lang="es-MX" sz="2400" b="0" i="1" dirty="0" smtClean="0">
                            <a:latin typeface="Cambria Math" panose="02040503050406030204" pitchFamily="18" charset="0"/>
                            <a:ea typeface="Cambria Math" panose="02040503050406030204" pitchFamily="18" charset="0"/>
                            <a:cs typeface="Arial" panose="020B0604020202020204" pitchFamily="34" charset="0"/>
                          </a:rPr>
                          <m:t>5</m:t>
                        </m:r>
                      </m:sup>
                    </m:sSup>
                    <m:r>
                      <a:rPr lang="es-MX" sz="2400" b="0" i="1" dirty="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s-MX" sz="2400" i="0" dirty="0" err="1" smtClean="0">
                        <a:latin typeface="Cambria Math" panose="02040503050406030204" pitchFamily="18" charset="0"/>
                        <a:cs typeface="Arial" panose="020B0604020202020204" pitchFamily="34" charset="0"/>
                      </a:rPr>
                      <m:t>Pa</m:t>
                    </m:r>
                  </m:oMath>
                </a14:m>
                <a:r>
                  <a:rPr lang="es-MX" sz="2400" dirty="0">
                    <a:latin typeface="Arial" panose="020B0604020202020204" pitchFamily="34" charset="0"/>
                    <a:cs typeface="Arial" panose="020B0604020202020204" pitchFamily="34" charset="0"/>
                  </a:rPr>
                  <a:t>). Cuando el tanque se llena con aire caliente de una compresora, la temperatura es de 42 °C y la presión manométrica es de </a:t>
                </a:r>
                <a14:m>
                  <m:oMath xmlns:m="http://schemas.openxmlformats.org/officeDocument/2006/math">
                    <m:r>
                      <a:rPr lang="es-MX" sz="2400" b="0" i="1" dirty="0" smtClean="0">
                        <a:latin typeface="Cambria Math" panose="02040503050406030204" pitchFamily="18" charset="0"/>
                        <a:cs typeface="Arial" panose="020B0604020202020204" pitchFamily="34" charset="0"/>
                      </a:rPr>
                      <m:t>2</m:t>
                    </m:r>
                    <m:r>
                      <a:rPr lang="es-MX" sz="2400" i="1" dirty="0">
                        <a:latin typeface="Cambria Math" panose="02040503050406030204" pitchFamily="18" charset="0"/>
                        <a:cs typeface="Arial" panose="020B0604020202020204" pitchFamily="34" charset="0"/>
                      </a:rPr>
                      <m:t>.</m:t>
                    </m:r>
                    <m:r>
                      <a:rPr lang="es-MX" sz="2400" b="0" i="1" dirty="0" smtClean="0">
                        <a:latin typeface="Cambria Math" panose="02040503050406030204" pitchFamily="18" charset="0"/>
                        <a:cs typeface="Arial" panose="020B0604020202020204" pitchFamily="34" charset="0"/>
                      </a:rPr>
                      <m:t>10</m:t>
                    </m:r>
                    <m:r>
                      <a:rPr lang="es-MX" sz="2400" i="1" dirty="0">
                        <a:latin typeface="Cambria Math" panose="02040503050406030204" pitchFamily="18" charset="0"/>
                        <a:ea typeface="Cambria Math" panose="02040503050406030204" pitchFamily="18" charset="0"/>
                        <a:cs typeface="Arial" panose="020B0604020202020204" pitchFamily="34" charset="0"/>
                      </a:rPr>
                      <m:t>×</m:t>
                    </m:r>
                    <m:sSup>
                      <m:sSupPr>
                        <m:ctrlPr>
                          <a:rPr lang="es-MX" sz="2400" i="1" dirty="0">
                            <a:latin typeface="Cambria Math" panose="02040503050406030204" pitchFamily="18" charset="0"/>
                            <a:ea typeface="Cambria Math" panose="02040503050406030204" pitchFamily="18" charset="0"/>
                            <a:cs typeface="Arial" panose="020B0604020202020204" pitchFamily="34" charset="0"/>
                          </a:rPr>
                        </m:ctrlPr>
                      </m:sSupPr>
                      <m:e>
                        <m:r>
                          <a:rPr lang="es-MX" sz="2400" i="1" dirty="0">
                            <a:latin typeface="Cambria Math" panose="02040503050406030204" pitchFamily="18" charset="0"/>
                            <a:ea typeface="Cambria Math" panose="02040503050406030204" pitchFamily="18" charset="0"/>
                            <a:cs typeface="Arial" panose="020B0604020202020204" pitchFamily="34" charset="0"/>
                          </a:rPr>
                          <m:t>10</m:t>
                        </m:r>
                      </m:e>
                      <m:sup>
                        <m:r>
                          <a:rPr lang="es-MX" sz="2400" b="0" i="1" dirty="0" smtClean="0">
                            <a:latin typeface="Cambria Math" panose="02040503050406030204" pitchFamily="18" charset="0"/>
                            <a:ea typeface="Cambria Math" panose="02040503050406030204" pitchFamily="18" charset="0"/>
                            <a:cs typeface="Arial" panose="020B0604020202020204" pitchFamily="34" charset="0"/>
                          </a:rPr>
                          <m:t>7</m:t>
                        </m:r>
                      </m:sup>
                    </m:sSup>
                    <m:r>
                      <a:rPr lang="es-MX" sz="2400" i="1" dirty="0">
                        <a:latin typeface="Cambria Math" panose="02040503050406030204" pitchFamily="18" charset="0"/>
                        <a:ea typeface="Cambria Math" panose="02040503050406030204" pitchFamily="18" charset="0"/>
                        <a:cs typeface="Arial" panose="020B0604020202020204" pitchFamily="34" charset="0"/>
                      </a:rPr>
                      <m:t> </m:t>
                    </m:r>
                    <m:r>
                      <m:rPr>
                        <m:sty m:val="p"/>
                      </m:rPr>
                      <a:rPr lang="es-MX" sz="2400" i="0" dirty="0" err="1">
                        <a:latin typeface="Cambria Math" panose="02040503050406030204" pitchFamily="18" charset="0"/>
                        <a:cs typeface="Arial" panose="020B0604020202020204" pitchFamily="34" charset="0"/>
                      </a:rPr>
                      <m:t>Pa</m:t>
                    </m:r>
                  </m:oMath>
                </a14:m>
                <a:r>
                  <a:rPr lang="es-MX" sz="2400" dirty="0">
                    <a:latin typeface="Arial" panose="020B0604020202020204" pitchFamily="34" charset="0"/>
                    <a:cs typeface="Arial" panose="020B0604020202020204" pitchFamily="34" charset="0"/>
                  </a:rPr>
                  <a:t>. ¿Qué masa de aire se agregó? Masa molar de aire es de </a:t>
                </a:r>
                <a:r>
                  <a:rPr lang="es-MX" sz="2400" dirty="0">
                    <a:latin typeface="Cambria Math" panose="02040503050406030204" pitchFamily="18" charset="0"/>
                    <a:cs typeface="Arial" panose="020B0604020202020204" pitchFamily="34" charset="0"/>
                  </a:rPr>
                  <a:t>28.8 g/mol </a:t>
                </a:r>
                <a:r>
                  <a:rPr lang="es-MX" sz="2400" dirty="0">
                    <a:latin typeface="Arial" panose="020B0604020202020204" pitchFamily="34" charset="0"/>
                    <a:cs typeface="Arial" panose="020B0604020202020204" pitchFamily="34" charset="0"/>
                  </a:rPr>
                  <a:t>= </a:t>
                </a:r>
                <a14:m>
                  <m:oMath xmlns:m="http://schemas.openxmlformats.org/officeDocument/2006/math">
                    <m:r>
                      <a:rPr lang="es-MX" sz="2400" i="1" dirty="0" smtClean="0">
                        <a:latin typeface="Cambria Math" panose="02040503050406030204" pitchFamily="18" charset="0"/>
                        <a:cs typeface="Arial" panose="020B0604020202020204" pitchFamily="34" charset="0"/>
                      </a:rPr>
                      <m:t>28.8</m:t>
                    </m:r>
                    <m:r>
                      <a:rPr lang="es-MX" sz="2400" i="1" dirty="0" smtClean="0">
                        <a:latin typeface="Cambria Math" panose="02040503050406030204" pitchFamily="18" charset="0"/>
                        <a:ea typeface="Cambria Math" panose="02040503050406030204" pitchFamily="18" charset="0"/>
                        <a:cs typeface="Arial" panose="020B0604020202020204" pitchFamily="34" charset="0"/>
                      </a:rPr>
                      <m:t>×</m:t>
                    </m:r>
                    <m:sSup>
                      <m:sSupPr>
                        <m:ctrlPr>
                          <a:rPr lang="es-MX" sz="2400" i="1" dirty="0" smtClean="0">
                            <a:latin typeface="Cambria Math" panose="02040503050406030204" pitchFamily="18" charset="0"/>
                            <a:ea typeface="Cambria Math" panose="02040503050406030204" pitchFamily="18" charset="0"/>
                            <a:cs typeface="Arial" panose="020B0604020202020204" pitchFamily="34" charset="0"/>
                          </a:rPr>
                        </m:ctrlPr>
                      </m:sSupPr>
                      <m:e>
                        <m:r>
                          <a:rPr lang="es-MX" sz="2400" b="0" i="1" dirty="0" smtClean="0">
                            <a:latin typeface="Cambria Math" panose="02040503050406030204" pitchFamily="18" charset="0"/>
                            <a:ea typeface="Cambria Math" panose="02040503050406030204" pitchFamily="18" charset="0"/>
                            <a:cs typeface="Arial" panose="020B0604020202020204" pitchFamily="34" charset="0"/>
                          </a:rPr>
                          <m:t>10</m:t>
                        </m:r>
                      </m:e>
                      <m:sup>
                        <m:r>
                          <a:rPr lang="es-MX" sz="2400" b="0" i="1" dirty="0" smtClean="0">
                            <a:latin typeface="Cambria Math" panose="02040503050406030204" pitchFamily="18" charset="0"/>
                            <a:ea typeface="Cambria Math" panose="02040503050406030204" pitchFamily="18" charset="0"/>
                            <a:cs typeface="Arial" panose="020B0604020202020204" pitchFamily="34" charset="0"/>
                          </a:rPr>
                          <m:t>−3</m:t>
                        </m:r>
                      </m:sup>
                    </m:sSup>
                    <m:r>
                      <a:rPr lang="es-MX" sz="2400" i="1" dirty="0" smtClean="0">
                        <a:latin typeface="Cambria Math" panose="02040503050406030204" pitchFamily="18" charset="0"/>
                        <a:cs typeface="Arial" panose="020B0604020202020204" pitchFamily="34" charset="0"/>
                      </a:rPr>
                      <m:t> </m:t>
                    </m:r>
                    <m:r>
                      <a:rPr lang="es-MX" sz="2400" i="1" dirty="0" smtClean="0">
                        <a:latin typeface="Cambria Math" panose="02040503050406030204" pitchFamily="18" charset="0"/>
                        <a:cs typeface="Arial" panose="020B0604020202020204" pitchFamily="34" charset="0"/>
                      </a:rPr>
                      <m:t>𝑘</m:t>
                    </m:r>
                    <m:r>
                      <m:rPr>
                        <m:sty m:val="p"/>
                      </m:rPr>
                      <a:rPr lang="es-MX" sz="2400" i="0" dirty="0" smtClean="0">
                        <a:latin typeface="Cambria Math" panose="02040503050406030204" pitchFamily="18" charset="0"/>
                        <a:cs typeface="Arial" panose="020B0604020202020204" pitchFamily="34" charset="0"/>
                      </a:rPr>
                      <m:t>g</m:t>
                    </m:r>
                    <m:r>
                      <a:rPr lang="es-MX" sz="2400" i="1" dirty="0" smtClean="0">
                        <a:latin typeface="Cambria Math" panose="02040503050406030204" pitchFamily="18" charset="0"/>
                        <a:cs typeface="Arial" panose="020B0604020202020204" pitchFamily="34" charset="0"/>
                      </a:rPr>
                      <m:t>/</m:t>
                    </m:r>
                    <m:r>
                      <a:rPr lang="es-MX" sz="2400" i="1" dirty="0" smtClean="0">
                        <a:latin typeface="Cambria Math" panose="02040503050406030204" pitchFamily="18" charset="0"/>
                        <a:cs typeface="Arial" panose="020B0604020202020204" pitchFamily="34" charset="0"/>
                      </a:rPr>
                      <m:t>𝑚𝑜𝑙</m:t>
                    </m:r>
                  </m:oMath>
                </a14:m>
                <a:r>
                  <a:rPr lang="es-MX" sz="2400" dirty="0">
                    <a:latin typeface="Arial" panose="020B0604020202020204" pitchFamily="34" charset="0"/>
                    <a:cs typeface="Arial" panose="020B0604020202020204" pitchFamily="34" charset="0"/>
                  </a:rPr>
                  <a:t>.)</a:t>
                </a:r>
              </a:p>
            </p:txBody>
          </p:sp>
        </mc:Choice>
        <mc:Fallback xmlns="">
          <p:sp>
            <p:nvSpPr>
              <p:cNvPr id="4" name="CuadroTexto 3"/>
              <p:cNvSpPr txBox="1">
                <a:spLocks noRot="1" noChangeAspect="1" noMove="1" noResize="1" noEditPoints="1" noAdjustHandles="1" noChangeArrowheads="1" noChangeShapeType="1" noTextEdit="1"/>
              </p:cNvSpPr>
              <p:nvPr/>
            </p:nvSpPr>
            <p:spPr>
              <a:xfrm>
                <a:off x="358594" y="706870"/>
                <a:ext cx="11336877" cy="2312493"/>
              </a:xfrm>
              <a:prstGeom prst="rect">
                <a:avLst/>
              </a:prstGeom>
              <a:blipFill rotWithShape="1">
                <a:blip r:embed="rId2"/>
                <a:stretch>
                  <a:fillRect l="-4" t="-5" b="25"/>
                </a:stretch>
              </a:blipFill>
            </p:spPr>
            <p:txBody>
              <a:bodyPr/>
              <a:lstStyle/>
              <a:p>
                <a:r>
                  <a:rPr lang="es-ES" altLang="en-US">
                    <a:noFill/>
                  </a:rPr>
                  <a:t> </a:t>
                </a:r>
              </a:p>
            </p:txBody>
          </p:sp>
        </mc:Fallback>
      </mc:AlternateContent>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36</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Primera ley de la termodinámica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Rectángulo 4"/>
          <p:cNvSpPr/>
          <p:nvPr/>
        </p:nvSpPr>
        <p:spPr>
          <a:xfrm>
            <a:off x="348337" y="1259287"/>
            <a:ext cx="6789881"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Sistemas termodinámicos</a:t>
            </a:r>
            <a:endParaRPr lang="es-MX" dirty="0">
              <a:latin typeface="Arial" panose="020B0604020202020204" pitchFamily="34" charset="0"/>
              <a:cs typeface="Arial" panose="020B0604020202020204" pitchFamily="34" charset="0"/>
            </a:endParaRPr>
          </a:p>
        </p:txBody>
      </p:sp>
      <p:sp>
        <p:nvSpPr>
          <p:cNvPr id="7" name="CuadroTexto 6"/>
          <p:cNvSpPr txBox="1"/>
          <p:nvPr/>
        </p:nvSpPr>
        <p:spPr>
          <a:xfrm>
            <a:off x="348337" y="1688004"/>
            <a:ext cx="11125908" cy="830997"/>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Un sistema termodinámico es cualquier conjunto de objetos que conviene considerar como una unidad, y que podría intercambiar energía con el entorno.</a:t>
            </a:r>
            <a:endParaRPr lang="es-CO" sz="2400" dirty="0">
              <a:latin typeface="Arial" panose="020B0604020202020204" pitchFamily="34" charset="0"/>
              <a:cs typeface="Arial" panose="020B0604020202020204" pitchFamily="34" charset="0"/>
            </a:endParaRPr>
          </a:p>
        </p:txBody>
      </p:sp>
      <p:pic>
        <p:nvPicPr>
          <p:cNvPr id="5124" name="Picture 4" descr="Vectores e ilustraciones de Palomitas Maiz Estallando Olla Coccion para  descargar gratis | Freep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4320" y="2519001"/>
            <a:ext cx="3209925" cy="3209925"/>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p:cNvSpPr txBox="1"/>
          <p:nvPr/>
        </p:nvSpPr>
        <p:spPr>
          <a:xfrm>
            <a:off x="478258" y="3782048"/>
            <a:ext cx="3571732" cy="461665"/>
          </a:xfrm>
          <a:prstGeom prst="rect">
            <a:avLst/>
          </a:prstGeom>
          <a:noFill/>
        </p:spPr>
        <p:txBody>
          <a:bodyPr wrap="square">
            <a:spAutoFit/>
          </a:bodyPr>
          <a:lstStyle/>
          <a:p>
            <a:r>
              <a:rPr lang="es-CO" sz="2400" b="1" dirty="0">
                <a:effectLst>
                  <a:outerShdw blurRad="38100" dist="38100" dir="2700000" algn="tl">
                    <a:srgbClr val="000000">
                      <a:alpha val="43137"/>
                    </a:srgbClr>
                  </a:outerShdw>
                </a:effectLst>
              </a:rPr>
              <a:t>proceso termodinámico</a:t>
            </a:r>
          </a:p>
        </p:txBody>
      </p:sp>
      <p:sp>
        <p:nvSpPr>
          <p:cNvPr id="10" name="CuadroTexto 9"/>
          <p:cNvSpPr txBox="1"/>
          <p:nvPr/>
        </p:nvSpPr>
        <p:spPr>
          <a:xfrm>
            <a:off x="4186080" y="3139175"/>
            <a:ext cx="4017186" cy="461665"/>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Se agrega energía al maíz</a:t>
            </a:r>
            <a:endParaRPr lang="es-CO" sz="2400" dirty="0">
              <a:latin typeface="Arial" panose="020B0604020202020204" pitchFamily="34" charset="0"/>
              <a:cs typeface="Arial" panose="020B0604020202020204" pitchFamily="34" charset="0"/>
            </a:endParaRPr>
          </a:p>
        </p:txBody>
      </p:sp>
      <p:sp>
        <p:nvSpPr>
          <p:cNvPr id="11" name="CuadroTexto 10"/>
          <p:cNvSpPr txBox="1"/>
          <p:nvPr/>
        </p:nvSpPr>
        <p:spPr>
          <a:xfrm>
            <a:off x="4186080" y="4520206"/>
            <a:ext cx="4017186" cy="461665"/>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Cambia de estado del maíz </a:t>
            </a:r>
            <a:endParaRPr lang="es-CO" sz="2400" dirty="0">
              <a:latin typeface="Arial" panose="020B0604020202020204" pitchFamily="34" charset="0"/>
              <a:cs typeface="Arial" panose="020B0604020202020204" pitchFamily="34" charset="0"/>
            </a:endParaRPr>
          </a:p>
        </p:txBody>
      </p:sp>
      <p:sp>
        <p:nvSpPr>
          <p:cNvPr id="12" name="CuadroTexto 11"/>
          <p:cNvSpPr txBox="1"/>
          <p:nvPr/>
        </p:nvSpPr>
        <p:spPr>
          <a:xfrm>
            <a:off x="451573" y="4136378"/>
            <a:ext cx="3209925" cy="400110"/>
          </a:xfrm>
          <a:prstGeom prst="rect">
            <a:avLst/>
          </a:prstGeom>
          <a:noFill/>
        </p:spPr>
        <p:txBody>
          <a:bodyPr wrap="square">
            <a:spAutoFit/>
          </a:bodyPr>
          <a:lstStyle/>
          <a:p>
            <a:pPr algn="ctr"/>
            <a:r>
              <a:rPr lang="es-MX"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(cocción de maíz)</a:t>
            </a:r>
            <a:endParaRPr lang="es-CO"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3" name="CuadroTexto 12"/>
          <p:cNvSpPr txBox="1"/>
          <p:nvPr/>
        </p:nvSpPr>
        <p:spPr>
          <a:xfrm>
            <a:off x="4361761" y="4874401"/>
            <a:ext cx="3209925" cy="400110"/>
          </a:xfrm>
          <a:prstGeom prst="rect">
            <a:avLst/>
          </a:prstGeom>
          <a:noFill/>
        </p:spPr>
        <p:txBody>
          <a:bodyPr wrap="square">
            <a:spAutoFit/>
          </a:bodyPr>
          <a:lstStyle/>
          <a:p>
            <a:pPr algn="ctr"/>
            <a:r>
              <a:rPr lang="es-MX"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(Se revienta el maíz)</a:t>
            </a:r>
            <a:endParaRPr lang="es-CO"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4" name="CuadroTexto 13"/>
          <p:cNvSpPr txBox="1"/>
          <p:nvPr/>
        </p:nvSpPr>
        <p:spPr>
          <a:xfrm>
            <a:off x="4361760" y="3477223"/>
            <a:ext cx="3209925" cy="400110"/>
          </a:xfrm>
          <a:prstGeom prst="rect">
            <a:avLst/>
          </a:prstGeom>
          <a:noFill/>
        </p:spPr>
        <p:txBody>
          <a:bodyPr wrap="square">
            <a:spAutoFit/>
          </a:bodyPr>
          <a:lstStyle/>
          <a:p>
            <a:pPr algn="ctr"/>
            <a:r>
              <a:rPr lang="es-MX"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(Por conducción)</a:t>
            </a:r>
            <a:endParaRPr lang="es-CO"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5" name="Abrir llave 14"/>
          <p:cNvSpPr/>
          <p:nvPr/>
        </p:nvSpPr>
        <p:spPr>
          <a:xfrm>
            <a:off x="3837178" y="3399503"/>
            <a:ext cx="271804" cy="131267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7" name="CuadroTexto 16"/>
          <p:cNvSpPr txBox="1"/>
          <p:nvPr/>
        </p:nvSpPr>
        <p:spPr>
          <a:xfrm>
            <a:off x="387361" y="6128713"/>
            <a:ext cx="6194322" cy="369332"/>
          </a:xfrm>
          <a:prstGeom prst="rect">
            <a:avLst/>
          </a:prstGeom>
          <a:noFill/>
        </p:spPr>
        <p:txBody>
          <a:bodyPr wrap="square">
            <a:spAutoFit/>
          </a:bodyPr>
          <a:lstStyle/>
          <a:p>
            <a:r>
              <a:rPr lang="es-MX" dirty="0">
                <a:effectLst>
                  <a:outerShdw blurRad="38100" dist="38100" dir="2700000" algn="tl">
                    <a:srgbClr val="000000">
                      <a:alpha val="43137"/>
                    </a:srgbClr>
                  </a:outerShdw>
                </a:effectLst>
              </a:rPr>
              <a:t>En este sistema no se incluye la olla, la tapa ni la estufa.</a:t>
            </a:r>
            <a:endParaRPr lang="es-CO" dirty="0">
              <a:effectLst>
                <a:outerShdw blurRad="38100" dist="38100" dir="2700000" algn="tl">
                  <a:srgbClr val="000000">
                    <a:alpha val="43137"/>
                  </a:srgbClr>
                </a:outerShdw>
              </a:effectLst>
            </a:endParaRPr>
          </a:p>
        </p:txBody>
      </p:sp>
      <p:cxnSp>
        <p:nvCxnSpPr>
          <p:cNvPr id="18" name="Conector recto 17"/>
          <p:cNvCxnSpPr/>
          <p:nvPr/>
        </p:nvCxnSpPr>
        <p:spPr>
          <a:xfrm>
            <a:off x="451574" y="6148377"/>
            <a:ext cx="5629321" cy="0"/>
          </a:xfrm>
          <a:prstGeom prst="line">
            <a:avLst/>
          </a:prstGeom>
          <a:ln>
            <a:solidFill>
              <a:srgbClr val="FB0517"/>
            </a:solidFill>
          </a:ln>
        </p:spPr>
        <p:style>
          <a:lnRef idx="1">
            <a:schemeClr val="accent1"/>
          </a:lnRef>
          <a:fillRef idx="0">
            <a:schemeClr val="accent1"/>
          </a:fillRef>
          <a:effectRef idx="0">
            <a:schemeClr val="accent1"/>
          </a:effectRef>
          <a:fontRef idx="minor">
            <a:schemeClr val="tx1"/>
          </a:fontRef>
        </p:style>
      </p:cxnSp>
      <p:sp>
        <p:nvSpPr>
          <p:cNvPr id="6" name="Rectángulo 5"/>
          <p:cNvSpPr/>
          <p:nvPr/>
        </p:nvSpPr>
        <p:spPr>
          <a:xfrm>
            <a:off x="72467" y="4445235"/>
            <a:ext cx="4083086" cy="1569660"/>
          </a:xfrm>
          <a:prstGeom prst="rect">
            <a:avLst/>
          </a:prstGeom>
        </p:spPr>
        <p:txBody>
          <a:bodyPr wrap="square">
            <a:spAutoFit/>
          </a:bodyPr>
          <a:lstStyle/>
          <a:p>
            <a:r>
              <a:rPr lang="es-ES" sz="2400" dirty="0"/>
              <a:t>Un proceso termodinámico es donde hay cambios en el estado de un sistema termodinámico</a:t>
            </a:r>
          </a:p>
        </p:txBody>
      </p:sp>
      <p:sp>
        <p:nvSpPr>
          <p:cNvPr id="8" name="Rectángulo 7"/>
          <p:cNvSpPr/>
          <p:nvPr/>
        </p:nvSpPr>
        <p:spPr>
          <a:xfrm>
            <a:off x="6768555" y="6027469"/>
            <a:ext cx="4696927" cy="388696"/>
          </a:xfrm>
          <a:prstGeom prst="rect">
            <a:avLst/>
          </a:prstGeom>
        </p:spPr>
        <p:txBody>
          <a:bodyPr wrap="none">
            <a:spAutoFit/>
          </a:bodyPr>
          <a:lstStyle/>
          <a:p>
            <a:pPr>
              <a:lnSpc>
                <a:spcPct val="107000"/>
              </a:lnSpc>
            </a:pPr>
            <a:r>
              <a:rPr lang="es-CO" u="sng" dirty="0">
                <a:solidFill>
                  <a:srgbClr val="0563C1"/>
                </a:solidFill>
                <a:latin typeface="Calibri" panose="020F0502020204030204" pitchFamily="34" charset="0"/>
                <a:ea typeface="Arial" panose="020B0604020202020204" pitchFamily="34" charset="0"/>
                <a:hlinkClick r:id="rId3"/>
              </a:rPr>
              <a:t>https://</a:t>
            </a:r>
            <a:r>
              <a:rPr lang="es-CO" u="sng" dirty="0" smtClean="0">
                <a:solidFill>
                  <a:srgbClr val="0563C1"/>
                </a:solidFill>
                <a:latin typeface="Calibri" panose="020F0502020204030204" pitchFamily="34" charset="0"/>
                <a:ea typeface="Arial" panose="020B0604020202020204" pitchFamily="34" charset="0"/>
                <a:hlinkClick r:id="rId3"/>
              </a:rPr>
              <a:t>www.youtube.com/watch?v=zT6l-aJiDjk</a:t>
            </a:r>
            <a:r>
              <a:rPr lang="es-CO" u="sng" dirty="0" smtClean="0">
                <a:solidFill>
                  <a:srgbClr val="0563C1"/>
                </a:solidFill>
                <a:latin typeface="Calibri" panose="020F0502020204030204" pitchFamily="34" charset="0"/>
                <a:ea typeface="Arial" panose="020B0604020202020204" pitchFamily="34" charset="0"/>
              </a:rPr>
              <a:t> </a:t>
            </a:r>
            <a:endParaRPr lang="es-CO" dirty="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37</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Primera ley de la termodinámica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Rectángulo 4"/>
          <p:cNvSpPr/>
          <p:nvPr/>
        </p:nvSpPr>
        <p:spPr>
          <a:xfrm>
            <a:off x="348337" y="1259287"/>
            <a:ext cx="6789881"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Sistemas termodinámicos</a:t>
            </a:r>
            <a:endParaRPr lang="es-MX" dirty="0">
              <a:latin typeface="Arial" panose="020B0604020202020204" pitchFamily="34" charset="0"/>
              <a:cs typeface="Arial" panose="020B0604020202020204" pitchFamily="34" charset="0"/>
            </a:endParaRPr>
          </a:p>
        </p:txBody>
      </p:sp>
      <p:grpSp>
        <p:nvGrpSpPr>
          <p:cNvPr id="40" name="Grupo 39"/>
          <p:cNvGrpSpPr/>
          <p:nvPr/>
        </p:nvGrpSpPr>
        <p:grpSpPr>
          <a:xfrm>
            <a:off x="315674" y="2077455"/>
            <a:ext cx="11101626" cy="3996406"/>
            <a:chOff x="315674" y="2369555"/>
            <a:chExt cx="11101626" cy="3996406"/>
          </a:xfrm>
        </p:grpSpPr>
        <p:sp>
          <p:nvSpPr>
            <p:cNvPr id="7" name="CuadroTexto 6"/>
            <p:cNvSpPr txBox="1"/>
            <p:nvPr/>
          </p:nvSpPr>
          <p:spPr>
            <a:xfrm>
              <a:off x="2430089" y="5904296"/>
              <a:ext cx="6952115" cy="461665"/>
            </a:xfrm>
            <a:prstGeom prst="rect">
              <a:avLst/>
            </a:prstGeom>
            <a:noFill/>
          </p:spPr>
          <p:txBody>
            <a:bodyPr wrap="square">
              <a:spAutoFit/>
            </a:bodyPr>
            <a:lstStyle/>
            <a:p>
              <a:pPr algn="ctr"/>
              <a:r>
                <a:rPr lang="es-MX" sz="2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Signos del calor y del trabajo termodinámico</a:t>
              </a:r>
              <a:endParaRPr lang="es-CO" sz="24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pSp>
          <p:nvGrpSpPr>
            <p:cNvPr id="35" name="Grupo 34"/>
            <p:cNvGrpSpPr/>
            <p:nvPr/>
          </p:nvGrpSpPr>
          <p:grpSpPr>
            <a:xfrm>
              <a:off x="2042944" y="2369555"/>
              <a:ext cx="7678435" cy="3596323"/>
              <a:chOff x="1230144" y="2191591"/>
              <a:chExt cx="7678435" cy="3596323"/>
            </a:xfrm>
          </p:grpSpPr>
          <p:grpSp>
            <p:nvGrpSpPr>
              <p:cNvPr id="22" name="Grupo 21"/>
              <p:cNvGrpSpPr/>
              <p:nvPr/>
            </p:nvGrpSpPr>
            <p:grpSpPr>
              <a:xfrm>
                <a:off x="2577862" y="2197584"/>
                <a:ext cx="5044595" cy="3401129"/>
                <a:chOff x="2093623" y="2444445"/>
                <a:chExt cx="3299308" cy="2118688"/>
              </a:xfrm>
            </p:grpSpPr>
            <p:sp>
              <p:nvSpPr>
                <p:cNvPr id="16" name="Forma libre: forma 15"/>
                <p:cNvSpPr/>
                <p:nvPr/>
              </p:nvSpPr>
              <p:spPr>
                <a:xfrm>
                  <a:off x="2093623" y="2444445"/>
                  <a:ext cx="3299308" cy="2118688"/>
                </a:xfrm>
                <a:custGeom>
                  <a:avLst/>
                  <a:gdLst>
                    <a:gd name="connsiteX0" fmla="*/ 428264 w 2933174"/>
                    <a:gd name="connsiteY0" fmla="*/ 111109 h 1544390"/>
                    <a:gd name="connsiteX1" fmla="*/ 561 w 2933174"/>
                    <a:gd name="connsiteY1" fmla="*/ 745289 h 1544390"/>
                    <a:gd name="connsiteX2" fmla="*/ 354522 w 2933174"/>
                    <a:gd name="connsiteY2" fmla="*/ 1526954 h 1544390"/>
                    <a:gd name="connsiteX3" fmla="*/ 1047696 w 2933174"/>
                    <a:gd name="connsiteY3" fmla="*/ 1305728 h 1544390"/>
                    <a:gd name="connsiteX4" fmla="*/ 1770367 w 2933174"/>
                    <a:gd name="connsiteY4" fmla="*/ 1512206 h 1544390"/>
                    <a:gd name="connsiteX5" fmla="*/ 2846999 w 2933174"/>
                    <a:gd name="connsiteY5" fmla="*/ 1084502 h 1544390"/>
                    <a:gd name="connsiteX6" fmla="*/ 2596277 w 2933174"/>
                    <a:gd name="connsiteY6" fmla="*/ 96360 h 1544390"/>
                    <a:gd name="connsiteX7" fmla="*/ 428264 w 2933174"/>
                    <a:gd name="connsiteY7" fmla="*/ 111109 h 1544390"/>
                    <a:gd name="connsiteX0-1" fmla="*/ 686366 w 2931126"/>
                    <a:gd name="connsiteY0-2" fmla="*/ 32737 h 1760985"/>
                    <a:gd name="connsiteX1-3" fmla="*/ 7941 w 2931126"/>
                    <a:gd name="connsiteY1-4" fmla="*/ 961884 h 1760985"/>
                    <a:gd name="connsiteX2-5" fmla="*/ 361902 w 2931126"/>
                    <a:gd name="connsiteY2-6" fmla="*/ 1743549 h 1760985"/>
                    <a:gd name="connsiteX3-7" fmla="*/ 1055076 w 2931126"/>
                    <a:gd name="connsiteY3-8" fmla="*/ 1522323 h 1760985"/>
                    <a:gd name="connsiteX4-9" fmla="*/ 1777747 w 2931126"/>
                    <a:gd name="connsiteY4-10" fmla="*/ 1728801 h 1760985"/>
                    <a:gd name="connsiteX5-11" fmla="*/ 2854379 w 2931126"/>
                    <a:gd name="connsiteY5-12" fmla="*/ 1301097 h 1760985"/>
                    <a:gd name="connsiteX6-13" fmla="*/ 2603657 w 2931126"/>
                    <a:gd name="connsiteY6-14" fmla="*/ 312955 h 1760985"/>
                    <a:gd name="connsiteX7-15" fmla="*/ 686366 w 2931126"/>
                    <a:gd name="connsiteY7-16" fmla="*/ 32737 h 1760985"/>
                    <a:gd name="connsiteX0-17" fmla="*/ 686366 w 2931126"/>
                    <a:gd name="connsiteY0-18" fmla="*/ 332864 h 2061112"/>
                    <a:gd name="connsiteX1-19" fmla="*/ 7941 w 2931126"/>
                    <a:gd name="connsiteY1-20" fmla="*/ 1262011 h 2061112"/>
                    <a:gd name="connsiteX2-21" fmla="*/ 361902 w 2931126"/>
                    <a:gd name="connsiteY2-22" fmla="*/ 2043676 h 2061112"/>
                    <a:gd name="connsiteX3-23" fmla="*/ 1055076 w 2931126"/>
                    <a:gd name="connsiteY3-24" fmla="*/ 1822450 h 2061112"/>
                    <a:gd name="connsiteX4-25" fmla="*/ 1777747 w 2931126"/>
                    <a:gd name="connsiteY4-26" fmla="*/ 2028928 h 2061112"/>
                    <a:gd name="connsiteX5-27" fmla="*/ 2854379 w 2931126"/>
                    <a:gd name="connsiteY5-28" fmla="*/ 1601224 h 2061112"/>
                    <a:gd name="connsiteX6-29" fmla="*/ 2603657 w 2931126"/>
                    <a:gd name="connsiteY6-30" fmla="*/ 613082 h 2061112"/>
                    <a:gd name="connsiteX7-31" fmla="*/ 686366 w 2931126"/>
                    <a:gd name="connsiteY7-32" fmla="*/ 332864 h 2061112"/>
                    <a:gd name="connsiteX0-33" fmla="*/ 787739 w 3032499"/>
                    <a:gd name="connsiteY0-34" fmla="*/ 30817 h 1760533"/>
                    <a:gd name="connsiteX1-35" fmla="*/ 6075 w 3032499"/>
                    <a:gd name="connsiteY1-36" fmla="*/ 930467 h 1760533"/>
                    <a:gd name="connsiteX2-37" fmla="*/ 463275 w 3032499"/>
                    <a:gd name="connsiteY2-38" fmla="*/ 1741629 h 1760533"/>
                    <a:gd name="connsiteX3-39" fmla="*/ 1156449 w 3032499"/>
                    <a:gd name="connsiteY3-40" fmla="*/ 1520403 h 1760533"/>
                    <a:gd name="connsiteX4-41" fmla="*/ 1879120 w 3032499"/>
                    <a:gd name="connsiteY4-42" fmla="*/ 1726881 h 1760533"/>
                    <a:gd name="connsiteX5-43" fmla="*/ 2955752 w 3032499"/>
                    <a:gd name="connsiteY5-44" fmla="*/ 1299177 h 1760533"/>
                    <a:gd name="connsiteX6-45" fmla="*/ 2705030 w 3032499"/>
                    <a:gd name="connsiteY6-46" fmla="*/ 311035 h 1760533"/>
                    <a:gd name="connsiteX7-47" fmla="*/ 787739 w 3032499"/>
                    <a:gd name="connsiteY7-48" fmla="*/ 30817 h 1760533"/>
                    <a:gd name="connsiteX0-49" fmla="*/ 863900 w 3108660"/>
                    <a:gd name="connsiteY0-50" fmla="*/ 30817 h 1760533"/>
                    <a:gd name="connsiteX1-51" fmla="*/ 82236 w 3108660"/>
                    <a:gd name="connsiteY1-52" fmla="*/ 930467 h 1760533"/>
                    <a:gd name="connsiteX2-53" fmla="*/ 539436 w 3108660"/>
                    <a:gd name="connsiteY2-54" fmla="*/ 1741629 h 1760533"/>
                    <a:gd name="connsiteX3-55" fmla="*/ 1232610 w 3108660"/>
                    <a:gd name="connsiteY3-56" fmla="*/ 1520403 h 1760533"/>
                    <a:gd name="connsiteX4-57" fmla="*/ 1955281 w 3108660"/>
                    <a:gd name="connsiteY4-58" fmla="*/ 1726881 h 1760533"/>
                    <a:gd name="connsiteX5-59" fmla="*/ 3031913 w 3108660"/>
                    <a:gd name="connsiteY5-60" fmla="*/ 1299177 h 1760533"/>
                    <a:gd name="connsiteX6-61" fmla="*/ 2781191 w 3108660"/>
                    <a:gd name="connsiteY6-62" fmla="*/ 311035 h 1760533"/>
                    <a:gd name="connsiteX7-63" fmla="*/ 863900 w 3108660"/>
                    <a:gd name="connsiteY7-64" fmla="*/ 30817 h 1760533"/>
                    <a:gd name="connsiteX0-65" fmla="*/ 836393 w 3081153"/>
                    <a:gd name="connsiteY0-66" fmla="*/ 30817 h 1760533"/>
                    <a:gd name="connsiteX1-67" fmla="*/ 54729 w 3081153"/>
                    <a:gd name="connsiteY1-68" fmla="*/ 930467 h 1760533"/>
                    <a:gd name="connsiteX2-69" fmla="*/ 511929 w 3081153"/>
                    <a:gd name="connsiteY2-70" fmla="*/ 1741629 h 1760533"/>
                    <a:gd name="connsiteX3-71" fmla="*/ 1205103 w 3081153"/>
                    <a:gd name="connsiteY3-72" fmla="*/ 1520403 h 1760533"/>
                    <a:gd name="connsiteX4-73" fmla="*/ 1927774 w 3081153"/>
                    <a:gd name="connsiteY4-74" fmla="*/ 1726881 h 1760533"/>
                    <a:gd name="connsiteX5-75" fmla="*/ 3004406 w 3081153"/>
                    <a:gd name="connsiteY5-76" fmla="*/ 1299177 h 1760533"/>
                    <a:gd name="connsiteX6-77" fmla="*/ 2753684 w 3081153"/>
                    <a:gd name="connsiteY6-78" fmla="*/ 311035 h 1760533"/>
                    <a:gd name="connsiteX7-79" fmla="*/ 836393 w 3081153"/>
                    <a:gd name="connsiteY7-80" fmla="*/ 30817 h 1760533"/>
                    <a:gd name="connsiteX0-81" fmla="*/ 892825 w 3137585"/>
                    <a:gd name="connsiteY0-82" fmla="*/ 30817 h 1760533"/>
                    <a:gd name="connsiteX1-83" fmla="*/ 111161 w 3137585"/>
                    <a:gd name="connsiteY1-84" fmla="*/ 930467 h 1760533"/>
                    <a:gd name="connsiteX2-85" fmla="*/ 568361 w 3137585"/>
                    <a:gd name="connsiteY2-86" fmla="*/ 1741629 h 1760533"/>
                    <a:gd name="connsiteX3-87" fmla="*/ 1261535 w 3137585"/>
                    <a:gd name="connsiteY3-88" fmla="*/ 1520403 h 1760533"/>
                    <a:gd name="connsiteX4-89" fmla="*/ 1984206 w 3137585"/>
                    <a:gd name="connsiteY4-90" fmla="*/ 1726881 h 1760533"/>
                    <a:gd name="connsiteX5-91" fmla="*/ 3060838 w 3137585"/>
                    <a:gd name="connsiteY5-92" fmla="*/ 1299177 h 1760533"/>
                    <a:gd name="connsiteX6-93" fmla="*/ 2810116 w 3137585"/>
                    <a:gd name="connsiteY6-94" fmla="*/ 311035 h 1760533"/>
                    <a:gd name="connsiteX7-95" fmla="*/ 892825 w 3137585"/>
                    <a:gd name="connsiteY7-96" fmla="*/ 30817 h 1760533"/>
                    <a:gd name="connsiteX0-97" fmla="*/ 895889 w 3140649"/>
                    <a:gd name="connsiteY0-98" fmla="*/ 30817 h 1751537"/>
                    <a:gd name="connsiteX1-99" fmla="*/ 114225 w 3140649"/>
                    <a:gd name="connsiteY1-100" fmla="*/ 930467 h 1751537"/>
                    <a:gd name="connsiteX2-101" fmla="*/ 571425 w 3140649"/>
                    <a:gd name="connsiteY2-102" fmla="*/ 1741629 h 1751537"/>
                    <a:gd name="connsiteX3-103" fmla="*/ 1426831 w 3140649"/>
                    <a:gd name="connsiteY3-104" fmla="*/ 1402416 h 1751537"/>
                    <a:gd name="connsiteX4-105" fmla="*/ 1987270 w 3140649"/>
                    <a:gd name="connsiteY4-106" fmla="*/ 1726881 h 1751537"/>
                    <a:gd name="connsiteX5-107" fmla="*/ 3063902 w 3140649"/>
                    <a:gd name="connsiteY5-108" fmla="*/ 1299177 h 1751537"/>
                    <a:gd name="connsiteX6-109" fmla="*/ 2813180 w 3140649"/>
                    <a:gd name="connsiteY6-110" fmla="*/ 311035 h 1751537"/>
                    <a:gd name="connsiteX7-111" fmla="*/ 895889 w 3140649"/>
                    <a:gd name="connsiteY7-112" fmla="*/ 30817 h 1751537"/>
                    <a:gd name="connsiteX0-113" fmla="*/ 833183 w 3077943"/>
                    <a:gd name="connsiteY0-114" fmla="*/ 30817 h 1751537"/>
                    <a:gd name="connsiteX1-115" fmla="*/ 51519 w 3077943"/>
                    <a:gd name="connsiteY1-116" fmla="*/ 930467 h 1751537"/>
                    <a:gd name="connsiteX2-117" fmla="*/ 508719 w 3077943"/>
                    <a:gd name="connsiteY2-118" fmla="*/ 1741629 h 1751537"/>
                    <a:gd name="connsiteX3-119" fmla="*/ 1364125 w 3077943"/>
                    <a:gd name="connsiteY3-120" fmla="*/ 1402416 h 1751537"/>
                    <a:gd name="connsiteX4-121" fmla="*/ 1924564 w 3077943"/>
                    <a:gd name="connsiteY4-122" fmla="*/ 1726881 h 1751537"/>
                    <a:gd name="connsiteX5-123" fmla="*/ 3001196 w 3077943"/>
                    <a:gd name="connsiteY5-124" fmla="*/ 1299177 h 1751537"/>
                    <a:gd name="connsiteX6-125" fmla="*/ 2750474 w 3077943"/>
                    <a:gd name="connsiteY6-126" fmla="*/ 311035 h 1751537"/>
                    <a:gd name="connsiteX7-127" fmla="*/ 833183 w 3077943"/>
                    <a:gd name="connsiteY7-128" fmla="*/ 30817 h 1751537"/>
                    <a:gd name="connsiteX0-129" fmla="*/ 895888 w 3140648"/>
                    <a:gd name="connsiteY0-130" fmla="*/ 30817 h 1751537"/>
                    <a:gd name="connsiteX1-131" fmla="*/ 114224 w 3140648"/>
                    <a:gd name="connsiteY1-132" fmla="*/ 930467 h 1751537"/>
                    <a:gd name="connsiteX2-133" fmla="*/ 571424 w 3140648"/>
                    <a:gd name="connsiteY2-134" fmla="*/ 1741629 h 1751537"/>
                    <a:gd name="connsiteX3-135" fmla="*/ 1426830 w 3140648"/>
                    <a:gd name="connsiteY3-136" fmla="*/ 1402416 h 1751537"/>
                    <a:gd name="connsiteX4-137" fmla="*/ 1987269 w 3140648"/>
                    <a:gd name="connsiteY4-138" fmla="*/ 1726881 h 1751537"/>
                    <a:gd name="connsiteX5-139" fmla="*/ 3063901 w 3140648"/>
                    <a:gd name="connsiteY5-140" fmla="*/ 1299177 h 1751537"/>
                    <a:gd name="connsiteX6-141" fmla="*/ 2813179 w 3140648"/>
                    <a:gd name="connsiteY6-142" fmla="*/ 311035 h 1751537"/>
                    <a:gd name="connsiteX7-143" fmla="*/ 895888 w 3140648"/>
                    <a:gd name="connsiteY7-144" fmla="*/ 30817 h 1751537"/>
                    <a:gd name="connsiteX0-145" fmla="*/ 779444 w 3024204"/>
                    <a:gd name="connsiteY0-146" fmla="*/ 25149 h 1749232"/>
                    <a:gd name="connsiteX1-147" fmla="*/ 130516 w 3024204"/>
                    <a:gd name="connsiteY1-148" fmla="*/ 836308 h 1749232"/>
                    <a:gd name="connsiteX2-149" fmla="*/ 454980 w 3024204"/>
                    <a:gd name="connsiteY2-150" fmla="*/ 1735961 h 1749232"/>
                    <a:gd name="connsiteX3-151" fmla="*/ 1310386 w 3024204"/>
                    <a:gd name="connsiteY3-152" fmla="*/ 1396748 h 1749232"/>
                    <a:gd name="connsiteX4-153" fmla="*/ 1870825 w 3024204"/>
                    <a:gd name="connsiteY4-154" fmla="*/ 1721213 h 1749232"/>
                    <a:gd name="connsiteX5-155" fmla="*/ 2947457 w 3024204"/>
                    <a:gd name="connsiteY5-156" fmla="*/ 1293509 h 1749232"/>
                    <a:gd name="connsiteX6-157" fmla="*/ 2696735 w 3024204"/>
                    <a:gd name="connsiteY6-158" fmla="*/ 305367 h 1749232"/>
                    <a:gd name="connsiteX7-159" fmla="*/ 779444 w 3024204"/>
                    <a:gd name="connsiteY7-160" fmla="*/ 25149 h 1749232"/>
                    <a:gd name="connsiteX0-161" fmla="*/ 779444 w 3046892"/>
                    <a:gd name="connsiteY0-162" fmla="*/ 26561 h 1750644"/>
                    <a:gd name="connsiteX1-163" fmla="*/ 130516 w 3046892"/>
                    <a:gd name="connsiteY1-164" fmla="*/ 837720 h 1750644"/>
                    <a:gd name="connsiteX2-165" fmla="*/ 454980 w 3046892"/>
                    <a:gd name="connsiteY2-166" fmla="*/ 1737373 h 1750644"/>
                    <a:gd name="connsiteX3-167" fmla="*/ 1310386 w 3046892"/>
                    <a:gd name="connsiteY3-168" fmla="*/ 1398160 h 1750644"/>
                    <a:gd name="connsiteX4-169" fmla="*/ 1870825 w 3046892"/>
                    <a:gd name="connsiteY4-170" fmla="*/ 1722625 h 1750644"/>
                    <a:gd name="connsiteX5-171" fmla="*/ 2976954 w 3046892"/>
                    <a:gd name="connsiteY5-172" fmla="*/ 1383411 h 1750644"/>
                    <a:gd name="connsiteX6-173" fmla="*/ 2696735 w 3046892"/>
                    <a:gd name="connsiteY6-174" fmla="*/ 306779 h 1750644"/>
                    <a:gd name="connsiteX7-175" fmla="*/ 779444 w 3046892"/>
                    <a:gd name="connsiteY7-176" fmla="*/ 26561 h 1750644"/>
                    <a:gd name="connsiteX0-177" fmla="*/ 777936 w 3045384"/>
                    <a:gd name="connsiteY0-178" fmla="*/ 26561 h 1772068"/>
                    <a:gd name="connsiteX1-179" fmla="*/ 129008 w 3045384"/>
                    <a:gd name="connsiteY1-180" fmla="*/ 837720 h 1772068"/>
                    <a:gd name="connsiteX2-181" fmla="*/ 453472 w 3045384"/>
                    <a:gd name="connsiteY2-182" fmla="*/ 1737373 h 1772068"/>
                    <a:gd name="connsiteX3-183" fmla="*/ 1246885 w 3045384"/>
                    <a:gd name="connsiteY3-184" fmla="*/ 1599638 h 1772068"/>
                    <a:gd name="connsiteX4-185" fmla="*/ 1869317 w 3045384"/>
                    <a:gd name="connsiteY4-186" fmla="*/ 1722625 h 1772068"/>
                    <a:gd name="connsiteX5-187" fmla="*/ 2975446 w 3045384"/>
                    <a:gd name="connsiteY5-188" fmla="*/ 1383411 h 1772068"/>
                    <a:gd name="connsiteX6-189" fmla="*/ 2695227 w 3045384"/>
                    <a:gd name="connsiteY6-190" fmla="*/ 306779 h 1772068"/>
                    <a:gd name="connsiteX7-191" fmla="*/ 777936 w 3045384"/>
                    <a:gd name="connsiteY7-192" fmla="*/ 26561 h 1772068"/>
                    <a:gd name="connsiteX0-193" fmla="*/ 777936 w 3045384"/>
                    <a:gd name="connsiteY0-194" fmla="*/ 26561 h 1775130"/>
                    <a:gd name="connsiteX1-195" fmla="*/ 129008 w 3045384"/>
                    <a:gd name="connsiteY1-196" fmla="*/ 837720 h 1775130"/>
                    <a:gd name="connsiteX2-197" fmla="*/ 453472 w 3045384"/>
                    <a:gd name="connsiteY2-198" fmla="*/ 1737373 h 1775130"/>
                    <a:gd name="connsiteX3-199" fmla="*/ 1246885 w 3045384"/>
                    <a:gd name="connsiteY3-200" fmla="*/ 1599638 h 1775130"/>
                    <a:gd name="connsiteX4-201" fmla="*/ 1869317 w 3045384"/>
                    <a:gd name="connsiteY4-202" fmla="*/ 1722625 h 1775130"/>
                    <a:gd name="connsiteX5-203" fmla="*/ 2975446 w 3045384"/>
                    <a:gd name="connsiteY5-204" fmla="*/ 1383411 h 1775130"/>
                    <a:gd name="connsiteX6-205" fmla="*/ 2695227 w 3045384"/>
                    <a:gd name="connsiteY6-206" fmla="*/ 306779 h 1775130"/>
                    <a:gd name="connsiteX7-207" fmla="*/ 777936 w 3045384"/>
                    <a:gd name="connsiteY7-208" fmla="*/ 26561 h 1775130"/>
                    <a:gd name="connsiteX0-209" fmla="*/ 751324 w 3018772"/>
                    <a:gd name="connsiteY0-210" fmla="*/ 27567 h 1775117"/>
                    <a:gd name="connsiteX1-211" fmla="*/ 133392 w 3018772"/>
                    <a:gd name="connsiteY1-212" fmla="*/ 854225 h 1775117"/>
                    <a:gd name="connsiteX2-213" fmla="*/ 426860 w 3018772"/>
                    <a:gd name="connsiteY2-214" fmla="*/ 1738379 h 1775117"/>
                    <a:gd name="connsiteX3-215" fmla="*/ 1220273 w 3018772"/>
                    <a:gd name="connsiteY3-216" fmla="*/ 1600644 h 1775117"/>
                    <a:gd name="connsiteX4-217" fmla="*/ 1842705 w 3018772"/>
                    <a:gd name="connsiteY4-218" fmla="*/ 1723631 h 1775117"/>
                    <a:gd name="connsiteX5-219" fmla="*/ 2948834 w 3018772"/>
                    <a:gd name="connsiteY5-220" fmla="*/ 1384417 h 1775117"/>
                    <a:gd name="connsiteX6-221" fmla="*/ 2668615 w 3018772"/>
                    <a:gd name="connsiteY6-222" fmla="*/ 307785 h 1775117"/>
                    <a:gd name="connsiteX7-223" fmla="*/ 751324 w 3018772"/>
                    <a:gd name="connsiteY7-224" fmla="*/ 27567 h 1775117"/>
                    <a:gd name="connsiteX0-225" fmla="*/ 692434 w 2959882"/>
                    <a:gd name="connsiteY0-226" fmla="*/ 27567 h 1775117"/>
                    <a:gd name="connsiteX1-227" fmla="*/ 74502 w 2959882"/>
                    <a:gd name="connsiteY1-228" fmla="*/ 854225 h 1775117"/>
                    <a:gd name="connsiteX2-229" fmla="*/ 367970 w 2959882"/>
                    <a:gd name="connsiteY2-230" fmla="*/ 1738379 h 1775117"/>
                    <a:gd name="connsiteX3-231" fmla="*/ 1161383 w 2959882"/>
                    <a:gd name="connsiteY3-232" fmla="*/ 1600644 h 1775117"/>
                    <a:gd name="connsiteX4-233" fmla="*/ 1783815 w 2959882"/>
                    <a:gd name="connsiteY4-234" fmla="*/ 1723631 h 1775117"/>
                    <a:gd name="connsiteX5-235" fmla="*/ 2889944 w 2959882"/>
                    <a:gd name="connsiteY5-236" fmla="*/ 1384417 h 1775117"/>
                    <a:gd name="connsiteX6-237" fmla="*/ 2609725 w 2959882"/>
                    <a:gd name="connsiteY6-238" fmla="*/ 307785 h 1775117"/>
                    <a:gd name="connsiteX7-239" fmla="*/ 692434 w 2959882"/>
                    <a:gd name="connsiteY7-240" fmla="*/ 27567 h 1775117"/>
                    <a:gd name="connsiteX0-241" fmla="*/ 692434 w 2959882"/>
                    <a:gd name="connsiteY0-242" fmla="*/ 166169 h 1913719"/>
                    <a:gd name="connsiteX1-243" fmla="*/ 74502 w 2959882"/>
                    <a:gd name="connsiteY1-244" fmla="*/ 992827 h 1913719"/>
                    <a:gd name="connsiteX2-245" fmla="*/ 367970 w 2959882"/>
                    <a:gd name="connsiteY2-246" fmla="*/ 1876981 h 1913719"/>
                    <a:gd name="connsiteX3-247" fmla="*/ 1161383 w 2959882"/>
                    <a:gd name="connsiteY3-248" fmla="*/ 1739246 h 1913719"/>
                    <a:gd name="connsiteX4-249" fmla="*/ 1783815 w 2959882"/>
                    <a:gd name="connsiteY4-250" fmla="*/ 1862233 h 1913719"/>
                    <a:gd name="connsiteX5-251" fmla="*/ 2889944 w 2959882"/>
                    <a:gd name="connsiteY5-252" fmla="*/ 1523019 h 1913719"/>
                    <a:gd name="connsiteX6-253" fmla="*/ 2609725 w 2959882"/>
                    <a:gd name="connsiteY6-254" fmla="*/ 446387 h 1913719"/>
                    <a:gd name="connsiteX7-255" fmla="*/ 692434 w 2959882"/>
                    <a:gd name="connsiteY7-256" fmla="*/ 166169 h 1913719"/>
                    <a:gd name="connsiteX0-257" fmla="*/ 692434 w 2959882"/>
                    <a:gd name="connsiteY0-258" fmla="*/ 172957 h 1920507"/>
                    <a:gd name="connsiteX1-259" fmla="*/ 74502 w 2959882"/>
                    <a:gd name="connsiteY1-260" fmla="*/ 999615 h 1920507"/>
                    <a:gd name="connsiteX2-261" fmla="*/ 367970 w 2959882"/>
                    <a:gd name="connsiteY2-262" fmla="*/ 1883769 h 1920507"/>
                    <a:gd name="connsiteX3-263" fmla="*/ 1161383 w 2959882"/>
                    <a:gd name="connsiteY3-264" fmla="*/ 1746034 h 1920507"/>
                    <a:gd name="connsiteX4-265" fmla="*/ 1783815 w 2959882"/>
                    <a:gd name="connsiteY4-266" fmla="*/ 1869021 h 1920507"/>
                    <a:gd name="connsiteX5-267" fmla="*/ 2889944 w 2959882"/>
                    <a:gd name="connsiteY5-268" fmla="*/ 1529807 h 1920507"/>
                    <a:gd name="connsiteX6-269" fmla="*/ 2609725 w 2959882"/>
                    <a:gd name="connsiteY6-270" fmla="*/ 453175 h 1920507"/>
                    <a:gd name="connsiteX7-271" fmla="*/ 692434 w 2959882"/>
                    <a:gd name="connsiteY7-272" fmla="*/ 172957 h 1920507"/>
                    <a:gd name="connsiteX0-273" fmla="*/ 692434 w 2959882"/>
                    <a:gd name="connsiteY0-274" fmla="*/ 172957 h 1917686"/>
                    <a:gd name="connsiteX1-275" fmla="*/ 74502 w 2959882"/>
                    <a:gd name="connsiteY1-276" fmla="*/ 999615 h 1917686"/>
                    <a:gd name="connsiteX2-277" fmla="*/ 367970 w 2959882"/>
                    <a:gd name="connsiteY2-278" fmla="*/ 1883769 h 1917686"/>
                    <a:gd name="connsiteX3-279" fmla="*/ 1161383 w 2959882"/>
                    <a:gd name="connsiteY3-280" fmla="*/ 1746034 h 1917686"/>
                    <a:gd name="connsiteX4-281" fmla="*/ 2054189 w 2959882"/>
                    <a:gd name="connsiteY4-282" fmla="*/ 1855899 h 1917686"/>
                    <a:gd name="connsiteX5-283" fmla="*/ 2889944 w 2959882"/>
                    <a:gd name="connsiteY5-284" fmla="*/ 1529807 h 1917686"/>
                    <a:gd name="connsiteX6-285" fmla="*/ 2609725 w 2959882"/>
                    <a:gd name="connsiteY6-286" fmla="*/ 453175 h 1917686"/>
                    <a:gd name="connsiteX7-287" fmla="*/ 692434 w 2959882"/>
                    <a:gd name="connsiteY7-288" fmla="*/ 172957 h 1917686"/>
                    <a:gd name="connsiteX0-289" fmla="*/ 696852 w 2964300"/>
                    <a:gd name="connsiteY0-290" fmla="*/ 172957 h 1927385"/>
                    <a:gd name="connsiteX1-291" fmla="*/ 78920 w 2964300"/>
                    <a:gd name="connsiteY1-292" fmla="*/ 999615 h 1927385"/>
                    <a:gd name="connsiteX2-293" fmla="*/ 372388 w 2964300"/>
                    <a:gd name="connsiteY2-294" fmla="*/ 1883769 h 1927385"/>
                    <a:gd name="connsiteX3-295" fmla="*/ 1365024 w 2964300"/>
                    <a:gd name="connsiteY3-296" fmla="*/ 1798522 h 1927385"/>
                    <a:gd name="connsiteX4-297" fmla="*/ 2058607 w 2964300"/>
                    <a:gd name="connsiteY4-298" fmla="*/ 1855899 h 1927385"/>
                    <a:gd name="connsiteX5-299" fmla="*/ 2894362 w 2964300"/>
                    <a:gd name="connsiteY5-300" fmla="*/ 1529807 h 1927385"/>
                    <a:gd name="connsiteX6-301" fmla="*/ 2614143 w 2964300"/>
                    <a:gd name="connsiteY6-302" fmla="*/ 453175 h 1927385"/>
                    <a:gd name="connsiteX7-303" fmla="*/ 696852 w 2964300"/>
                    <a:gd name="connsiteY7-304" fmla="*/ 172957 h 1927385"/>
                    <a:gd name="connsiteX0-305" fmla="*/ 696852 w 2964300"/>
                    <a:gd name="connsiteY0-306" fmla="*/ 172957 h 1926829"/>
                    <a:gd name="connsiteX1-307" fmla="*/ 78920 w 2964300"/>
                    <a:gd name="connsiteY1-308" fmla="*/ 999615 h 1926829"/>
                    <a:gd name="connsiteX2-309" fmla="*/ 372388 w 2964300"/>
                    <a:gd name="connsiteY2-310" fmla="*/ 1883769 h 1926829"/>
                    <a:gd name="connsiteX3-311" fmla="*/ 1365024 w 2964300"/>
                    <a:gd name="connsiteY3-312" fmla="*/ 1798522 h 1926829"/>
                    <a:gd name="connsiteX4-313" fmla="*/ 2243600 w 2964300"/>
                    <a:gd name="connsiteY4-314" fmla="*/ 1882143 h 1926829"/>
                    <a:gd name="connsiteX5-315" fmla="*/ 2894362 w 2964300"/>
                    <a:gd name="connsiteY5-316" fmla="*/ 1529807 h 1926829"/>
                    <a:gd name="connsiteX6-317" fmla="*/ 2614143 w 2964300"/>
                    <a:gd name="connsiteY6-318" fmla="*/ 453175 h 1926829"/>
                    <a:gd name="connsiteX7-319" fmla="*/ 696852 w 2964300"/>
                    <a:gd name="connsiteY7-320" fmla="*/ 172957 h 1926829"/>
                    <a:gd name="connsiteX0-321" fmla="*/ 620948 w 2888396"/>
                    <a:gd name="connsiteY0-322" fmla="*/ 172957 h 1962024"/>
                    <a:gd name="connsiteX1-323" fmla="*/ 3016 w 2888396"/>
                    <a:gd name="connsiteY1-324" fmla="*/ 999615 h 1962024"/>
                    <a:gd name="connsiteX2-325" fmla="*/ 424556 w 2888396"/>
                    <a:gd name="connsiteY2-326" fmla="*/ 1923135 h 1962024"/>
                    <a:gd name="connsiteX3-327" fmla="*/ 1289120 w 2888396"/>
                    <a:gd name="connsiteY3-328" fmla="*/ 1798522 h 1962024"/>
                    <a:gd name="connsiteX4-329" fmla="*/ 2167696 w 2888396"/>
                    <a:gd name="connsiteY4-330" fmla="*/ 1882143 h 1962024"/>
                    <a:gd name="connsiteX5-331" fmla="*/ 2818458 w 2888396"/>
                    <a:gd name="connsiteY5-332" fmla="*/ 1529807 h 1962024"/>
                    <a:gd name="connsiteX6-333" fmla="*/ 2538239 w 2888396"/>
                    <a:gd name="connsiteY6-334" fmla="*/ 453175 h 1962024"/>
                    <a:gd name="connsiteX7-335" fmla="*/ 620948 w 2888396"/>
                    <a:gd name="connsiteY7-336" fmla="*/ 172957 h 1962024"/>
                    <a:gd name="connsiteX0-337" fmla="*/ 661461 w 2928909"/>
                    <a:gd name="connsiteY0-338" fmla="*/ 172957 h 1925751"/>
                    <a:gd name="connsiteX1-339" fmla="*/ 43529 w 2928909"/>
                    <a:gd name="connsiteY1-340" fmla="*/ 999615 h 1925751"/>
                    <a:gd name="connsiteX2-341" fmla="*/ 97098 w 2928909"/>
                    <a:gd name="connsiteY2-342" fmla="*/ 1658070 h 1925751"/>
                    <a:gd name="connsiteX3-343" fmla="*/ 465069 w 2928909"/>
                    <a:gd name="connsiteY3-344" fmla="*/ 1923135 h 1925751"/>
                    <a:gd name="connsiteX4-345" fmla="*/ 1329633 w 2928909"/>
                    <a:gd name="connsiteY4-346" fmla="*/ 1798522 h 1925751"/>
                    <a:gd name="connsiteX5-347" fmla="*/ 2208209 w 2928909"/>
                    <a:gd name="connsiteY5-348" fmla="*/ 1882143 h 1925751"/>
                    <a:gd name="connsiteX6-349" fmla="*/ 2858971 w 2928909"/>
                    <a:gd name="connsiteY6-350" fmla="*/ 1529807 h 1925751"/>
                    <a:gd name="connsiteX7-351" fmla="*/ 2578752 w 2928909"/>
                    <a:gd name="connsiteY7-352" fmla="*/ 453175 h 1925751"/>
                    <a:gd name="connsiteX8" fmla="*/ 661461 w 2928909"/>
                    <a:gd name="connsiteY8" fmla="*/ 172957 h 1925751"/>
                    <a:gd name="connsiteX0-353" fmla="*/ 661461 w 2928909"/>
                    <a:gd name="connsiteY0-354" fmla="*/ 172957 h 1951673"/>
                    <a:gd name="connsiteX1-355" fmla="*/ 43529 w 2928909"/>
                    <a:gd name="connsiteY1-356" fmla="*/ 999615 h 1951673"/>
                    <a:gd name="connsiteX2-357" fmla="*/ 97098 w 2928909"/>
                    <a:gd name="connsiteY2-358" fmla="*/ 1658070 h 1951673"/>
                    <a:gd name="connsiteX3-359" fmla="*/ 664292 w 2928909"/>
                    <a:gd name="connsiteY3-360" fmla="*/ 1949378 h 1951673"/>
                    <a:gd name="connsiteX4-361" fmla="*/ 1329633 w 2928909"/>
                    <a:gd name="connsiteY4-362" fmla="*/ 1798522 h 1951673"/>
                    <a:gd name="connsiteX5-363" fmla="*/ 2208209 w 2928909"/>
                    <a:gd name="connsiteY5-364" fmla="*/ 1882143 h 1951673"/>
                    <a:gd name="connsiteX6-365" fmla="*/ 2858971 w 2928909"/>
                    <a:gd name="connsiteY6-366" fmla="*/ 1529807 h 1951673"/>
                    <a:gd name="connsiteX7-367" fmla="*/ 2578752 w 2928909"/>
                    <a:gd name="connsiteY7-368" fmla="*/ 453175 h 1951673"/>
                    <a:gd name="connsiteX8-369" fmla="*/ 661461 w 2928909"/>
                    <a:gd name="connsiteY8-370" fmla="*/ 172957 h 1951673"/>
                    <a:gd name="connsiteX0-371" fmla="*/ 661461 w 2974980"/>
                    <a:gd name="connsiteY0-372" fmla="*/ 171797 h 1950513"/>
                    <a:gd name="connsiteX1-373" fmla="*/ 43529 w 2974980"/>
                    <a:gd name="connsiteY1-374" fmla="*/ 998455 h 1950513"/>
                    <a:gd name="connsiteX2-375" fmla="*/ 97098 w 2974980"/>
                    <a:gd name="connsiteY2-376" fmla="*/ 1656910 h 1950513"/>
                    <a:gd name="connsiteX3-377" fmla="*/ 664292 w 2974980"/>
                    <a:gd name="connsiteY3-378" fmla="*/ 1948218 h 1950513"/>
                    <a:gd name="connsiteX4-379" fmla="*/ 1329633 w 2974980"/>
                    <a:gd name="connsiteY4-380" fmla="*/ 1797362 h 1950513"/>
                    <a:gd name="connsiteX5-381" fmla="*/ 2208209 w 2974980"/>
                    <a:gd name="connsiteY5-382" fmla="*/ 1880983 h 1950513"/>
                    <a:gd name="connsiteX6-383" fmla="*/ 2915892 w 2974980"/>
                    <a:gd name="connsiteY6-384" fmla="*/ 1489282 h 1950513"/>
                    <a:gd name="connsiteX7-385" fmla="*/ 2578752 w 2974980"/>
                    <a:gd name="connsiteY7-386" fmla="*/ 452015 h 1950513"/>
                    <a:gd name="connsiteX8-387" fmla="*/ 661461 w 2974980"/>
                    <a:gd name="connsiteY8-388" fmla="*/ 171797 h 1950513"/>
                    <a:gd name="connsiteX0-389" fmla="*/ 661461 w 2974980"/>
                    <a:gd name="connsiteY0-390" fmla="*/ 171797 h 1950434"/>
                    <a:gd name="connsiteX1-391" fmla="*/ 43529 w 2974980"/>
                    <a:gd name="connsiteY1-392" fmla="*/ 998455 h 1950434"/>
                    <a:gd name="connsiteX2-393" fmla="*/ 97098 w 2974980"/>
                    <a:gd name="connsiteY2-394" fmla="*/ 1656910 h 1950434"/>
                    <a:gd name="connsiteX3-395" fmla="*/ 664292 w 2974980"/>
                    <a:gd name="connsiteY3-396" fmla="*/ 1948218 h 1950434"/>
                    <a:gd name="connsiteX4-397" fmla="*/ 1329633 w 2974980"/>
                    <a:gd name="connsiteY4-398" fmla="*/ 1797362 h 1950434"/>
                    <a:gd name="connsiteX5-399" fmla="*/ 2279359 w 2974980"/>
                    <a:gd name="connsiteY5-400" fmla="*/ 1920349 h 1950434"/>
                    <a:gd name="connsiteX6-401" fmla="*/ 2915892 w 2974980"/>
                    <a:gd name="connsiteY6-402" fmla="*/ 1489282 h 1950434"/>
                    <a:gd name="connsiteX7-403" fmla="*/ 2578752 w 2974980"/>
                    <a:gd name="connsiteY7-404" fmla="*/ 452015 h 1950434"/>
                    <a:gd name="connsiteX8-405" fmla="*/ 661461 w 2974980"/>
                    <a:gd name="connsiteY8-406" fmla="*/ 171797 h 1950434"/>
                    <a:gd name="connsiteX0-407" fmla="*/ 661461 w 2974980"/>
                    <a:gd name="connsiteY0-408" fmla="*/ 171797 h 1949421"/>
                    <a:gd name="connsiteX1-409" fmla="*/ 43529 w 2974980"/>
                    <a:gd name="connsiteY1-410" fmla="*/ 998455 h 1949421"/>
                    <a:gd name="connsiteX2-411" fmla="*/ 97098 w 2974980"/>
                    <a:gd name="connsiteY2-412" fmla="*/ 1656910 h 1949421"/>
                    <a:gd name="connsiteX3-413" fmla="*/ 664292 w 2974980"/>
                    <a:gd name="connsiteY3-414" fmla="*/ 1948218 h 1949421"/>
                    <a:gd name="connsiteX4-415" fmla="*/ 1377817 w 2974980"/>
                    <a:gd name="connsiteY4-416" fmla="*/ 1761884 h 1949421"/>
                    <a:gd name="connsiteX5-417" fmla="*/ 1329633 w 2974980"/>
                    <a:gd name="connsiteY5-418" fmla="*/ 1797362 h 1949421"/>
                    <a:gd name="connsiteX6-419" fmla="*/ 2279359 w 2974980"/>
                    <a:gd name="connsiteY6-420" fmla="*/ 1920349 h 1949421"/>
                    <a:gd name="connsiteX7-421" fmla="*/ 2915892 w 2974980"/>
                    <a:gd name="connsiteY7-422" fmla="*/ 1489282 h 1949421"/>
                    <a:gd name="connsiteX8-423" fmla="*/ 2578752 w 2974980"/>
                    <a:gd name="connsiteY8-424" fmla="*/ 452015 h 1949421"/>
                    <a:gd name="connsiteX9" fmla="*/ 661461 w 2974980"/>
                    <a:gd name="connsiteY9" fmla="*/ 171797 h 1949421"/>
                    <a:gd name="connsiteX0-425" fmla="*/ 860158 w 2983643"/>
                    <a:gd name="connsiteY0-426" fmla="*/ 191659 h 1864308"/>
                    <a:gd name="connsiteX1-427" fmla="*/ 57233 w 2983643"/>
                    <a:gd name="connsiteY1-428" fmla="*/ 913342 h 1864308"/>
                    <a:gd name="connsiteX2-429" fmla="*/ 110802 w 2983643"/>
                    <a:gd name="connsiteY2-430" fmla="*/ 1571797 h 1864308"/>
                    <a:gd name="connsiteX3-431" fmla="*/ 677996 w 2983643"/>
                    <a:gd name="connsiteY3-432" fmla="*/ 1863105 h 1864308"/>
                    <a:gd name="connsiteX4-433" fmla="*/ 1391521 w 2983643"/>
                    <a:gd name="connsiteY4-434" fmla="*/ 1676771 h 1864308"/>
                    <a:gd name="connsiteX5-435" fmla="*/ 1343337 w 2983643"/>
                    <a:gd name="connsiteY5-436" fmla="*/ 1712249 h 1864308"/>
                    <a:gd name="connsiteX6-437" fmla="*/ 2293063 w 2983643"/>
                    <a:gd name="connsiteY6-438" fmla="*/ 1835236 h 1864308"/>
                    <a:gd name="connsiteX7-439" fmla="*/ 2929596 w 2983643"/>
                    <a:gd name="connsiteY7-440" fmla="*/ 1404169 h 1864308"/>
                    <a:gd name="connsiteX8-441" fmla="*/ 2592456 w 2983643"/>
                    <a:gd name="connsiteY8-442" fmla="*/ 366902 h 1864308"/>
                    <a:gd name="connsiteX9-443" fmla="*/ 860158 w 2983643"/>
                    <a:gd name="connsiteY9-444" fmla="*/ 191659 h 1864308"/>
                    <a:gd name="connsiteX0-445" fmla="*/ 1226982 w 3001098"/>
                    <a:gd name="connsiteY0-446" fmla="*/ 200275 h 1833558"/>
                    <a:gd name="connsiteX1-447" fmla="*/ 82531 w 3001098"/>
                    <a:gd name="connsiteY1-448" fmla="*/ 882592 h 1833558"/>
                    <a:gd name="connsiteX2-449" fmla="*/ 136100 w 3001098"/>
                    <a:gd name="connsiteY2-450" fmla="*/ 1541047 h 1833558"/>
                    <a:gd name="connsiteX3-451" fmla="*/ 703294 w 3001098"/>
                    <a:gd name="connsiteY3-452" fmla="*/ 1832355 h 1833558"/>
                    <a:gd name="connsiteX4-453" fmla="*/ 1416819 w 3001098"/>
                    <a:gd name="connsiteY4-454" fmla="*/ 1646021 h 1833558"/>
                    <a:gd name="connsiteX5-455" fmla="*/ 1368635 w 3001098"/>
                    <a:gd name="connsiteY5-456" fmla="*/ 1681499 h 1833558"/>
                    <a:gd name="connsiteX6-457" fmla="*/ 2318361 w 3001098"/>
                    <a:gd name="connsiteY6-458" fmla="*/ 1804486 h 1833558"/>
                    <a:gd name="connsiteX7-459" fmla="*/ 2954894 w 3001098"/>
                    <a:gd name="connsiteY7-460" fmla="*/ 1373419 h 1833558"/>
                    <a:gd name="connsiteX8-461" fmla="*/ 2617754 w 3001098"/>
                    <a:gd name="connsiteY8-462" fmla="*/ 336152 h 1833558"/>
                    <a:gd name="connsiteX9-463" fmla="*/ 1226982 w 3001098"/>
                    <a:gd name="connsiteY9-464" fmla="*/ 200275 h 1833558"/>
                    <a:gd name="connsiteX0-465" fmla="*/ 1226982 w 3001099"/>
                    <a:gd name="connsiteY0-466" fmla="*/ 118650 h 1751933"/>
                    <a:gd name="connsiteX1-467" fmla="*/ 82531 w 3001099"/>
                    <a:gd name="connsiteY1-468" fmla="*/ 800967 h 1751933"/>
                    <a:gd name="connsiteX2-469" fmla="*/ 136100 w 3001099"/>
                    <a:gd name="connsiteY2-470" fmla="*/ 1459422 h 1751933"/>
                    <a:gd name="connsiteX3-471" fmla="*/ 703294 w 3001099"/>
                    <a:gd name="connsiteY3-472" fmla="*/ 1750730 h 1751933"/>
                    <a:gd name="connsiteX4-473" fmla="*/ 1416819 w 3001099"/>
                    <a:gd name="connsiteY4-474" fmla="*/ 1564396 h 1751933"/>
                    <a:gd name="connsiteX5-475" fmla="*/ 1368635 w 3001099"/>
                    <a:gd name="connsiteY5-476" fmla="*/ 1599874 h 1751933"/>
                    <a:gd name="connsiteX6-477" fmla="*/ 2318361 w 3001099"/>
                    <a:gd name="connsiteY6-478" fmla="*/ 1722861 h 1751933"/>
                    <a:gd name="connsiteX7-479" fmla="*/ 2954894 w 3001099"/>
                    <a:gd name="connsiteY7-480" fmla="*/ 1291794 h 1751933"/>
                    <a:gd name="connsiteX8-481" fmla="*/ 2617754 w 3001099"/>
                    <a:gd name="connsiteY8-482" fmla="*/ 254527 h 1751933"/>
                    <a:gd name="connsiteX9-483" fmla="*/ 1226982 w 3001099"/>
                    <a:gd name="connsiteY9-484" fmla="*/ 118650 h 1751933"/>
                    <a:gd name="connsiteX0-485" fmla="*/ 1211698 w 3000337"/>
                    <a:gd name="connsiteY0-486" fmla="*/ 107507 h 1793278"/>
                    <a:gd name="connsiteX1-487" fmla="*/ 81477 w 3000337"/>
                    <a:gd name="connsiteY1-488" fmla="*/ 842312 h 1793278"/>
                    <a:gd name="connsiteX2-489" fmla="*/ 135046 w 3000337"/>
                    <a:gd name="connsiteY2-490" fmla="*/ 1500767 h 1793278"/>
                    <a:gd name="connsiteX3-491" fmla="*/ 702240 w 3000337"/>
                    <a:gd name="connsiteY3-492" fmla="*/ 1792075 h 1793278"/>
                    <a:gd name="connsiteX4-493" fmla="*/ 1415765 w 3000337"/>
                    <a:gd name="connsiteY4-494" fmla="*/ 1605741 h 1793278"/>
                    <a:gd name="connsiteX5-495" fmla="*/ 1367581 w 3000337"/>
                    <a:gd name="connsiteY5-496" fmla="*/ 1641219 h 1793278"/>
                    <a:gd name="connsiteX6-497" fmla="*/ 2317307 w 3000337"/>
                    <a:gd name="connsiteY6-498" fmla="*/ 1764206 h 1793278"/>
                    <a:gd name="connsiteX7-499" fmla="*/ 2953840 w 3000337"/>
                    <a:gd name="connsiteY7-500" fmla="*/ 1333139 h 1793278"/>
                    <a:gd name="connsiteX8-501" fmla="*/ 2616700 w 3000337"/>
                    <a:gd name="connsiteY8-502" fmla="*/ 295872 h 1793278"/>
                    <a:gd name="connsiteX9-503" fmla="*/ 1211698 w 3000337"/>
                    <a:gd name="connsiteY9-504" fmla="*/ 107507 h 1793278"/>
                    <a:gd name="connsiteX0-505" fmla="*/ 1249644 w 3038283"/>
                    <a:gd name="connsiteY0-506" fmla="*/ 107507 h 1793278"/>
                    <a:gd name="connsiteX1-507" fmla="*/ 119423 w 3038283"/>
                    <a:gd name="connsiteY1-508" fmla="*/ 842312 h 1793278"/>
                    <a:gd name="connsiteX2-509" fmla="*/ 172992 w 3038283"/>
                    <a:gd name="connsiteY2-510" fmla="*/ 1500767 h 1793278"/>
                    <a:gd name="connsiteX3-511" fmla="*/ 740186 w 3038283"/>
                    <a:gd name="connsiteY3-512" fmla="*/ 1792075 h 1793278"/>
                    <a:gd name="connsiteX4-513" fmla="*/ 1453711 w 3038283"/>
                    <a:gd name="connsiteY4-514" fmla="*/ 1605741 h 1793278"/>
                    <a:gd name="connsiteX5-515" fmla="*/ 1405527 w 3038283"/>
                    <a:gd name="connsiteY5-516" fmla="*/ 1641219 h 1793278"/>
                    <a:gd name="connsiteX6-517" fmla="*/ 2355253 w 3038283"/>
                    <a:gd name="connsiteY6-518" fmla="*/ 1764206 h 1793278"/>
                    <a:gd name="connsiteX7-519" fmla="*/ 2991786 w 3038283"/>
                    <a:gd name="connsiteY7-520" fmla="*/ 1333139 h 1793278"/>
                    <a:gd name="connsiteX8-521" fmla="*/ 2654646 w 3038283"/>
                    <a:gd name="connsiteY8-522" fmla="*/ 295872 h 1793278"/>
                    <a:gd name="connsiteX9-523" fmla="*/ 1249644 w 3038283"/>
                    <a:gd name="connsiteY9-524" fmla="*/ 107507 h 1793278"/>
                    <a:gd name="connsiteX0-525" fmla="*/ 1259648 w 3048287"/>
                    <a:gd name="connsiteY0-526" fmla="*/ 107507 h 1793278"/>
                    <a:gd name="connsiteX1-527" fmla="*/ 129427 w 3048287"/>
                    <a:gd name="connsiteY1-528" fmla="*/ 842312 h 1793278"/>
                    <a:gd name="connsiteX2-529" fmla="*/ 182996 w 3048287"/>
                    <a:gd name="connsiteY2-530" fmla="*/ 1500767 h 1793278"/>
                    <a:gd name="connsiteX3-531" fmla="*/ 750190 w 3048287"/>
                    <a:gd name="connsiteY3-532" fmla="*/ 1792075 h 1793278"/>
                    <a:gd name="connsiteX4-533" fmla="*/ 1463715 w 3048287"/>
                    <a:gd name="connsiteY4-534" fmla="*/ 1605741 h 1793278"/>
                    <a:gd name="connsiteX5-535" fmla="*/ 1415531 w 3048287"/>
                    <a:gd name="connsiteY5-536" fmla="*/ 1641219 h 1793278"/>
                    <a:gd name="connsiteX6-537" fmla="*/ 2365257 w 3048287"/>
                    <a:gd name="connsiteY6-538" fmla="*/ 1764206 h 1793278"/>
                    <a:gd name="connsiteX7-539" fmla="*/ 3001790 w 3048287"/>
                    <a:gd name="connsiteY7-540" fmla="*/ 1333139 h 1793278"/>
                    <a:gd name="connsiteX8-541" fmla="*/ 2664650 w 3048287"/>
                    <a:gd name="connsiteY8-542" fmla="*/ 295872 h 1793278"/>
                    <a:gd name="connsiteX9-543" fmla="*/ 1259648 w 3048287"/>
                    <a:gd name="connsiteY9-544" fmla="*/ 107507 h 1793278"/>
                    <a:gd name="connsiteX0-545" fmla="*/ 1240712 w 3029351"/>
                    <a:gd name="connsiteY0-546" fmla="*/ 107507 h 1793278"/>
                    <a:gd name="connsiteX1-547" fmla="*/ 110491 w 3029351"/>
                    <a:gd name="connsiteY1-548" fmla="*/ 842312 h 1793278"/>
                    <a:gd name="connsiteX2-549" fmla="*/ 164060 w 3029351"/>
                    <a:gd name="connsiteY2-550" fmla="*/ 1500767 h 1793278"/>
                    <a:gd name="connsiteX3-551" fmla="*/ 731254 w 3029351"/>
                    <a:gd name="connsiteY3-552" fmla="*/ 1792075 h 1793278"/>
                    <a:gd name="connsiteX4-553" fmla="*/ 1444779 w 3029351"/>
                    <a:gd name="connsiteY4-554" fmla="*/ 1605741 h 1793278"/>
                    <a:gd name="connsiteX5-555" fmla="*/ 1396595 w 3029351"/>
                    <a:gd name="connsiteY5-556" fmla="*/ 1641219 h 1793278"/>
                    <a:gd name="connsiteX6-557" fmla="*/ 2346321 w 3029351"/>
                    <a:gd name="connsiteY6-558" fmla="*/ 1764206 h 1793278"/>
                    <a:gd name="connsiteX7-559" fmla="*/ 2982854 w 3029351"/>
                    <a:gd name="connsiteY7-560" fmla="*/ 1333139 h 1793278"/>
                    <a:gd name="connsiteX8-561" fmla="*/ 2645714 w 3029351"/>
                    <a:gd name="connsiteY8-562" fmla="*/ 295872 h 1793278"/>
                    <a:gd name="connsiteX9-563" fmla="*/ 1240712 w 3029351"/>
                    <a:gd name="connsiteY9-564" fmla="*/ 107507 h 1793278"/>
                    <a:gd name="connsiteX0-565" fmla="*/ 1240712 w 3029351"/>
                    <a:gd name="connsiteY0-566" fmla="*/ 107507 h 1793278"/>
                    <a:gd name="connsiteX1-567" fmla="*/ 110491 w 3029351"/>
                    <a:gd name="connsiteY1-568" fmla="*/ 842312 h 1793278"/>
                    <a:gd name="connsiteX2-569" fmla="*/ 164060 w 3029351"/>
                    <a:gd name="connsiteY2-570" fmla="*/ 1500767 h 1793278"/>
                    <a:gd name="connsiteX3-571" fmla="*/ 731254 w 3029351"/>
                    <a:gd name="connsiteY3-572" fmla="*/ 1792075 h 1793278"/>
                    <a:gd name="connsiteX4-573" fmla="*/ 1444779 w 3029351"/>
                    <a:gd name="connsiteY4-574" fmla="*/ 1605741 h 1793278"/>
                    <a:gd name="connsiteX5-575" fmla="*/ 1353904 w 3029351"/>
                    <a:gd name="connsiteY5-576" fmla="*/ 1641219 h 1793278"/>
                    <a:gd name="connsiteX6-577" fmla="*/ 2346321 w 3029351"/>
                    <a:gd name="connsiteY6-578" fmla="*/ 1764206 h 1793278"/>
                    <a:gd name="connsiteX7-579" fmla="*/ 2982854 w 3029351"/>
                    <a:gd name="connsiteY7-580" fmla="*/ 1333139 h 1793278"/>
                    <a:gd name="connsiteX8-581" fmla="*/ 2645714 w 3029351"/>
                    <a:gd name="connsiteY8-582" fmla="*/ 295872 h 1793278"/>
                    <a:gd name="connsiteX9-583" fmla="*/ 1240712 w 3029351"/>
                    <a:gd name="connsiteY9-584" fmla="*/ 107507 h 1793278"/>
                    <a:gd name="connsiteX0-585" fmla="*/ 1240712 w 3029351"/>
                    <a:gd name="connsiteY0-586" fmla="*/ 107507 h 1793278"/>
                    <a:gd name="connsiteX1-587" fmla="*/ 110491 w 3029351"/>
                    <a:gd name="connsiteY1-588" fmla="*/ 842312 h 1793278"/>
                    <a:gd name="connsiteX2-589" fmla="*/ 164060 w 3029351"/>
                    <a:gd name="connsiteY2-590" fmla="*/ 1500767 h 1793278"/>
                    <a:gd name="connsiteX3-591" fmla="*/ 731254 w 3029351"/>
                    <a:gd name="connsiteY3-592" fmla="*/ 1792075 h 1793278"/>
                    <a:gd name="connsiteX4-593" fmla="*/ 1444779 w 3029351"/>
                    <a:gd name="connsiteY4-594" fmla="*/ 1605741 h 1793278"/>
                    <a:gd name="connsiteX5-595" fmla="*/ 1470513 w 3029351"/>
                    <a:gd name="connsiteY5-596" fmla="*/ 1654660 h 1793278"/>
                    <a:gd name="connsiteX6-597" fmla="*/ 2346321 w 3029351"/>
                    <a:gd name="connsiteY6-598" fmla="*/ 1764206 h 1793278"/>
                    <a:gd name="connsiteX7-599" fmla="*/ 2982854 w 3029351"/>
                    <a:gd name="connsiteY7-600" fmla="*/ 1333139 h 1793278"/>
                    <a:gd name="connsiteX8-601" fmla="*/ 2645714 w 3029351"/>
                    <a:gd name="connsiteY8-602" fmla="*/ 295872 h 1793278"/>
                    <a:gd name="connsiteX9-603" fmla="*/ 1240712 w 3029351"/>
                    <a:gd name="connsiteY9-604" fmla="*/ 107507 h 1793278"/>
                    <a:gd name="connsiteX0-605" fmla="*/ 1240712 w 3029351"/>
                    <a:gd name="connsiteY0-606" fmla="*/ 107507 h 1793513"/>
                    <a:gd name="connsiteX1-607" fmla="*/ 110491 w 3029351"/>
                    <a:gd name="connsiteY1-608" fmla="*/ 842312 h 1793513"/>
                    <a:gd name="connsiteX2-609" fmla="*/ 164060 w 3029351"/>
                    <a:gd name="connsiteY2-610" fmla="*/ 1500767 h 1793513"/>
                    <a:gd name="connsiteX3-611" fmla="*/ 731254 w 3029351"/>
                    <a:gd name="connsiteY3-612" fmla="*/ 1792075 h 1793513"/>
                    <a:gd name="connsiteX4-613" fmla="*/ 1360238 w 3029351"/>
                    <a:gd name="connsiteY4-614" fmla="*/ 1613806 h 1793513"/>
                    <a:gd name="connsiteX5-615" fmla="*/ 1470513 w 3029351"/>
                    <a:gd name="connsiteY5-616" fmla="*/ 1654660 h 1793513"/>
                    <a:gd name="connsiteX6-617" fmla="*/ 2346321 w 3029351"/>
                    <a:gd name="connsiteY6-618" fmla="*/ 1764206 h 1793513"/>
                    <a:gd name="connsiteX7-619" fmla="*/ 2982854 w 3029351"/>
                    <a:gd name="connsiteY7-620" fmla="*/ 1333139 h 1793513"/>
                    <a:gd name="connsiteX8-621" fmla="*/ 2645714 w 3029351"/>
                    <a:gd name="connsiteY8-622" fmla="*/ 295872 h 1793513"/>
                    <a:gd name="connsiteX9-623" fmla="*/ 1240712 w 3029351"/>
                    <a:gd name="connsiteY9-624" fmla="*/ 107507 h 1793513"/>
                    <a:gd name="connsiteX0-625" fmla="*/ 1240712 w 3029351"/>
                    <a:gd name="connsiteY0-626" fmla="*/ 107507 h 1793513"/>
                    <a:gd name="connsiteX1-627" fmla="*/ 110491 w 3029351"/>
                    <a:gd name="connsiteY1-628" fmla="*/ 842312 h 1793513"/>
                    <a:gd name="connsiteX2-629" fmla="*/ 164060 w 3029351"/>
                    <a:gd name="connsiteY2-630" fmla="*/ 1500767 h 1793513"/>
                    <a:gd name="connsiteX3-631" fmla="*/ 731254 w 3029351"/>
                    <a:gd name="connsiteY3-632" fmla="*/ 1792075 h 1793513"/>
                    <a:gd name="connsiteX4-633" fmla="*/ 1360238 w 3029351"/>
                    <a:gd name="connsiteY4-634" fmla="*/ 1613806 h 1793513"/>
                    <a:gd name="connsiteX5-635" fmla="*/ 1470513 w 3029351"/>
                    <a:gd name="connsiteY5-636" fmla="*/ 1654660 h 1793513"/>
                    <a:gd name="connsiteX6-637" fmla="*/ 2346321 w 3029351"/>
                    <a:gd name="connsiteY6-638" fmla="*/ 1764206 h 1793513"/>
                    <a:gd name="connsiteX7-639" fmla="*/ 2982854 w 3029351"/>
                    <a:gd name="connsiteY7-640" fmla="*/ 1333139 h 1793513"/>
                    <a:gd name="connsiteX8-641" fmla="*/ 2645714 w 3029351"/>
                    <a:gd name="connsiteY8-642" fmla="*/ 295872 h 1793513"/>
                    <a:gd name="connsiteX9-643" fmla="*/ 1240712 w 3029351"/>
                    <a:gd name="connsiteY9-644" fmla="*/ 107507 h 1793513"/>
                    <a:gd name="connsiteX0-645" fmla="*/ 1240712 w 3029351"/>
                    <a:gd name="connsiteY0-646" fmla="*/ 107507 h 1793687"/>
                    <a:gd name="connsiteX1-647" fmla="*/ 110491 w 3029351"/>
                    <a:gd name="connsiteY1-648" fmla="*/ 842312 h 1793687"/>
                    <a:gd name="connsiteX2-649" fmla="*/ 164060 w 3029351"/>
                    <a:gd name="connsiteY2-650" fmla="*/ 1500767 h 1793687"/>
                    <a:gd name="connsiteX3-651" fmla="*/ 731254 w 3029351"/>
                    <a:gd name="connsiteY3-652" fmla="*/ 1792075 h 1793687"/>
                    <a:gd name="connsiteX4-653" fmla="*/ 1328171 w 3029351"/>
                    <a:gd name="connsiteY4-654" fmla="*/ 1619183 h 1793687"/>
                    <a:gd name="connsiteX5-655" fmla="*/ 1470513 w 3029351"/>
                    <a:gd name="connsiteY5-656" fmla="*/ 1654660 h 1793687"/>
                    <a:gd name="connsiteX6-657" fmla="*/ 2346321 w 3029351"/>
                    <a:gd name="connsiteY6-658" fmla="*/ 1764206 h 1793687"/>
                    <a:gd name="connsiteX7-659" fmla="*/ 2982854 w 3029351"/>
                    <a:gd name="connsiteY7-660" fmla="*/ 1333139 h 1793687"/>
                    <a:gd name="connsiteX8-661" fmla="*/ 2645714 w 3029351"/>
                    <a:gd name="connsiteY8-662" fmla="*/ 295872 h 1793687"/>
                    <a:gd name="connsiteX9-663" fmla="*/ 1240712 w 3029351"/>
                    <a:gd name="connsiteY9-664" fmla="*/ 107507 h 1793687"/>
                    <a:gd name="connsiteX0-665" fmla="*/ 1240712 w 3029351"/>
                    <a:gd name="connsiteY0-666" fmla="*/ 107507 h 1793687"/>
                    <a:gd name="connsiteX1-667" fmla="*/ 110491 w 3029351"/>
                    <a:gd name="connsiteY1-668" fmla="*/ 842312 h 1793687"/>
                    <a:gd name="connsiteX2-669" fmla="*/ 164060 w 3029351"/>
                    <a:gd name="connsiteY2-670" fmla="*/ 1500767 h 1793687"/>
                    <a:gd name="connsiteX3-671" fmla="*/ 731254 w 3029351"/>
                    <a:gd name="connsiteY3-672" fmla="*/ 1792075 h 1793687"/>
                    <a:gd name="connsiteX4-673" fmla="*/ 1328171 w 3029351"/>
                    <a:gd name="connsiteY4-674" fmla="*/ 1619183 h 1793687"/>
                    <a:gd name="connsiteX5-675" fmla="*/ 1470513 w 3029351"/>
                    <a:gd name="connsiteY5-676" fmla="*/ 1654660 h 1793687"/>
                    <a:gd name="connsiteX6-677" fmla="*/ 2346321 w 3029351"/>
                    <a:gd name="connsiteY6-678" fmla="*/ 1764206 h 1793687"/>
                    <a:gd name="connsiteX7-679" fmla="*/ 2982854 w 3029351"/>
                    <a:gd name="connsiteY7-680" fmla="*/ 1333139 h 1793687"/>
                    <a:gd name="connsiteX8-681" fmla="*/ 2645714 w 3029351"/>
                    <a:gd name="connsiteY8-682" fmla="*/ 295872 h 1793687"/>
                    <a:gd name="connsiteX9-683" fmla="*/ 1240712 w 3029351"/>
                    <a:gd name="connsiteY9-684" fmla="*/ 107507 h 1793687"/>
                    <a:gd name="connsiteX0-685" fmla="*/ 1240712 w 3029351"/>
                    <a:gd name="connsiteY0-686" fmla="*/ 107507 h 1793687"/>
                    <a:gd name="connsiteX1-687" fmla="*/ 110491 w 3029351"/>
                    <a:gd name="connsiteY1-688" fmla="*/ 842312 h 1793687"/>
                    <a:gd name="connsiteX2-689" fmla="*/ 164060 w 3029351"/>
                    <a:gd name="connsiteY2-690" fmla="*/ 1500767 h 1793687"/>
                    <a:gd name="connsiteX3-691" fmla="*/ 731254 w 3029351"/>
                    <a:gd name="connsiteY3-692" fmla="*/ 1792075 h 1793687"/>
                    <a:gd name="connsiteX4-693" fmla="*/ 1328171 w 3029351"/>
                    <a:gd name="connsiteY4-694" fmla="*/ 1619183 h 1793687"/>
                    <a:gd name="connsiteX5-695" fmla="*/ 1470513 w 3029351"/>
                    <a:gd name="connsiteY5-696" fmla="*/ 1654660 h 1793687"/>
                    <a:gd name="connsiteX6-697" fmla="*/ 2346321 w 3029351"/>
                    <a:gd name="connsiteY6-698" fmla="*/ 1764206 h 1793687"/>
                    <a:gd name="connsiteX7-699" fmla="*/ 2982854 w 3029351"/>
                    <a:gd name="connsiteY7-700" fmla="*/ 1333139 h 1793687"/>
                    <a:gd name="connsiteX8-701" fmla="*/ 2645714 w 3029351"/>
                    <a:gd name="connsiteY8-702" fmla="*/ 295872 h 1793687"/>
                    <a:gd name="connsiteX9-703" fmla="*/ 1240712 w 3029351"/>
                    <a:gd name="connsiteY9-704" fmla="*/ 107507 h 1793687"/>
                    <a:gd name="connsiteX0-705" fmla="*/ 1240712 w 3029351"/>
                    <a:gd name="connsiteY0-706" fmla="*/ 107507 h 1793687"/>
                    <a:gd name="connsiteX1-707" fmla="*/ 110491 w 3029351"/>
                    <a:gd name="connsiteY1-708" fmla="*/ 842312 h 1793687"/>
                    <a:gd name="connsiteX2-709" fmla="*/ 164060 w 3029351"/>
                    <a:gd name="connsiteY2-710" fmla="*/ 1500767 h 1793687"/>
                    <a:gd name="connsiteX3-711" fmla="*/ 731254 w 3029351"/>
                    <a:gd name="connsiteY3-712" fmla="*/ 1792075 h 1793687"/>
                    <a:gd name="connsiteX4-713" fmla="*/ 1328171 w 3029351"/>
                    <a:gd name="connsiteY4-714" fmla="*/ 1619183 h 1793687"/>
                    <a:gd name="connsiteX5-715" fmla="*/ 1534648 w 3029351"/>
                    <a:gd name="connsiteY5-716" fmla="*/ 1668101 h 1793687"/>
                    <a:gd name="connsiteX6-717" fmla="*/ 2346321 w 3029351"/>
                    <a:gd name="connsiteY6-718" fmla="*/ 1764206 h 1793687"/>
                    <a:gd name="connsiteX7-719" fmla="*/ 2982854 w 3029351"/>
                    <a:gd name="connsiteY7-720" fmla="*/ 1333139 h 1793687"/>
                    <a:gd name="connsiteX8-721" fmla="*/ 2645714 w 3029351"/>
                    <a:gd name="connsiteY8-722" fmla="*/ 295872 h 1793687"/>
                    <a:gd name="connsiteX9-723" fmla="*/ 1240712 w 3029351"/>
                    <a:gd name="connsiteY9-724" fmla="*/ 107507 h 1793687"/>
                    <a:gd name="connsiteX0-725" fmla="*/ 1240712 w 3029351"/>
                    <a:gd name="connsiteY0-726" fmla="*/ 107507 h 1793687"/>
                    <a:gd name="connsiteX1-727" fmla="*/ 110491 w 3029351"/>
                    <a:gd name="connsiteY1-728" fmla="*/ 842312 h 1793687"/>
                    <a:gd name="connsiteX2-729" fmla="*/ 164060 w 3029351"/>
                    <a:gd name="connsiteY2-730" fmla="*/ 1500767 h 1793687"/>
                    <a:gd name="connsiteX3-731" fmla="*/ 731254 w 3029351"/>
                    <a:gd name="connsiteY3-732" fmla="*/ 1792075 h 1793687"/>
                    <a:gd name="connsiteX4-733" fmla="*/ 1328171 w 3029351"/>
                    <a:gd name="connsiteY4-734" fmla="*/ 1619183 h 1793687"/>
                    <a:gd name="connsiteX5-735" fmla="*/ 1598782 w 3029351"/>
                    <a:gd name="connsiteY5-736" fmla="*/ 1668101 h 1793687"/>
                    <a:gd name="connsiteX6-737" fmla="*/ 2346321 w 3029351"/>
                    <a:gd name="connsiteY6-738" fmla="*/ 1764206 h 1793687"/>
                    <a:gd name="connsiteX7-739" fmla="*/ 2982854 w 3029351"/>
                    <a:gd name="connsiteY7-740" fmla="*/ 1333139 h 1793687"/>
                    <a:gd name="connsiteX8-741" fmla="*/ 2645714 w 3029351"/>
                    <a:gd name="connsiteY8-742" fmla="*/ 295872 h 1793687"/>
                    <a:gd name="connsiteX9-743" fmla="*/ 1240712 w 3029351"/>
                    <a:gd name="connsiteY9-744" fmla="*/ 107507 h 1793687"/>
                    <a:gd name="connsiteX0-745" fmla="*/ 1240712 w 3029351"/>
                    <a:gd name="connsiteY0-746" fmla="*/ 107507 h 1793687"/>
                    <a:gd name="connsiteX1-747" fmla="*/ 110491 w 3029351"/>
                    <a:gd name="connsiteY1-748" fmla="*/ 842312 h 1793687"/>
                    <a:gd name="connsiteX2-749" fmla="*/ 164060 w 3029351"/>
                    <a:gd name="connsiteY2-750" fmla="*/ 1500767 h 1793687"/>
                    <a:gd name="connsiteX3-751" fmla="*/ 731254 w 3029351"/>
                    <a:gd name="connsiteY3-752" fmla="*/ 1792075 h 1793687"/>
                    <a:gd name="connsiteX4-753" fmla="*/ 1328171 w 3029351"/>
                    <a:gd name="connsiteY4-754" fmla="*/ 1619183 h 1793687"/>
                    <a:gd name="connsiteX5-755" fmla="*/ 1598782 w 3029351"/>
                    <a:gd name="connsiteY5-756" fmla="*/ 1668101 h 1793687"/>
                    <a:gd name="connsiteX6-757" fmla="*/ 2346321 w 3029351"/>
                    <a:gd name="connsiteY6-758" fmla="*/ 1764206 h 1793687"/>
                    <a:gd name="connsiteX7-759" fmla="*/ 2982854 w 3029351"/>
                    <a:gd name="connsiteY7-760" fmla="*/ 1333139 h 1793687"/>
                    <a:gd name="connsiteX8-761" fmla="*/ 2645714 w 3029351"/>
                    <a:gd name="connsiteY8-762" fmla="*/ 295872 h 1793687"/>
                    <a:gd name="connsiteX9-763" fmla="*/ 1240712 w 3029351"/>
                    <a:gd name="connsiteY9-764" fmla="*/ 107507 h 1793687"/>
                    <a:gd name="connsiteX0-765" fmla="*/ 1240712 w 3029351"/>
                    <a:gd name="connsiteY0-766" fmla="*/ 107507 h 1793687"/>
                    <a:gd name="connsiteX1-767" fmla="*/ 110491 w 3029351"/>
                    <a:gd name="connsiteY1-768" fmla="*/ 842312 h 1793687"/>
                    <a:gd name="connsiteX2-769" fmla="*/ 164060 w 3029351"/>
                    <a:gd name="connsiteY2-770" fmla="*/ 1500767 h 1793687"/>
                    <a:gd name="connsiteX3-771" fmla="*/ 731254 w 3029351"/>
                    <a:gd name="connsiteY3-772" fmla="*/ 1792075 h 1793687"/>
                    <a:gd name="connsiteX4-773" fmla="*/ 1328171 w 3029351"/>
                    <a:gd name="connsiteY4-774" fmla="*/ 1619183 h 1793687"/>
                    <a:gd name="connsiteX5-775" fmla="*/ 1598782 w 3029351"/>
                    <a:gd name="connsiteY5-776" fmla="*/ 1668101 h 1793687"/>
                    <a:gd name="connsiteX6-777" fmla="*/ 2346321 w 3029351"/>
                    <a:gd name="connsiteY6-778" fmla="*/ 1764206 h 1793687"/>
                    <a:gd name="connsiteX7-779" fmla="*/ 2982854 w 3029351"/>
                    <a:gd name="connsiteY7-780" fmla="*/ 1333139 h 1793687"/>
                    <a:gd name="connsiteX8-781" fmla="*/ 2645714 w 3029351"/>
                    <a:gd name="connsiteY8-782" fmla="*/ 295872 h 1793687"/>
                    <a:gd name="connsiteX9-783" fmla="*/ 1240712 w 3029351"/>
                    <a:gd name="connsiteY9-784" fmla="*/ 107507 h 1793687"/>
                    <a:gd name="connsiteX0-785" fmla="*/ 1240712 w 3029351"/>
                    <a:gd name="connsiteY0-786" fmla="*/ 107507 h 1793813"/>
                    <a:gd name="connsiteX1-787" fmla="*/ 110491 w 3029351"/>
                    <a:gd name="connsiteY1-788" fmla="*/ 842312 h 1793813"/>
                    <a:gd name="connsiteX2-789" fmla="*/ 164060 w 3029351"/>
                    <a:gd name="connsiteY2-790" fmla="*/ 1500767 h 1793813"/>
                    <a:gd name="connsiteX3-791" fmla="*/ 731254 w 3029351"/>
                    <a:gd name="connsiteY3-792" fmla="*/ 1792075 h 1793813"/>
                    <a:gd name="connsiteX4-793" fmla="*/ 1328171 w 3029351"/>
                    <a:gd name="connsiteY4-794" fmla="*/ 1619183 h 1793813"/>
                    <a:gd name="connsiteX5-795" fmla="*/ 1598782 w 3029351"/>
                    <a:gd name="connsiteY5-796" fmla="*/ 1668101 h 1793813"/>
                    <a:gd name="connsiteX6-797" fmla="*/ 2346321 w 3029351"/>
                    <a:gd name="connsiteY6-798" fmla="*/ 1764206 h 1793813"/>
                    <a:gd name="connsiteX7-799" fmla="*/ 2982854 w 3029351"/>
                    <a:gd name="connsiteY7-800" fmla="*/ 1333139 h 1793813"/>
                    <a:gd name="connsiteX8-801" fmla="*/ 2645714 w 3029351"/>
                    <a:gd name="connsiteY8-802" fmla="*/ 295872 h 1793813"/>
                    <a:gd name="connsiteX9-803" fmla="*/ 1240712 w 3029351"/>
                    <a:gd name="connsiteY9-804" fmla="*/ 107507 h 179381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69" y="connsiteY8-370"/>
                    </a:cxn>
                    <a:cxn ang="0">
                      <a:pos x="connsiteX9-443" y="connsiteY9-444"/>
                    </a:cxn>
                  </a:cxnLst>
                  <a:rect l="l" t="t" r="r" b="b"/>
                  <a:pathLst>
                    <a:path w="3029351" h="1793813">
                      <a:moveTo>
                        <a:pt x="1240712" y="107507"/>
                      </a:moveTo>
                      <a:cubicBezTo>
                        <a:pt x="901725" y="355835"/>
                        <a:pt x="375314" y="360787"/>
                        <a:pt x="110491" y="842312"/>
                      </a:cubicBezTo>
                      <a:cubicBezTo>
                        <a:pt x="-154332" y="1323837"/>
                        <a:pt x="136492" y="1346848"/>
                        <a:pt x="164060" y="1500767"/>
                      </a:cubicBezTo>
                      <a:cubicBezTo>
                        <a:pt x="234317" y="1654687"/>
                        <a:pt x="537235" y="1772339"/>
                        <a:pt x="731254" y="1792075"/>
                      </a:cubicBezTo>
                      <a:cubicBezTo>
                        <a:pt x="925273" y="1811811"/>
                        <a:pt x="1217281" y="1657767"/>
                        <a:pt x="1328171" y="1619183"/>
                      </a:cubicBezTo>
                      <a:cubicBezTo>
                        <a:pt x="1584822" y="1663933"/>
                        <a:pt x="1449497" y="1627803"/>
                        <a:pt x="1598782" y="1668101"/>
                      </a:cubicBezTo>
                      <a:cubicBezTo>
                        <a:pt x="1748067" y="1708399"/>
                        <a:pt x="2115642" y="1820033"/>
                        <a:pt x="2346321" y="1764206"/>
                      </a:cubicBezTo>
                      <a:cubicBezTo>
                        <a:pt x="2577000" y="1708379"/>
                        <a:pt x="2845202" y="1569113"/>
                        <a:pt x="2982854" y="1333139"/>
                      </a:cubicBezTo>
                      <a:cubicBezTo>
                        <a:pt x="3120506" y="1097165"/>
                        <a:pt x="2936071" y="500144"/>
                        <a:pt x="2645714" y="295872"/>
                      </a:cubicBezTo>
                      <a:cubicBezTo>
                        <a:pt x="2355357" y="91600"/>
                        <a:pt x="1579699" y="-140821"/>
                        <a:pt x="1240712" y="107507"/>
                      </a:cubicBezTo>
                      <a:close/>
                    </a:path>
                  </a:pathLst>
                </a:custGeom>
                <a:gradFill flip="none" rotWithShape="1">
                  <a:gsLst>
                    <a:gs pos="8000">
                      <a:schemeClr val="accent1">
                        <a:lumMod val="5000"/>
                        <a:lumOff val="95000"/>
                      </a:schemeClr>
                    </a:gs>
                    <a:gs pos="47000">
                      <a:schemeClr val="accent1">
                        <a:lumMod val="45000"/>
                        <a:lumOff val="55000"/>
                      </a:schemeClr>
                    </a:gs>
                    <a:gs pos="71000">
                      <a:schemeClr val="accent1">
                        <a:lumMod val="45000"/>
                        <a:lumOff val="55000"/>
                      </a:schemeClr>
                    </a:gs>
                    <a:gs pos="100000">
                      <a:schemeClr val="accent1">
                        <a:lumMod val="30000"/>
                        <a:lumOff val="70000"/>
                      </a:schemeClr>
                    </a:gs>
                  </a:gsLst>
                  <a:path path="shap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CuadroTexto 20"/>
                <p:cNvSpPr txBox="1"/>
                <p:nvPr/>
              </p:nvSpPr>
              <p:spPr>
                <a:xfrm>
                  <a:off x="2284517" y="3067857"/>
                  <a:ext cx="2952296" cy="1092834"/>
                </a:xfrm>
                <a:prstGeom prst="rect">
                  <a:avLst/>
                </a:prstGeom>
                <a:noFill/>
              </p:spPr>
              <p:txBody>
                <a:bodyPr wrap="square" rtlCol="0">
                  <a:spAutoFit/>
                </a:bodyPr>
                <a:lstStyle/>
                <a:p>
                  <a:pPr algn="ctr"/>
                  <a:r>
                    <a:rPr lang="es-MX" sz="5400" dirty="0">
                      <a:effectLst>
                        <a:outerShdw blurRad="38100" dist="38100" dir="2700000" algn="tl">
                          <a:srgbClr val="000000">
                            <a:alpha val="43137"/>
                          </a:srgbClr>
                        </a:outerShdw>
                      </a:effectLst>
                    </a:rPr>
                    <a:t>Sistema termodinámico</a:t>
                  </a:r>
                  <a:endParaRPr lang="es-CO" sz="5400" dirty="0">
                    <a:effectLst>
                      <a:outerShdw blurRad="38100" dist="38100" dir="2700000" algn="tl">
                        <a:srgbClr val="000000">
                          <a:alpha val="43137"/>
                        </a:srgbClr>
                      </a:outerShdw>
                    </a:effectLst>
                  </a:endParaRPr>
                </a:p>
              </p:txBody>
            </p:sp>
          </p:grpSp>
          <p:sp>
            <p:nvSpPr>
              <p:cNvPr id="23" name="Flecha: a la derecha 22"/>
              <p:cNvSpPr/>
              <p:nvPr/>
            </p:nvSpPr>
            <p:spPr>
              <a:xfrm>
                <a:off x="1371362" y="2659249"/>
                <a:ext cx="1206500" cy="660400"/>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Flecha: a la derecha 23"/>
              <p:cNvSpPr/>
              <p:nvPr/>
            </p:nvSpPr>
            <p:spPr>
              <a:xfrm>
                <a:off x="1371362" y="4665849"/>
                <a:ext cx="1206500" cy="660400"/>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Flecha: a la derecha 24"/>
              <p:cNvSpPr/>
              <p:nvPr/>
            </p:nvSpPr>
            <p:spPr>
              <a:xfrm>
                <a:off x="7702079" y="2659249"/>
                <a:ext cx="1206500" cy="66040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Flecha: a la derecha 25"/>
              <p:cNvSpPr/>
              <p:nvPr/>
            </p:nvSpPr>
            <p:spPr>
              <a:xfrm>
                <a:off x="7702079" y="4665849"/>
                <a:ext cx="1206500" cy="66040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7" name="CuadroTexto 26"/>
                  <p:cNvSpPr txBox="1"/>
                  <p:nvPr/>
                </p:nvSpPr>
                <p:spPr>
                  <a:xfrm>
                    <a:off x="1395021" y="3256098"/>
                    <a:ext cx="10287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rPr>
                            <m:t>𝑄</m:t>
                          </m:r>
                          <m:r>
                            <a:rPr lang="es-MX" sz="2400" b="0" i="1" smtClean="0">
                              <a:latin typeface="Cambria Math" panose="02040503050406030204" pitchFamily="18" charset="0"/>
                            </a:rPr>
                            <m:t>&gt;0</m:t>
                          </m:r>
                        </m:oMath>
                      </m:oMathPara>
                    </a14:m>
                    <a:endParaRPr lang="es-CO" sz="2400" dirty="0"/>
                  </a:p>
                </p:txBody>
              </p:sp>
            </mc:Choice>
            <mc:Fallback xmlns="">
              <p:sp>
                <p:nvSpPr>
                  <p:cNvPr id="27" name="CuadroTexto 26"/>
                  <p:cNvSpPr txBox="1">
                    <a:spLocks noRot="1" noChangeAspect="1" noMove="1" noResize="1" noEditPoints="1" noAdjustHandles="1" noChangeArrowheads="1" noChangeShapeType="1" noTextEdit="1"/>
                  </p:cNvSpPr>
                  <p:nvPr/>
                </p:nvSpPr>
                <p:spPr>
                  <a:xfrm>
                    <a:off x="1395021" y="3256098"/>
                    <a:ext cx="1028700" cy="461665"/>
                  </a:xfrm>
                  <a:prstGeom prst="rect">
                    <a:avLst/>
                  </a:prstGeom>
                  <a:blipFill rotWithShape="1">
                    <a:blip r:embed="rId2"/>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28" name="CuadroTexto 27"/>
                  <p:cNvSpPr txBox="1"/>
                  <p:nvPr/>
                </p:nvSpPr>
                <p:spPr>
                  <a:xfrm>
                    <a:off x="1330668" y="2197584"/>
                    <a:ext cx="10287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rPr>
                              </m:ctrlPr>
                            </m:sSubPr>
                            <m:e>
                              <m:r>
                                <a:rPr lang="es-MX" sz="2400" b="0" i="1" smtClean="0">
                                  <a:latin typeface="Cambria Math" panose="02040503050406030204" pitchFamily="18" charset="0"/>
                                </a:rPr>
                                <m:t>𝑄</m:t>
                              </m:r>
                            </m:e>
                            <m:sub>
                              <m:r>
                                <a:rPr lang="es-MX" sz="2400" b="0" i="1" smtClean="0">
                                  <a:latin typeface="Cambria Math" panose="02040503050406030204" pitchFamily="18" charset="0"/>
                                </a:rPr>
                                <m:t>𝑒𝑛𝑡𝑟𝑎𝑑𝑎</m:t>
                              </m:r>
                            </m:sub>
                          </m:sSub>
                        </m:oMath>
                      </m:oMathPara>
                    </a14:m>
                    <a:endParaRPr lang="es-CO" sz="2400" dirty="0"/>
                  </a:p>
                </p:txBody>
              </p:sp>
            </mc:Choice>
            <mc:Fallback xmlns="">
              <p:sp>
                <p:nvSpPr>
                  <p:cNvPr id="28" name="CuadroTexto 27"/>
                  <p:cNvSpPr txBox="1">
                    <a:spLocks noRot="1" noChangeAspect="1" noMove="1" noResize="1" noEditPoints="1" noAdjustHandles="1" noChangeArrowheads="1" noChangeShapeType="1" noTextEdit="1"/>
                  </p:cNvSpPr>
                  <p:nvPr/>
                </p:nvSpPr>
                <p:spPr>
                  <a:xfrm>
                    <a:off x="1330668" y="2197584"/>
                    <a:ext cx="1028700" cy="461665"/>
                  </a:xfrm>
                  <a:prstGeom prst="rect">
                    <a:avLst/>
                  </a:prstGeom>
                  <a:blipFill rotWithShape="1">
                    <a:blip r:embed="rId3"/>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29" name="CuadroTexto 28"/>
                  <p:cNvSpPr txBox="1"/>
                  <p:nvPr/>
                </p:nvSpPr>
                <p:spPr>
                  <a:xfrm>
                    <a:off x="1343386" y="5326249"/>
                    <a:ext cx="115740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rPr>
                            <m:t>𝑊</m:t>
                          </m:r>
                          <m:r>
                            <a:rPr lang="es-MX" sz="2400" b="0" i="1" smtClean="0">
                              <a:latin typeface="Cambria Math" panose="02040503050406030204" pitchFamily="18" charset="0"/>
                            </a:rPr>
                            <m:t>&lt;0</m:t>
                          </m:r>
                        </m:oMath>
                      </m:oMathPara>
                    </a14:m>
                    <a:endParaRPr lang="es-CO" sz="2400" dirty="0"/>
                  </a:p>
                </p:txBody>
              </p:sp>
            </mc:Choice>
            <mc:Fallback xmlns="">
              <p:sp>
                <p:nvSpPr>
                  <p:cNvPr id="29" name="CuadroTexto 28"/>
                  <p:cNvSpPr txBox="1">
                    <a:spLocks noRot="1" noChangeAspect="1" noMove="1" noResize="1" noEditPoints="1" noAdjustHandles="1" noChangeArrowheads="1" noChangeShapeType="1" noTextEdit="1"/>
                  </p:cNvSpPr>
                  <p:nvPr/>
                </p:nvSpPr>
                <p:spPr>
                  <a:xfrm>
                    <a:off x="1343386" y="5326249"/>
                    <a:ext cx="1157406" cy="461665"/>
                  </a:xfrm>
                  <a:prstGeom prst="rect">
                    <a:avLst/>
                  </a:prstGeom>
                  <a:blipFill rotWithShape="1">
                    <a:blip r:embed="rId4"/>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30" name="CuadroTexto 29"/>
                  <p:cNvSpPr txBox="1"/>
                  <p:nvPr/>
                </p:nvSpPr>
                <p:spPr>
                  <a:xfrm>
                    <a:off x="1230144" y="4196842"/>
                    <a:ext cx="10287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rPr>
                              </m:ctrlPr>
                            </m:sSubPr>
                            <m:e>
                              <m:r>
                                <a:rPr lang="es-MX" sz="2400" b="0" i="1" smtClean="0">
                                  <a:latin typeface="Cambria Math" panose="02040503050406030204" pitchFamily="18" charset="0"/>
                                </a:rPr>
                                <m:t>𝑊</m:t>
                              </m:r>
                            </m:e>
                            <m:sub>
                              <m:r>
                                <a:rPr lang="es-MX" sz="2400" b="0" i="1" smtClean="0">
                                  <a:latin typeface="Cambria Math" panose="02040503050406030204" pitchFamily="18" charset="0"/>
                                </a:rPr>
                                <m:t>𝑒𝑛𝑡𝑟𝑎𝑑𝑎</m:t>
                              </m:r>
                            </m:sub>
                          </m:sSub>
                        </m:oMath>
                      </m:oMathPara>
                    </a14:m>
                    <a:endParaRPr lang="es-CO" sz="2400" dirty="0"/>
                  </a:p>
                </p:txBody>
              </p:sp>
            </mc:Choice>
            <mc:Fallback xmlns="">
              <p:sp>
                <p:nvSpPr>
                  <p:cNvPr id="30" name="CuadroTexto 29"/>
                  <p:cNvSpPr txBox="1">
                    <a:spLocks noRot="1" noChangeAspect="1" noMove="1" noResize="1" noEditPoints="1" noAdjustHandles="1" noChangeArrowheads="1" noChangeShapeType="1" noTextEdit="1"/>
                  </p:cNvSpPr>
                  <p:nvPr/>
                </p:nvSpPr>
                <p:spPr>
                  <a:xfrm>
                    <a:off x="1230144" y="4196842"/>
                    <a:ext cx="1028700" cy="461665"/>
                  </a:xfrm>
                  <a:prstGeom prst="rect">
                    <a:avLst/>
                  </a:prstGeom>
                  <a:blipFill rotWithShape="1">
                    <a:blip r:embed="rId5"/>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31" name="CuadroTexto 30"/>
                  <p:cNvSpPr txBox="1"/>
                  <p:nvPr/>
                </p:nvSpPr>
                <p:spPr>
                  <a:xfrm>
                    <a:off x="7645830" y="3237405"/>
                    <a:ext cx="10287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rPr>
                            <m:t>𝑄</m:t>
                          </m:r>
                          <m:r>
                            <a:rPr lang="es-MX" sz="2400" b="0" i="1" smtClean="0">
                              <a:latin typeface="Cambria Math" panose="02040503050406030204" pitchFamily="18" charset="0"/>
                            </a:rPr>
                            <m:t>&lt;0</m:t>
                          </m:r>
                        </m:oMath>
                      </m:oMathPara>
                    </a14:m>
                    <a:endParaRPr lang="es-CO" sz="2400" dirty="0"/>
                  </a:p>
                </p:txBody>
              </p:sp>
            </mc:Choice>
            <mc:Fallback xmlns="">
              <p:sp>
                <p:nvSpPr>
                  <p:cNvPr id="31" name="CuadroTexto 30"/>
                  <p:cNvSpPr txBox="1">
                    <a:spLocks noRot="1" noChangeAspect="1" noMove="1" noResize="1" noEditPoints="1" noAdjustHandles="1" noChangeArrowheads="1" noChangeShapeType="1" noTextEdit="1"/>
                  </p:cNvSpPr>
                  <p:nvPr/>
                </p:nvSpPr>
                <p:spPr>
                  <a:xfrm>
                    <a:off x="7645830" y="3237405"/>
                    <a:ext cx="1028700" cy="461665"/>
                  </a:xfrm>
                  <a:prstGeom prst="rect">
                    <a:avLst/>
                  </a:prstGeom>
                  <a:blipFill rotWithShape="1">
                    <a:blip r:embed="rId6"/>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32" name="CuadroTexto 31"/>
                  <p:cNvSpPr txBox="1"/>
                  <p:nvPr/>
                </p:nvSpPr>
                <p:spPr>
                  <a:xfrm>
                    <a:off x="7581477" y="2191591"/>
                    <a:ext cx="10287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rPr>
                              </m:ctrlPr>
                            </m:sSubPr>
                            <m:e>
                              <m:r>
                                <a:rPr lang="es-MX" sz="2400" b="0" i="1" smtClean="0">
                                  <a:latin typeface="Cambria Math" panose="02040503050406030204" pitchFamily="18" charset="0"/>
                                </a:rPr>
                                <m:t>𝑄</m:t>
                              </m:r>
                            </m:e>
                            <m:sub>
                              <m:r>
                                <a:rPr lang="es-MX" sz="2400" b="0" i="1" smtClean="0">
                                  <a:latin typeface="Cambria Math" panose="02040503050406030204" pitchFamily="18" charset="0"/>
                                </a:rPr>
                                <m:t>𝑠𝑎𝑙𝑖𝑑𝑎</m:t>
                              </m:r>
                            </m:sub>
                          </m:sSub>
                        </m:oMath>
                      </m:oMathPara>
                    </a14:m>
                    <a:endParaRPr lang="es-CO" sz="2400" dirty="0"/>
                  </a:p>
                </p:txBody>
              </p:sp>
            </mc:Choice>
            <mc:Fallback xmlns="">
              <p:sp>
                <p:nvSpPr>
                  <p:cNvPr id="32" name="CuadroTexto 31"/>
                  <p:cNvSpPr txBox="1">
                    <a:spLocks noRot="1" noChangeAspect="1" noMove="1" noResize="1" noEditPoints="1" noAdjustHandles="1" noChangeArrowheads="1" noChangeShapeType="1" noTextEdit="1"/>
                  </p:cNvSpPr>
                  <p:nvPr/>
                </p:nvSpPr>
                <p:spPr>
                  <a:xfrm>
                    <a:off x="7581477" y="2191591"/>
                    <a:ext cx="1028700" cy="461665"/>
                  </a:xfrm>
                  <a:prstGeom prst="rect">
                    <a:avLst/>
                  </a:prstGeom>
                  <a:blipFill rotWithShape="1">
                    <a:blip r:embed="rId7"/>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33" name="CuadroTexto 32"/>
                  <p:cNvSpPr txBox="1"/>
                  <p:nvPr/>
                </p:nvSpPr>
                <p:spPr>
                  <a:xfrm>
                    <a:off x="7638964" y="5249998"/>
                    <a:ext cx="109305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rPr>
                            <m:t>𝑊</m:t>
                          </m:r>
                          <m:r>
                            <a:rPr lang="es-MX" sz="2400" b="0" i="1" smtClean="0">
                              <a:latin typeface="Cambria Math" panose="02040503050406030204" pitchFamily="18" charset="0"/>
                            </a:rPr>
                            <m:t>&gt;0</m:t>
                          </m:r>
                        </m:oMath>
                      </m:oMathPara>
                    </a14:m>
                    <a:endParaRPr lang="es-CO" sz="2400" dirty="0"/>
                  </a:p>
                </p:txBody>
              </p:sp>
            </mc:Choice>
            <mc:Fallback xmlns="">
              <p:sp>
                <p:nvSpPr>
                  <p:cNvPr id="33" name="CuadroTexto 32"/>
                  <p:cNvSpPr txBox="1">
                    <a:spLocks noRot="1" noChangeAspect="1" noMove="1" noResize="1" noEditPoints="1" noAdjustHandles="1" noChangeArrowheads="1" noChangeShapeType="1" noTextEdit="1"/>
                  </p:cNvSpPr>
                  <p:nvPr/>
                </p:nvSpPr>
                <p:spPr>
                  <a:xfrm>
                    <a:off x="7638964" y="5249998"/>
                    <a:ext cx="1093053" cy="461665"/>
                  </a:xfrm>
                  <a:prstGeom prst="rect">
                    <a:avLst/>
                  </a:prstGeom>
                  <a:blipFill rotWithShape="1">
                    <a:blip r:embed="rId8"/>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34" name="CuadroTexto 33"/>
                  <p:cNvSpPr txBox="1"/>
                  <p:nvPr/>
                </p:nvSpPr>
                <p:spPr>
                  <a:xfrm>
                    <a:off x="7638964" y="4204184"/>
                    <a:ext cx="10287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rPr>
                              </m:ctrlPr>
                            </m:sSubPr>
                            <m:e>
                              <m:r>
                                <a:rPr lang="es-MX" sz="2400" b="0" i="1" smtClean="0">
                                  <a:latin typeface="Cambria Math" panose="02040503050406030204" pitchFamily="18" charset="0"/>
                                </a:rPr>
                                <m:t>𝑊</m:t>
                              </m:r>
                            </m:e>
                            <m:sub>
                              <m:r>
                                <a:rPr lang="es-MX" sz="2400" b="0" i="1" smtClean="0">
                                  <a:latin typeface="Cambria Math" panose="02040503050406030204" pitchFamily="18" charset="0"/>
                                </a:rPr>
                                <m:t>𝑠𝑎𝑙𝑖𝑑𝑎</m:t>
                              </m:r>
                            </m:sub>
                          </m:sSub>
                        </m:oMath>
                      </m:oMathPara>
                    </a14:m>
                    <a:endParaRPr lang="es-CO" sz="2400" dirty="0"/>
                  </a:p>
                </p:txBody>
              </p:sp>
            </mc:Choice>
            <mc:Fallback xmlns="">
              <p:sp>
                <p:nvSpPr>
                  <p:cNvPr id="34" name="CuadroTexto 33"/>
                  <p:cNvSpPr txBox="1">
                    <a:spLocks noRot="1" noChangeAspect="1" noMove="1" noResize="1" noEditPoints="1" noAdjustHandles="1" noChangeArrowheads="1" noChangeShapeType="1" noTextEdit="1"/>
                  </p:cNvSpPr>
                  <p:nvPr/>
                </p:nvSpPr>
                <p:spPr>
                  <a:xfrm>
                    <a:off x="7638964" y="4204184"/>
                    <a:ext cx="1028700" cy="461665"/>
                  </a:xfrm>
                  <a:prstGeom prst="rect">
                    <a:avLst/>
                  </a:prstGeom>
                  <a:blipFill rotWithShape="1">
                    <a:blip r:embed="rId9"/>
                  </a:blipFill>
                </p:spPr>
                <p:txBody>
                  <a:bodyPr/>
                  <a:lstStyle/>
                  <a:p>
                    <a:r>
                      <a:rPr lang="es-ES" altLang="en-US">
                        <a:noFill/>
                      </a:rPr>
                      <a:t> </a:t>
                    </a:r>
                  </a:p>
                </p:txBody>
              </p:sp>
            </mc:Fallback>
          </mc:AlternateContent>
        </p:grpSp>
        <p:sp>
          <p:nvSpPr>
            <p:cNvPr id="36" name="CuadroTexto 35"/>
            <p:cNvSpPr txBox="1"/>
            <p:nvPr/>
          </p:nvSpPr>
          <p:spPr>
            <a:xfrm>
              <a:off x="348337" y="2839834"/>
              <a:ext cx="1547981" cy="584775"/>
            </a:xfrm>
            <a:prstGeom prst="rect">
              <a:avLst/>
            </a:prstGeom>
            <a:noFill/>
          </p:spPr>
          <p:txBody>
            <a:bodyPr wrap="square">
              <a:spAutoFit/>
            </a:bodyPr>
            <a:lstStyle/>
            <a:p>
              <a:pPr algn="ctr"/>
              <a:r>
                <a:rPr lang="es-MX" sz="16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Entra calor al sistema</a:t>
              </a:r>
              <a:endParaRPr lang="es-CO" sz="16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7" name="CuadroTexto 36"/>
            <p:cNvSpPr txBox="1"/>
            <p:nvPr/>
          </p:nvSpPr>
          <p:spPr>
            <a:xfrm>
              <a:off x="315674" y="4827797"/>
              <a:ext cx="1547981" cy="830997"/>
            </a:xfrm>
            <a:prstGeom prst="rect">
              <a:avLst/>
            </a:prstGeom>
            <a:noFill/>
          </p:spPr>
          <p:txBody>
            <a:bodyPr wrap="square">
              <a:spAutoFit/>
            </a:bodyPr>
            <a:lstStyle/>
            <a:p>
              <a:pPr algn="ctr"/>
              <a:r>
                <a:rPr lang="es-MX" sz="16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Se realiza trabajo sobre el sistema</a:t>
              </a:r>
              <a:endParaRPr lang="es-CO" sz="16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8" name="CuadroTexto 37"/>
            <p:cNvSpPr txBox="1"/>
            <p:nvPr/>
          </p:nvSpPr>
          <p:spPr>
            <a:xfrm>
              <a:off x="9801001" y="2856422"/>
              <a:ext cx="1547981" cy="584775"/>
            </a:xfrm>
            <a:prstGeom prst="rect">
              <a:avLst/>
            </a:prstGeom>
            <a:noFill/>
          </p:spPr>
          <p:txBody>
            <a:bodyPr wrap="square">
              <a:spAutoFit/>
            </a:bodyPr>
            <a:lstStyle/>
            <a:p>
              <a:pPr algn="ctr"/>
              <a:r>
                <a:rPr lang="es-MX" sz="16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Entrega calor el sistema</a:t>
              </a:r>
              <a:endParaRPr lang="es-CO" sz="16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9" name="CuadroTexto 38"/>
            <p:cNvSpPr txBox="1"/>
            <p:nvPr/>
          </p:nvSpPr>
          <p:spPr>
            <a:xfrm>
              <a:off x="9737501" y="4931801"/>
              <a:ext cx="1679799" cy="584775"/>
            </a:xfrm>
            <a:prstGeom prst="rect">
              <a:avLst/>
            </a:prstGeom>
            <a:noFill/>
          </p:spPr>
          <p:txBody>
            <a:bodyPr wrap="square">
              <a:spAutoFit/>
            </a:bodyPr>
            <a:lstStyle/>
            <a:p>
              <a:pPr algn="ctr"/>
              <a:r>
                <a:rPr lang="es-MX" sz="16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El sistema realiza trabajo</a:t>
              </a:r>
              <a:endParaRPr lang="es-CO" sz="16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pSp>
      <p:sp>
        <p:nvSpPr>
          <p:cNvPr id="6" name="Rectángulo 5"/>
          <p:cNvSpPr/>
          <p:nvPr/>
        </p:nvSpPr>
        <p:spPr>
          <a:xfrm>
            <a:off x="6376339" y="1252451"/>
            <a:ext cx="5025543" cy="369332"/>
          </a:xfrm>
          <a:prstGeom prst="rect">
            <a:avLst/>
          </a:prstGeom>
        </p:spPr>
        <p:txBody>
          <a:bodyPr wrap="none">
            <a:spAutoFit/>
          </a:bodyPr>
          <a:lstStyle/>
          <a:p>
            <a:r>
              <a:rPr lang="es-CO" dirty="0">
                <a:hlinkClick r:id="rId10"/>
              </a:rPr>
              <a:t>https://</a:t>
            </a:r>
            <a:r>
              <a:rPr lang="es-CO" dirty="0" smtClean="0">
                <a:hlinkClick r:id="rId10"/>
              </a:rPr>
              <a:t>www.youtube.com/watch?v=nGcc7C8YUbg</a:t>
            </a:r>
            <a:r>
              <a:rPr lang="es-CO" dirty="0" smtClean="0"/>
              <a:t> </a:t>
            </a:r>
            <a:endParaRPr lang="es-CO"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38</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Primera ley de la termodinámica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Rectángulo 4"/>
          <p:cNvSpPr/>
          <p:nvPr/>
        </p:nvSpPr>
        <p:spPr>
          <a:xfrm>
            <a:off x="348337" y="1259287"/>
            <a:ext cx="6789881"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Trabajo realizado al cambiar el volumen</a:t>
            </a:r>
            <a:endParaRPr lang="es-MX" dirty="0">
              <a:latin typeface="Arial" panose="020B0604020202020204" pitchFamily="34" charset="0"/>
              <a:cs typeface="Arial" panose="020B0604020202020204" pitchFamily="34" charset="0"/>
            </a:endParaRPr>
          </a:p>
        </p:txBody>
      </p:sp>
      <p:pic>
        <p:nvPicPr>
          <p:cNvPr id="11" name="Imagen 10"/>
          <p:cNvPicPr>
            <a:picLocks noChangeAspect="1"/>
          </p:cNvPicPr>
          <p:nvPr/>
        </p:nvPicPr>
        <p:blipFill>
          <a:blip r:embed="rId2"/>
          <a:stretch>
            <a:fillRect/>
          </a:stretch>
        </p:blipFill>
        <p:spPr>
          <a:xfrm>
            <a:off x="335637" y="1804079"/>
            <a:ext cx="5400000" cy="2767922"/>
          </a:xfrm>
          <a:prstGeom prst="rect">
            <a:avLst/>
          </a:prstGeom>
        </p:spPr>
      </p:pic>
      <p:pic>
        <p:nvPicPr>
          <p:cNvPr id="13" name="Imagen 12"/>
          <p:cNvPicPr>
            <a:picLocks noChangeAspect="1"/>
          </p:cNvPicPr>
          <p:nvPr/>
        </p:nvPicPr>
        <p:blipFill>
          <a:blip r:embed="rId3"/>
          <a:stretch>
            <a:fillRect/>
          </a:stretch>
        </p:blipFill>
        <p:spPr>
          <a:xfrm>
            <a:off x="6219390" y="1844062"/>
            <a:ext cx="5400000" cy="2778739"/>
          </a:xfrm>
          <a:prstGeom prst="rect">
            <a:avLst/>
          </a:prstGeom>
        </p:spPr>
      </p:pic>
      <p:cxnSp>
        <p:nvCxnSpPr>
          <p:cNvPr id="14" name="Conector recto 13"/>
          <p:cNvCxnSpPr/>
          <p:nvPr/>
        </p:nvCxnSpPr>
        <p:spPr>
          <a:xfrm>
            <a:off x="5944099" y="2099508"/>
            <a:ext cx="0" cy="258664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CuadroTexto 14"/>
              <p:cNvSpPr txBox="1"/>
              <p:nvPr/>
            </p:nvSpPr>
            <p:spPr>
              <a:xfrm>
                <a:off x="4616378" y="4920203"/>
                <a:ext cx="2354619" cy="12626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rPr>
                        <m:t>𝑊</m:t>
                      </m:r>
                      <m:r>
                        <a:rPr lang="es-MX" sz="2800" b="0" i="1" smtClean="0">
                          <a:effectLst>
                            <a:outerShdw blurRad="38100" dist="38100" dir="2700000" algn="tl">
                              <a:srgbClr val="000000">
                                <a:alpha val="43137"/>
                              </a:srgbClr>
                            </a:outerShdw>
                          </a:effectLst>
                          <a:latin typeface="Cambria Math" panose="02040503050406030204" pitchFamily="18" charset="0"/>
                        </a:rPr>
                        <m:t>=</m:t>
                      </m:r>
                      <m:nary>
                        <m:naryPr>
                          <m:chr m:val="∑"/>
                          <m:ctrlPr>
                            <a:rPr lang="es-MX" sz="2800" b="0" i="1" smtClean="0">
                              <a:effectLst>
                                <a:outerShdw blurRad="38100" dist="38100" dir="2700000" algn="tl">
                                  <a:srgbClr val="000000">
                                    <a:alpha val="43137"/>
                                  </a:srgbClr>
                                </a:outerShdw>
                              </a:effectLst>
                              <a:latin typeface="Cambria Math" panose="02040503050406030204" pitchFamily="18" charset="0"/>
                            </a:rPr>
                          </m:ctrlPr>
                        </m:naryPr>
                        <m:sub>
                          <m:sSub>
                            <m:sSubPr>
                              <m:ctrlPr>
                                <a:rPr lang="es-MX" sz="2800" b="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𝑉</m:t>
                              </m:r>
                            </m:e>
                            <m:sub>
                              <m:r>
                                <a:rPr lang="es-MX" sz="2800" b="0" i="1" smtClean="0">
                                  <a:effectLst>
                                    <a:outerShdw blurRad="38100" dist="38100" dir="2700000" algn="tl">
                                      <a:srgbClr val="000000">
                                        <a:alpha val="43137"/>
                                      </a:srgbClr>
                                    </a:outerShdw>
                                  </a:effectLst>
                                  <a:latin typeface="Cambria Math" panose="02040503050406030204" pitchFamily="18" charset="0"/>
                                </a:rPr>
                                <m:t>1</m:t>
                              </m:r>
                            </m:sub>
                          </m:sSub>
                        </m:sub>
                        <m:sup>
                          <m:sSub>
                            <m:sSubPr>
                              <m:ctrlPr>
                                <a:rPr lang="es-MX" sz="2800" b="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𝑉</m:t>
                              </m:r>
                            </m:e>
                            <m:sub>
                              <m:r>
                                <a:rPr lang="es-MX" sz="2800" b="0" i="1" smtClean="0">
                                  <a:effectLst>
                                    <a:outerShdw blurRad="38100" dist="38100" dir="2700000" algn="tl">
                                      <a:srgbClr val="000000">
                                        <a:alpha val="43137"/>
                                      </a:srgbClr>
                                    </a:outerShdw>
                                  </a:effectLst>
                                  <a:latin typeface="Cambria Math" panose="02040503050406030204" pitchFamily="18" charset="0"/>
                                </a:rPr>
                                <m:t>2</m:t>
                              </m:r>
                            </m:sub>
                          </m:sSub>
                        </m:sup>
                        <m:e>
                          <m:r>
                            <a:rPr lang="es-MX" sz="2800" b="0" i="1" smtClean="0">
                              <a:effectLst>
                                <a:outerShdw blurRad="38100" dist="38100" dir="2700000" algn="tl">
                                  <a:srgbClr val="000000">
                                    <a:alpha val="43137"/>
                                  </a:srgbClr>
                                </a:outerShdw>
                              </a:effectLst>
                              <a:latin typeface="Cambria Math" panose="02040503050406030204" pitchFamily="18" charset="0"/>
                            </a:rPr>
                            <m:t>𝑝</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𝑉</m:t>
                          </m:r>
                        </m:e>
                      </m:nary>
                    </m:oMath>
                  </m:oMathPara>
                </a14:m>
                <a:endParaRPr lang="es-CO" sz="2800" dirty="0">
                  <a:effectLst>
                    <a:outerShdw blurRad="38100" dist="38100" dir="2700000" algn="tl">
                      <a:srgbClr val="000000">
                        <a:alpha val="43137"/>
                      </a:srgbClr>
                    </a:outerShdw>
                  </a:effectLst>
                </a:endParaRPr>
              </a:p>
            </p:txBody>
          </p:sp>
        </mc:Choice>
        <mc:Fallback xmlns="">
          <p:sp>
            <p:nvSpPr>
              <p:cNvPr id="15" name="CuadroTexto 14"/>
              <p:cNvSpPr txBox="1">
                <a:spLocks noRot="1" noChangeAspect="1" noMove="1" noResize="1" noEditPoints="1" noAdjustHandles="1" noChangeArrowheads="1" noChangeShapeType="1" noTextEdit="1"/>
              </p:cNvSpPr>
              <p:nvPr/>
            </p:nvSpPr>
            <p:spPr>
              <a:xfrm>
                <a:off x="4616378" y="4920203"/>
                <a:ext cx="2354619" cy="1262653"/>
              </a:xfrm>
              <a:prstGeom prst="rect">
                <a:avLst/>
              </a:prstGeom>
              <a:blipFill rotWithShape="1">
                <a:blip r:embed="rId4"/>
                <a:stretch>
                  <a:fillRect l="-24" t="-18" r="-433" b="-4286"/>
                </a:stretch>
              </a:blipFill>
            </p:spPr>
            <p:txBody>
              <a:bodyPr/>
              <a:lstStyle/>
              <a:p>
                <a:r>
                  <a:rPr lang="es-ES" altLang="en-US">
                    <a:noFill/>
                  </a:rPr>
                  <a:t> </a:t>
                </a:r>
              </a:p>
            </p:txBody>
          </p:sp>
        </mc:Fallback>
      </mc:AlternateContent>
      <p:sp>
        <p:nvSpPr>
          <p:cNvPr id="17" name="CuadroTexto 16"/>
          <p:cNvSpPr txBox="1"/>
          <p:nvPr/>
        </p:nvSpPr>
        <p:spPr>
          <a:xfrm>
            <a:off x="8057298" y="5282031"/>
            <a:ext cx="3562092" cy="646331"/>
          </a:xfrm>
          <a:prstGeom prst="rect">
            <a:avLst/>
          </a:prstGeom>
          <a:noFill/>
        </p:spPr>
        <p:txBody>
          <a:bodyPr wrap="square">
            <a:spAutoFit/>
          </a:bodyPr>
          <a:lstStyle/>
          <a:p>
            <a:pPr algn="just"/>
            <a:r>
              <a:rPr lang="es-MX" b="1" dirty="0">
                <a:effectLst>
                  <a:outerShdw blurRad="38100" dist="38100" dir="2700000" algn="tl">
                    <a:srgbClr val="000000">
                      <a:alpha val="43137"/>
                    </a:srgbClr>
                  </a:outerShdw>
                </a:effectLst>
              </a:rPr>
              <a:t>(trabajo efectuado en un cambio de volumen)</a:t>
            </a:r>
            <a:endParaRPr lang="es-CO" b="1" dirty="0">
              <a:effectLst>
                <a:outerShdw blurRad="38100" dist="38100" dir="2700000" algn="tl">
                  <a:srgbClr val="000000">
                    <a:alpha val="43137"/>
                  </a:srgbClr>
                </a:outerShdw>
              </a:effectLst>
            </a:endParaRPr>
          </a:p>
        </p:txBody>
      </p:sp>
      <p:pic>
        <p:nvPicPr>
          <p:cNvPr id="19" name="Imagen 18"/>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921864" y="4783238"/>
            <a:ext cx="3237314" cy="1827689"/>
          </a:xfrm>
          <a:prstGeom prst="rect">
            <a:avLst/>
          </a:prstGeom>
        </p:spPr>
      </p:pic>
      <p:cxnSp>
        <p:nvCxnSpPr>
          <p:cNvPr id="20" name="Conector recto 19"/>
          <p:cNvCxnSpPr/>
          <p:nvPr/>
        </p:nvCxnSpPr>
        <p:spPr>
          <a:xfrm flipH="1">
            <a:off x="389171" y="4675530"/>
            <a:ext cx="1123132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39</a:t>
            </a:fld>
            <a:endParaRPr lang="es-CO" dirty="0"/>
          </a:p>
        </p:txBody>
      </p:sp>
      <p:sp>
        <p:nvSpPr>
          <p:cNvPr id="4" name="CuadroTexto 3"/>
          <p:cNvSpPr txBox="1"/>
          <p:nvPr/>
        </p:nvSpPr>
        <p:spPr>
          <a:xfrm>
            <a:off x="348338" y="674512"/>
            <a:ext cx="844170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Primera ley de la termodinámica</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Rectángulo 4"/>
          <p:cNvSpPr/>
          <p:nvPr/>
        </p:nvSpPr>
        <p:spPr>
          <a:xfrm>
            <a:off x="348337" y="1259287"/>
            <a:ext cx="6789881"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Trabajo realizado al cambiar el volumen</a:t>
            </a:r>
            <a:endParaRPr lang="es-MX" dirty="0">
              <a:latin typeface="Arial" panose="020B0604020202020204" pitchFamily="34" charset="0"/>
              <a:cs typeface="Arial" panose="020B0604020202020204" pitchFamily="34" charset="0"/>
            </a:endParaRPr>
          </a:p>
        </p:txBody>
      </p:sp>
      <p:grpSp>
        <p:nvGrpSpPr>
          <p:cNvPr id="12" name="Grupo 11"/>
          <p:cNvGrpSpPr/>
          <p:nvPr/>
        </p:nvGrpSpPr>
        <p:grpSpPr>
          <a:xfrm>
            <a:off x="348336" y="1829236"/>
            <a:ext cx="11187521" cy="4314890"/>
            <a:chOff x="348336" y="1829236"/>
            <a:chExt cx="11187521" cy="4314890"/>
          </a:xfrm>
        </p:grpSpPr>
        <p:pic>
          <p:nvPicPr>
            <p:cNvPr id="7" name="Imagen 6"/>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sharpenSoften amount="25000"/>
                      </a14:imgEffect>
                    </a14:imgLayer>
                  </a14:imgProps>
                </a:ext>
              </a:extLst>
            </a:blip>
            <a:stretch>
              <a:fillRect/>
            </a:stretch>
          </p:blipFill>
          <p:spPr>
            <a:xfrm>
              <a:off x="348336" y="1829236"/>
              <a:ext cx="11187521" cy="4314890"/>
            </a:xfrm>
            <a:prstGeom prst="rect">
              <a:avLst/>
            </a:prstGeom>
          </p:spPr>
        </p:pic>
        <p:pic>
          <p:nvPicPr>
            <p:cNvPr id="8" name="Imagen 7"/>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sharpenSoften amount="25000"/>
                      </a14:imgEffect>
                    </a14:imgLayer>
                  </a14:imgProps>
                </a:ext>
              </a:extLst>
            </a:blip>
            <a:srcRect l="79464" t="52969" r="8183" b="36603"/>
            <a:stretch>
              <a:fillRect/>
            </a:stretch>
          </p:blipFill>
          <p:spPr>
            <a:xfrm>
              <a:off x="9173029" y="4499429"/>
              <a:ext cx="1625600" cy="667657"/>
            </a:xfrm>
            <a:prstGeom prst="rect">
              <a:avLst/>
            </a:prstGeom>
          </p:spPr>
        </p:pic>
        <p:pic>
          <p:nvPicPr>
            <p:cNvPr id="9" name="Imagen 8"/>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sharpenSoften amount="25000"/>
                      </a14:imgEffect>
                    </a14:imgLayer>
                  </a14:imgProps>
                </a:ext>
              </a:extLst>
            </a:blip>
            <a:srcRect l="79464" t="52969" r="8183" b="36603"/>
            <a:stretch>
              <a:fillRect/>
            </a:stretch>
          </p:blipFill>
          <p:spPr>
            <a:xfrm>
              <a:off x="5212001" y="4695371"/>
              <a:ext cx="1625600" cy="903341"/>
            </a:xfrm>
            <a:prstGeom prst="rect">
              <a:avLst/>
            </a:prstGeom>
          </p:spPr>
        </p:pic>
        <p:pic>
          <p:nvPicPr>
            <p:cNvPr id="10" name="Imagen 9"/>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Effect>
                        <a14:sharpenSoften amount="25000"/>
                      </a14:imgEffect>
                    </a14:imgLayer>
                  </a14:imgProps>
                </a:ext>
              </a:extLst>
            </a:blip>
            <a:srcRect l="79464" t="52969" r="8183" b="36603"/>
            <a:stretch>
              <a:fillRect/>
            </a:stretch>
          </p:blipFill>
          <p:spPr>
            <a:xfrm>
              <a:off x="1280001" y="4680856"/>
              <a:ext cx="1625600" cy="903341"/>
            </a:xfrm>
            <a:prstGeom prst="rect">
              <a:avLst/>
            </a:prstGeom>
          </p:spPr>
        </p:pic>
      </p:grpSp>
      <mc:AlternateContent xmlns:mc="http://schemas.openxmlformats.org/markup-compatibility/2006" xmlns:a14="http://schemas.microsoft.com/office/drawing/2010/main">
        <mc:Choice Requires="a14">
          <p:sp>
            <p:nvSpPr>
              <p:cNvPr id="16" name="CuadroTexto 15"/>
              <p:cNvSpPr txBox="1"/>
              <p:nvPr/>
            </p:nvSpPr>
            <p:spPr>
              <a:xfrm>
                <a:off x="1294749" y="4865522"/>
                <a:ext cx="1625600" cy="646331"/>
              </a:xfrm>
              <a:prstGeom prst="rect">
                <a:avLst/>
              </a:prstGeom>
              <a:noFill/>
            </p:spPr>
            <p:txBody>
              <a:bodyPr wrap="square" rtlCol="0">
                <a:spAutoFit/>
              </a:bodyPr>
              <a:lstStyle/>
              <a:p>
                <a:r>
                  <a:rPr lang="es-MX" b="1" dirty="0">
                    <a:effectLst>
                      <a:outerShdw blurRad="38100" dist="38100" dir="2700000" algn="tl">
                        <a:srgbClr val="000000">
                          <a:alpha val="43137"/>
                        </a:srgbClr>
                      </a:outerShdw>
                    </a:effectLst>
                  </a:rPr>
                  <a:t>Trabajo = Área</a:t>
                </a:r>
              </a:p>
              <a:p>
                <a:pPr/>
                <a14:m>
                  <m:oMathPara xmlns:m="http://schemas.openxmlformats.org/officeDocument/2006/math">
                    <m:oMathParaPr>
                      <m:jc m:val="centerGroup"/>
                    </m:oMathParaPr>
                    <m:oMath xmlns:m="http://schemas.openxmlformats.org/officeDocument/2006/math">
                      <m:r>
                        <a:rPr lang="es-MX" b="1" i="1" smtClean="0">
                          <a:effectLst>
                            <a:outerShdw blurRad="38100" dist="38100" dir="2700000" algn="tl">
                              <a:srgbClr val="000000">
                                <a:alpha val="43137"/>
                              </a:srgbClr>
                            </a:outerShdw>
                          </a:effectLst>
                          <a:latin typeface="Cambria Math" panose="02040503050406030204" pitchFamily="18" charset="0"/>
                        </a:rPr>
                        <m:t>𝑾</m:t>
                      </m:r>
                      <m:r>
                        <a:rPr lang="es-MX" b="1" i="1" smtClean="0">
                          <a:effectLst>
                            <a:outerShdw blurRad="38100" dist="38100" dir="2700000" algn="tl">
                              <a:srgbClr val="000000">
                                <a:alpha val="43137"/>
                              </a:srgbClr>
                            </a:outerShdw>
                          </a:effectLst>
                          <a:latin typeface="Cambria Math" panose="02040503050406030204" pitchFamily="18" charset="0"/>
                        </a:rPr>
                        <m:t>&gt;</m:t>
                      </m:r>
                      <m:r>
                        <a:rPr lang="es-MX" b="1" i="1" smtClean="0">
                          <a:effectLst>
                            <a:outerShdw blurRad="38100" dist="38100" dir="2700000" algn="tl">
                              <a:srgbClr val="000000">
                                <a:alpha val="43137"/>
                              </a:srgbClr>
                            </a:outerShdw>
                          </a:effectLst>
                          <a:latin typeface="Cambria Math" panose="02040503050406030204" pitchFamily="18" charset="0"/>
                        </a:rPr>
                        <m:t>𝟎</m:t>
                      </m:r>
                    </m:oMath>
                  </m:oMathPara>
                </a14:m>
                <a:endParaRPr lang="es-CO" b="1" dirty="0">
                  <a:effectLst>
                    <a:outerShdw blurRad="38100" dist="38100" dir="2700000" algn="tl">
                      <a:srgbClr val="000000">
                        <a:alpha val="43137"/>
                      </a:srgbClr>
                    </a:outerShdw>
                  </a:effectLst>
                </a:endParaRPr>
              </a:p>
            </p:txBody>
          </p:sp>
        </mc:Choice>
        <mc:Fallback xmlns="">
          <p:sp>
            <p:nvSpPr>
              <p:cNvPr id="16" name="CuadroTexto 15"/>
              <p:cNvSpPr txBox="1">
                <a:spLocks noRot="1" noChangeAspect="1" noMove="1" noResize="1" noEditPoints="1" noAdjustHandles="1" noChangeArrowheads="1" noChangeShapeType="1" noTextEdit="1"/>
              </p:cNvSpPr>
              <p:nvPr/>
            </p:nvSpPr>
            <p:spPr>
              <a:xfrm>
                <a:off x="1294749" y="4865522"/>
                <a:ext cx="1625600" cy="646331"/>
              </a:xfrm>
              <a:prstGeom prst="rect">
                <a:avLst/>
              </a:prstGeom>
              <a:blipFill rotWithShape="1">
                <a:blip r:embed="rId4"/>
                <a:stretch>
                  <a:fillRect l="-38" t="-24" r="38" b="8"/>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8" name="CuadroTexto 17"/>
              <p:cNvSpPr txBox="1"/>
              <p:nvPr/>
            </p:nvSpPr>
            <p:spPr>
              <a:xfrm>
                <a:off x="5212001" y="4865522"/>
                <a:ext cx="1625600" cy="646331"/>
              </a:xfrm>
              <a:prstGeom prst="rect">
                <a:avLst/>
              </a:prstGeom>
              <a:noFill/>
            </p:spPr>
            <p:txBody>
              <a:bodyPr wrap="square" rtlCol="0">
                <a:spAutoFit/>
              </a:bodyPr>
              <a:lstStyle/>
              <a:p>
                <a:r>
                  <a:rPr lang="es-MX" b="1" dirty="0">
                    <a:effectLst>
                      <a:outerShdw blurRad="38100" dist="38100" dir="2700000" algn="tl">
                        <a:srgbClr val="000000">
                          <a:alpha val="43137"/>
                        </a:srgbClr>
                      </a:outerShdw>
                    </a:effectLst>
                  </a:rPr>
                  <a:t>Trabajo = Área</a:t>
                </a:r>
              </a:p>
              <a:p>
                <a:pPr/>
                <a14:m>
                  <m:oMathPara xmlns:m="http://schemas.openxmlformats.org/officeDocument/2006/math">
                    <m:oMathParaPr>
                      <m:jc m:val="centerGroup"/>
                    </m:oMathParaPr>
                    <m:oMath xmlns:m="http://schemas.openxmlformats.org/officeDocument/2006/math">
                      <m:r>
                        <a:rPr lang="es-MX" b="1" i="1" smtClean="0">
                          <a:effectLst>
                            <a:outerShdw blurRad="38100" dist="38100" dir="2700000" algn="tl">
                              <a:srgbClr val="000000">
                                <a:alpha val="43137"/>
                              </a:srgbClr>
                            </a:outerShdw>
                          </a:effectLst>
                          <a:latin typeface="Cambria Math" panose="02040503050406030204" pitchFamily="18" charset="0"/>
                        </a:rPr>
                        <m:t>𝑾</m:t>
                      </m:r>
                      <m:r>
                        <a:rPr lang="es-MX" b="1" i="1" smtClean="0">
                          <a:effectLst>
                            <a:outerShdw blurRad="38100" dist="38100" dir="2700000" algn="tl">
                              <a:srgbClr val="000000">
                                <a:alpha val="43137"/>
                              </a:srgbClr>
                            </a:outerShdw>
                          </a:effectLst>
                          <a:latin typeface="Cambria Math" panose="02040503050406030204" pitchFamily="18" charset="0"/>
                        </a:rPr>
                        <m:t>&lt;</m:t>
                      </m:r>
                      <m:r>
                        <a:rPr lang="es-MX" b="1" i="1" smtClean="0">
                          <a:effectLst>
                            <a:outerShdw blurRad="38100" dist="38100" dir="2700000" algn="tl">
                              <a:srgbClr val="000000">
                                <a:alpha val="43137"/>
                              </a:srgbClr>
                            </a:outerShdw>
                          </a:effectLst>
                          <a:latin typeface="Cambria Math" panose="02040503050406030204" pitchFamily="18" charset="0"/>
                        </a:rPr>
                        <m:t>𝟎</m:t>
                      </m:r>
                    </m:oMath>
                  </m:oMathPara>
                </a14:m>
                <a:endParaRPr lang="es-CO" b="1" dirty="0">
                  <a:effectLst>
                    <a:outerShdw blurRad="38100" dist="38100" dir="2700000" algn="tl">
                      <a:srgbClr val="000000">
                        <a:alpha val="43137"/>
                      </a:srgbClr>
                    </a:outerShdw>
                  </a:effectLst>
                </a:endParaRPr>
              </a:p>
            </p:txBody>
          </p:sp>
        </mc:Choice>
        <mc:Fallback xmlns="">
          <p:sp>
            <p:nvSpPr>
              <p:cNvPr id="18" name="CuadroTexto 17"/>
              <p:cNvSpPr txBox="1">
                <a:spLocks noRot="1" noChangeAspect="1" noMove="1" noResize="1" noEditPoints="1" noAdjustHandles="1" noChangeArrowheads="1" noChangeShapeType="1" noTextEdit="1"/>
              </p:cNvSpPr>
              <p:nvPr/>
            </p:nvSpPr>
            <p:spPr>
              <a:xfrm>
                <a:off x="5212001" y="4865522"/>
                <a:ext cx="1625600" cy="646331"/>
              </a:xfrm>
              <a:prstGeom prst="rect">
                <a:avLst/>
              </a:prstGeom>
              <a:blipFill rotWithShape="1">
                <a:blip r:embed="rId5"/>
                <a:stretch>
                  <a:fillRect l="-34" t="-24" r="34" b="8"/>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21" name="CuadroTexto 20"/>
              <p:cNvSpPr txBox="1"/>
              <p:nvPr/>
            </p:nvSpPr>
            <p:spPr>
              <a:xfrm>
                <a:off x="9173029" y="4767450"/>
                <a:ext cx="1625600" cy="646331"/>
              </a:xfrm>
              <a:prstGeom prst="rect">
                <a:avLst/>
              </a:prstGeom>
              <a:noFill/>
            </p:spPr>
            <p:txBody>
              <a:bodyPr wrap="square" rtlCol="0">
                <a:spAutoFit/>
              </a:bodyPr>
              <a:lstStyle/>
              <a:p>
                <a:r>
                  <a:rPr lang="es-MX" b="1" dirty="0">
                    <a:effectLst>
                      <a:outerShdw blurRad="38100" dist="38100" dir="2700000" algn="tl">
                        <a:srgbClr val="000000">
                          <a:alpha val="43137"/>
                        </a:srgbClr>
                      </a:outerShdw>
                    </a:effectLst>
                  </a:rPr>
                  <a:t>Trabajo = Área</a:t>
                </a:r>
              </a:p>
              <a:p>
                <a:pPr/>
                <a14:m>
                  <m:oMathPara xmlns:m="http://schemas.openxmlformats.org/officeDocument/2006/math">
                    <m:oMathParaPr>
                      <m:jc m:val="centerGroup"/>
                    </m:oMathParaPr>
                    <m:oMath xmlns:m="http://schemas.openxmlformats.org/officeDocument/2006/math">
                      <m:r>
                        <a:rPr lang="es-MX" b="1" i="1" smtClean="0">
                          <a:effectLst>
                            <a:outerShdw blurRad="38100" dist="38100" dir="2700000" algn="tl">
                              <a:srgbClr val="000000">
                                <a:alpha val="43137"/>
                              </a:srgbClr>
                            </a:outerShdw>
                          </a:effectLst>
                          <a:latin typeface="Cambria Math" panose="02040503050406030204" pitchFamily="18" charset="0"/>
                        </a:rPr>
                        <m:t>𝑾</m:t>
                      </m:r>
                      <m:r>
                        <a:rPr lang="es-MX" b="1" i="1" smtClean="0">
                          <a:effectLst>
                            <a:outerShdw blurRad="38100" dist="38100" dir="2700000" algn="tl">
                              <a:srgbClr val="000000">
                                <a:alpha val="43137"/>
                              </a:srgbClr>
                            </a:outerShdw>
                          </a:effectLst>
                          <a:latin typeface="Cambria Math" panose="02040503050406030204" pitchFamily="18" charset="0"/>
                        </a:rPr>
                        <m:t>&gt;</m:t>
                      </m:r>
                      <m:r>
                        <a:rPr lang="es-MX" b="1" i="1" smtClean="0">
                          <a:effectLst>
                            <a:outerShdw blurRad="38100" dist="38100" dir="2700000" algn="tl">
                              <a:srgbClr val="000000">
                                <a:alpha val="43137"/>
                              </a:srgbClr>
                            </a:outerShdw>
                          </a:effectLst>
                          <a:latin typeface="Cambria Math" panose="02040503050406030204" pitchFamily="18" charset="0"/>
                        </a:rPr>
                        <m:t>𝟎</m:t>
                      </m:r>
                    </m:oMath>
                  </m:oMathPara>
                </a14:m>
                <a:endParaRPr lang="es-CO" b="1" dirty="0">
                  <a:effectLst>
                    <a:outerShdw blurRad="38100" dist="38100" dir="2700000" algn="tl">
                      <a:srgbClr val="000000">
                        <a:alpha val="43137"/>
                      </a:srgbClr>
                    </a:outerShdw>
                  </a:effectLst>
                </a:endParaRPr>
              </a:p>
            </p:txBody>
          </p:sp>
        </mc:Choice>
        <mc:Fallback xmlns="">
          <p:sp>
            <p:nvSpPr>
              <p:cNvPr id="21" name="CuadroTexto 20"/>
              <p:cNvSpPr txBox="1">
                <a:spLocks noRot="1" noChangeAspect="1" noMove="1" noResize="1" noEditPoints="1" noAdjustHandles="1" noChangeArrowheads="1" noChangeShapeType="1" noTextEdit="1"/>
              </p:cNvSpPr>
              <p:nvPr/>
            </p:nvSpPr>
            <p:spPr>
              <a:xfrm>
                <a:off x="9173029" y="4767450"/>
                <a:ext cx="1625600" cy="646331"/>
              </a:xfrm>
              <a:prstGeom prst="rect">
                <a:avLst/>
              </a:prstGeom>
              <a:blipFill rotWithShape="1">
                <a:blip r:embed="rId4"/>
                <a:stretch>
                  <a:fillRect l="-28" t="-78" r="28" b="63"/>
                </a:stretch>
              </a:blipFill>
            </p:spPr>
            <p:txBody>
              <a:bodyPr/>
              <a:lstStyle/>
              <a:p>
                <a:r>
                  <a:rPr lang="es-ES" altLang="en-US">
                    <a:noFill/>
                  </a:rPr>
                  <a:t> </a:t>
                </a:r>
              </a:p>
            </p:txBody>
          </p:sp>
        </mc:Fallback>
      </mc:AlternateContent>
      <p:sp>
        <p:nvSpPr>
          <p:cNvPr id="6" name="CuadroTexto 2"/>
          <p:cNvSpPr txBox="1">
            <a:spLocks noRot="1" noChangeAspect="1" noMove="1" noResize="1" noEditPoints="1" noAdjustHandles="1" noChangeArrowheads="1" noChangeShapeType="1" noTextEdit="1"/>
          </p:cNvSpPr>
          <p:nvPr/>
        </p:nvSpPr>
        <p:spPr>
          <a:xfrm>
            <a:off x="8153191" y="952400"/>
            <a:ext cx="2540952" cy="430887"/>
          </a:xfrm>
          <a:prstGeom prst="rect">
            <a:avLst/>
          </a:prstGeom>
          <a:blipFill rotWithShape="0">
            <a:blip r:embed="rId6"/>
            <a:stretch>
              <a:fillRect/>
            </a:stretch>
          </a:blipFill>
        </p:spPr>
        <p:txBody>
          <a:bodyPr/>
          <a:lstStyle/>
          <a:p>
            <a:pPr marR="0" defTabSz="914400">
              <a:buClrTx/>
              <a:buSzTx/>
              <a:buFontTx/>
              <a:buNone/>
              <a:defRPr/>
            </a:pPr>
            <a:r>
              <a:rPr kumimoji="0" lang="es-ES" kern="1200" cap="none" spc="0" normalizeH="0" baseline="0" noProof="0">
                <a:noFill/>
                <a:latin typeface="Calibri" panose="020F0502020204030204" charset="0"/>
                <a:ea typeface="+mn-ea"/>
                <a:cs typeface="+mn-cs"/>
              </a:rPr>
              <a:t> </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40</a:t>
            </a:fld>
            <a:endParaRPr lang="es-CO" dirty="0"/>
          </a:p>
        </p:txBody>
      </p:sp>
      <p:sp>
        <p:nvSpPr>
          <p:cNvPr id="4" name="CuadroTexto 3"/>
          <p:cNvSpPr txBox="1"/>
          <p:nvPr/>
        </p:nvSpPr>
        <p:spPr>
          <a:xfrm>
            <a:off x="348338" y="674512"/>
            <a:ext cx="10403236"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Trabajo efectuado en un proceso termodinámico</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2"/>
          <a:srcRect t="7766"/>
          <a:stretch>
            <a:fillRect/>
          </a:stretch>
        </p:blipFill>
        <p:spPr>
          <a:xfrm>
            <a:off x="449540" y="3738450"/>
            <a:ext cx="3589060" cy="2747337"/>
          </a:xfrm>
          <a:prstGeom prst="rect">
            <a:avLst/>
          </a:prstGeom>
        </p:spPr>
      </p:pic>
      <p:pic>
        <p:nvPicPr>
          <p:cNvPr id="8" name="Imagen 7"/>
          <p:cNvPicPr>
            <a:picLocks noChangeAspect="1"/>
          </p:cNvPicPr>
          <p:nvPr/>
        </p:nvPicPr>
        <p:blipFill>
          <a:blip r:embed="rId3"/>
          <a:srcRect t="6061"/>
          <a:stretch>
            <a:fillRect/>
          </a:stretch>
        </p:blipFill>
        <p:spPr>
          <a:xfrm>
            <a:off x="4271787" y="3860717"/>
            <a:ext cx="3704637" cy="2580826"/>
          </a:xfrm>
          <a:prstGeom prst="rect">
            <a:avLst/>
          </a:prstGeom>
        </p:spPr>
      </p:pic>
      <p:pic>
        <p:nvPicPr>
          <p:cNvPr id="10" name="Imagen 9"/>
          <p:cNvPicPr>
            <a:picLocks noChangeAspect="1"/>
          </p:cNvPicPr>
          <p:nvPr/>
        </p:nvPicPr>
        <p:blipFill>
          <a:blip r:embed="rId4"/>
          <a:srcRect t="12327"/>
          <a:stretch>
            <a:fillRect/>
          </a:stretch>
        </p:blipFill>
        <p:spPr>
          <a:xfrm>
            <a:off x="8094408" y="1153608"/>
            <a:ext cx="3717353" cy="2580826"/>
          </a:xfrm>
          <a:prstGeom prst="rect">
            <a:avLst/>
          </a:prstGeom>
        </p:spPr>
      </p:pic>
      <p:pic>
        <p:nvPicPr>
          <p:cNvPr id="12" name="Imagen 11"/>
          <p:cNvPicPr>
            <a:picLocks noChangeAspect="1"/>
          </p:cNvPicPr>
          <p:nvPr/>
        </p:nvPicPr>
        <p:blipFill>
          <a:blip r:embed="rId5"/>
          <a:srcRect t="15156"/>
          <a:stretch>
            <a:fillRect/>
          </a:stretch>
        </p:blipFill>
        <p:spPr>
          <a:xfrm>
            <a:off x="8094408" y="4100698"/>
            <a:ext cx="3796634" cy="2346502"/>
          </a:xfrm>
          <a:prstGeom prst="rect">
            <a:avLst/>
          </a:prstGeom>
        </p:spPr>
      </p:pic>
      <p:sp>
        <p:nvSpPr>
          <p:cNvPr id="14" name="CuadroTexto 13"/>
          <p:cNvSpPr txBox="1"/>
          <p:nvPr/>
        </p:nvSpPr>
        <p:spPr>
          <a:xfrm>
            <a:off x="449540" y="1869208"/>
            <a:ext cx="7278615" cy="1200329"/>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El trabajo efectuado por el sistema durante una transición entre dos estados depende de la trayectoria recorrida</a:t>
            </a:r>
            <a:r>
              <a:rPr lang="es-MX" sz="1800" b="0" i="0" u="none" strike="noStrike" baseline="0" dirty="0">
                <a:latin typeface="Times-Roman"/>
              </a:rPr>
              <a:t>.</a:t>
            </a:r>
            <a:endParaRPr lang="es-CO" dirty="0"/>
          </a:p>
        </p:txBody>
      </p:sp>
      <p:cxnSp>
        <p:nvCxnSpPr>
          <p:cNvPr id="15" name="Conector recto 14"/>
          <p:cNvCxnSpPr/>
          <p:nvPr/>
        </p:nvCxnSpPr>
        <p:spPr>
          <a:xfrm>
            <a:off x="8065410" y="1616603"/>
            <a:ext cx="0" cy="50406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a:xfrm rot="5400000">
            <a:off x="5970809" y="-1681285"/>
            <a:ext cx="0" cy="1080505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41</a:t>
            </a:fld>
            <a:endParaRPr lang="es-CO" dirty="0"/>
          </a:p>
        </p:txBody>
      </p:sp>
      <p:sp>
        <p:nvSpPr>
          <p:cNvPr id="6" name="CuadroTexto 5"/>
          <p:cNvSpPr txBox="1"/>
          <p:nvPr/>
        </p:nvSpPr>
        <p:spPr>
          <a:xfrm>
            <a:off x="348337" y="674512"/>
            <a:ext cx="11361881"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Energía interna y la primera ley de la termodinámica</a:t>
            </a:r>
          </a:p>
        </p:txBody>
      </p:sp>
      <p:sp>
        <p:nvSpPr>
          <p:cNvPr id="8" name="CuadroTexto 7"/>
          <p:cNvSpPr txBox="1"/>
          <p:nvPr/>
        </p:nvSpPr>
        <p:spPr>
          <a:xfrm>
            <a:off x="348337" y="1171961"/>
            <a:ext cx="11361880" cy="1200329"/>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Definimos tentativamente la energía interna de un sistema como la suma de las energías cinéticas de todas sus partículas constituyentes, más la suma de todas las energías potenciales de interacción entre ellas.</a:t>
            </a:r>
            <a:endParaRPr lang="es-CO"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CuadroTexto 8"/>
              <p:cNvSpPr txBox="1"/>
              <p:nvPr/>
            </p:nvSpPr>
            <p:spPr>
              <a:xfrm>
                <a:off x="4732737" y="2490390"/>
                <a:ext cx="205133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𝑈</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𝑄</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𝑊</m:t>
                      </m:r>
                    </m:oMath>
                  </m:oMathPara>
                </a14:m>
                <a:endParaRPr lang="es-CO" sz="2800" dirty="0">
                  <a:effectLst>
                    <a:outerShdw blurRad="38100" dist="38100" dir="2700000" algn="tl">
                      <a:srgbClr val="000000">
                        <a:alpha val="43137"/>
                      </a:srgbClr>
                    </a:outerShdw>
                  </a:effectLst>
                </a:endParaRPr>
              </a:p>
            </p:txBody>
          </p:sp>
        </mc:Choice>
        <mc:Fallback xmlns="">
          <p:sp>
            <p:nvSpPr>
              <p:cNvPr id="9" name="CuadroTexto 8"/>
              <p:cNvSpPr txBox="1">
                <a:spLocks noRot="1" noChangeAspect="1" noMove="1" noResize="1" noEditPoints="1" noAdjustHandles="1" noChangeArrowheads="1" noChangeShapeType="1" noTextEdit="1"/>
              </p:cNvSpPr>
              <p:nvPr/>
            </p:nvSpPr>
            <p:spPr>
              <a:xfrm>
                <a:off x="4732737" y="2490390"/>
                <a:ext cx="2051331" cy="430887"/>
              </a:xfrm>
              <a:prstGeom prst="rect">
                <a:avLst/>
              </a:prstGeom>
              <a:blipFill rotWithShape="1">
                <a:blip r:embed="rId2"/>
                <a:stretch>
                  <a:fillRect l="-4" t="-129" r="-880" b="64"/>
                </a:stretch>
              </a:blipFill>
            </p:spPr>
            <p:txBody>
              <a:bodyPr/>
              <a:lstStyle/>
              <a:p>
                <a:r>
                  <a:rPr lang="es-ES" altLang="en-US">
                    <a:noFill/>
                  </a:rPr>
                  <a:t> </a:t>
                </a:r>
              </a:p>
            </p:txBody>
          </p:sp>
        </mc:Fallback>
      </mc:AlternateContent>
      <p:sp>
        <p:nvSpPr>
          <p:cNvPr id="10" name="CuadroTexto 9"/>
          <p:cNvSpPr txBox="1"/>
          <p:nvPr/>
        </p:nvSpPr>
        <p:spPr>
          <a:xfrm>
            <a:off x="8153400" y="2507701"/>
            <a:ext cx="3562092" cy="369332"/>
          </a:xfrm>
          <a:prstGeom prst="rect">
            <a:avLst/>
          </a:prstGeom>
          <a:noFill/>
        </p:spPr>
        <p:txBody>
          <a:bodyPr wrap="square">
            <a:spAutoFit/>
          </a:bodyPr>
          <a:lstStyle/>
          <a:p>
            <a:pPr algn="just"/>
            <a:r>
              <a:rPr lang="es-MX" b="1" dirty="0">
                <a:effectLst>
                  <a:outerShdw blurRad="38100" dist="38100" dir="2700000" algn="tl">
                    <a:srgbClr val="000000">
                      <a:alpha val="43137"/>
                    </a:srgbClr>
                  </a:outerShdw>
                </a:effectLst>
              </a:rPr>
              <a:t>Primera ley de la termodinámica</a:t>
            </a:r>
            <a:endParaRPr lang="es-CO" b="1" dirty="0">
              <a:effectLst>
                <a:outerShdw blurRad="38100" dist="38100" dir="2700000" algn="tl">
                  <a:srgbClr val="000000">
                    <a:alpha val="43137"/>
                  </a:srgbClr>
                </a:outerShdw>
              </a:effectLst>
            </a:endParaRPr>
          </a:p>
        </p:txBody>
      </p:sp>
      <p:cxnSp>
        <p:nvCxnSpPr>
          <p:cNvPr id="12" name="Conector recto de flecha 11"/>
          <p:cNvCxnSpPr/>
          <p:nvPr/>
        </p:nvCxnSpPr>
        <p:spPr>
          <a:xfrm>
            <a:off x="7119965" y="2720581"/>
            <a:ext cx="8824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CuadroTexto 13"/>
          <p:cNvSpPr txBox="1"/>
          <p:nvPr/>
        </p:nvSpPr>
        <p:spPr>
          <a:xfrm>
            <a:off x="348338" y="2961669"/>
            <a:ext cx="11361879" cy="1200329"/>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El cambio de energía interna de un sistema durante un proceso termodinámico depende sólo de los estados inicial y final, no de la trayectoria que lleva de uno al otro. </a:t>
            </a:r>
            <a:endParaRPr lang="es-CO" sz="2400" dirty="0">
              <a:latin typeface="Arial" panose="020B0604020202020204" pitchFamily="34" charset="0"/>
              <a:cs typeface="Arial" panose="020B0604020202020204" pitchFamily="34" charset="0"/>
            </a:endParaRPr>
          </a:p>
        </p:txBody>
      </p:sp>
      <p:sp>
        <p:nvSpPr>
          <p:cNvPr id="15" name="CuadroTexto 14"/>
          <p:cNvSpPr txBox="1"/>
          <p:nvPr/>
        </p:nvSpPr>
        <p:spPr>
          <a:xfrm>
            <a:off x="348339" y="4158030"/>
            <a:ext cx="8780914" cy="2308324"/>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13.</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La gráfica </a:t>
            </a:r>
            <a:r>
              <a:rPr lang="es-MX" sz="2400" dirty="0" err="1">
                <a:latin typeface="Arial" panose="020B0604020202020204" pitchFamily="34" charset="0"/>
                <a:cs typeface="Arial" panose="020B0604020202020204" pitchFamily="34" charset="0"/>
              </a:rPr>
              <a:t>pV</a:t>
            </a:r>
            <a:r>
              <a:rPr lang="es-MX" sz="2400" dirty="0">
                <a:latin typeface="Arial" panose="020B0604020202020204" pitchFamily="34" charset="0"/>
                <a:cs typeface="Arial" panose="020B0604020202020204" pitchFamily="34" charset="0"/>
              </a:rPr>
              <a:t> de la figura muestra una serie de procesos termodinámicos. En el proceso ab, se agregan 150 J de calor al sistema; en el proceso </a:t>
            </a:r>
            <a:r>
              <a:rPr lang="es-MX" sz="2400" dirty="0" err="1">
                <a:latin typeface="Arial" panose="020B0604020202020204" pitchFamily="34" charset="0"/>
                <a:cs typeface="Arial" panose="020B0604020202020204" pitchFamily="34" charset="0"/>
              </a:rPr>
              <a:t>bd</a:t>
            </a:r>
            <a:r>
              <a:rPr lang="es-MX" sz="2400" dirty="0">
                <a:latin typeface="Arial" panose="020B0604020202020204" pitchFamily="34" charset="0"/>
                <a:cs typeface="Arial" panose="020B0604020202020204" pitchFamily="34" charset="0"/>
              </a:rPr>
              <a:t>, se agregan 600 J. Calcule a) el cambio de energía interna en el proceso ab; b) el cambio de energía interna en el proceso </a:t>
            </a:r>
            <a:r>
              <a:rPr lang="es-MX" sz="2400" dirty="0" err="1">
                <a:latin typeface="Arial" panose="020B0604020202020204" pitchFamily="34" charset="0"/>
                <a:cs typeface="Arial" panose="020B0604020202020204" pitchFamily="34" charset="0"/>
              </a:rPr>
              <a:t>abd</a:t>
            </a:r>
            <a:r>
              <a:rPr lang="es-MX" sz="2400" dirty="0">
                <a:latin typeface="Arial" panose="020B0604020202020204" pitchFamily="34" charset="0"/>
                <a:cs typeface="Arial" panose="020B0604020202020204" pitchFamily="34" charset="0"/>
              </a:rPr>
              <a:t> (azul claro); y c) el calor total agregado en el proceso </a:t>
            </a:r>
            <a:r>
              <a:rPr lang="es-MX" sz="2400" dirty="0" err="1">
                <a:latin typeface="Arial" panose="020B0604020202020204" pitchFamily="34" charset="0"/>
                <a:cs typeface="Arial" panose="020B0604020202020204" pitchFamily="34" charset="0"/>
              </a:rPr>
              <a:t>acd</a:t>
            </a:r>
            <a:r>
              <a:rPr lang="es-MX" sz="2400" dirty="0">
                <a:latin typeface="Arial" panose="020B0604020202020204" pitchFamily="34" charset="0"/>
                <a:cs typeface="Arial" panose="020B0604020202020204" pitchFamily="34" charset="0"/>
              </a:rPr>
              <a:t> (azul oscuro).</a:t>
            </a:r>
          </a:p>
        </p:txBody>
      </p:sp>
      <p:pic>
        <p:nvPicPr>
          <p:cNvPr id="19" name="Imagen 18"/>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9173497" y="4131664"/>
            <a:ext cx="2385874" cy="200758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42</a:t>
            </a:fld>
            <a:endParaRPr lang="es-CO" dirty="0"/>
          </a:p>
        </p:txBody>
      </p:sp>
      <p:sp>
        <p:nvSpPr>
          <p:cNvPr id="4" name="CuadroTexto 3"/>
          <p:cNvSpPr txBox="1"/>
          <p:nvPr/>
        </p:nvSpPr>
        <p:spPr>
          <a:xfrm>
            <a:off x="348338" y="674512"/>
            <a:ext cx="10403236" cy="584775"/>
          </a:xfrm>
          <a:prstGeom prst="rect">
            <a:avLst/>
          </a:prstGeom>
          <a:noFill/>
        </p:spPr>
        <p:txBody>
          <a:bodyPr wrap="square" rtlCol="0">
            <a:spAutoFit/>
          </a:bodyPr>
          <a:lstStyle/>
          <a:p>
            <a:r>
              <a:rPr lang="es-MX"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Tipos de procesos termodinámicos</a:t>
            </a:r>
            <a:endParaRPr lang="es-CO" sz="3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Rectángulo 4"/>
          <p:cNvSpPr/>
          <p:nvPr/>
        </p:nvSpPr>
        <p:spPr>
          <a:xfrm>
            <a:off x="348337" y="1318279"/>
            <a:ext cx="6789881"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Proceso adiabático</a:t>
            </a:r>
            <a:endParaRPr lang="es-MX"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CuadroTexto 6"/>
              <p:cNvSpPr txBox="1"/>
              <p:nvPr/>
            </p:nvSpPr>
            <p:spPr>
              <a:xfrm>
                <a:off x="348335" y="1718388"/>
                <a:ext cx="9680567" cy="461665"/>
              </a:xfrm>
              <a:prstGeom prst="rect">
                <a:avLst/>
              </a:prstGeom>
              <a:noFill/>
            </p:spPr>
            <p:txBody>
              <a:bodyPr wrap="square">
                <a:spAutoFit/>
              </a:bodyPr>
              <a:lstStyle/>
              <a:p>
                <a:r>
                  <a:rPr lang="es-MX" sz="2400" dirty="0">
                    <a:latin typeface="Arial" panose="020B0604020202020204" pitchFamily="34" charset="0"/>
                    <a:cs typeface="Arial" panose="020B0604020202020204" pitchFamily="34" charset="0"/>
                  </a:rPr>
                  <a:t>Es aquel donde no entra ni sale calor del sistema: </a:t>
                </a:r>
                <a14:m>
                  <m:oMath xmlns:m="http://schemas.openxmlformats.org/officeDocument/2006/math">
                    <m:r>
                      <a:rPr lang="es-MX" sz="2400" i="1" dirty="0" smtClean="0">
                        <a:latin typeface="Cambria Math" panose="02040503050406030204" pitchFamily="18" charset="0"/>
                        <a:cs typeface="Arial" panose="020B0604020202020204" pitchFamily="34" charset="0"/>
                      </a:rPr>
                      <m:t>𝑄</m:t>
                    </m:r>
                    <m:r>
                      <a:rPr lang="es-MX" sz="2400" i="1" dirty="0" smtClean="0">
                        <a:latin typeface="Cambria Math" panose="02040503050406030204" pitchFamily="18" charset="0"/>
                        <a:cs typeface="Arial" panose="020B0604020202020204" pitchFamily="34" charset="0"/>
                      </a:rPr>
                      <m:t> = 0</m:t>
                    </m:r>
                  </m:oMath>
                </a14:m>
                <a:r>
                  <a:rPr lang="es-MX" sz="2400" dirty="0">
                    <a:latin typeface="Arial" panose="020B0604020202020204" pitchFamily="34" charset="0"/>
                    <a:cs typeface="Arial" panose="020B0604020202020204" pitchFamily="34" charset="0"/>
                  </a:rPr>
                  <a:t>.</a:t>
                </a:r>
                <a:endParaRPr lang="es-CO" sz="2400" dirty="0">
                  <a:latin typeface="Arial" panose="020B0604020202020204" pitchFamily="34" charset="0"/>
                  <a:cs typeface="Arial" panose="020B0604020202020204" pitchFamily="34" charset="0"/>
                </a:endParaRPr>
              </a:p>
            </p:txBody>
          </p:sp>
        </mc:Choice>
        <mc:Fallback xmlns="">
          <p:sp>
            <p:nvSpPr>
              <p:cNvPr id="7" name="CuadroTexto 6"/>
              <p:cNvSpPr txBox="1">
                <a:spLocks noRot="1" noChangeAspect="1" noMove="1" noResize="1" noEditPoints="1" noAdjustHandles="1" noChangeArrowheads="1" noChangeShapeType="1" noTextEdit="1"/>
              </p:cNvSpPr>
              <p:nvPr/>
            </p:nvSpPr>
            <p:spPr>
              <a:xfrm>
                <a:off x="348335" y="1718388"/>
                <a:ext cx="9680567" cy="461665"/>
              </a:xfrm>
              <a:prstGeom prst="rect">
                <a:avLst/>
              </a:prstGeom>
              <a:blipFill rotWithShape="1">
                <a:blip r:embed="rId2"/>
                <a:stretch>
                  <a:fillRect l="-4" t="-17" r="4" b="21"/>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9015399" y="1749166"/>
                <a:ext cx="163923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𝑈</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𝑊</m:t>
                      </m:r>
                    </m:oMath>
                  </m:oMathPara>
                </a14:m>
                <a:endParaRPr lang="es-CO" sz="2800" dirty="0">
                  <a:effectLst>
                    <a:outerShdw blurRad="38100" dist="38100" dir="2700000" algn="tl">
                      <a:srgbClr val="000000">
                        <a:alpha val="43137"/>
                      </a:srgbClr>
                    </a:outerShdw>
                  </a:effectLst>
                </a:endParaRPr>
              </a:p>
            </p:txBody>
          </p:sp>
        </mc:Choice>
        <mc:Fallback xmlns="">
          <p:sp>
            <p:nvSpPr>
              <p:cNvPr id="8" name="CuadroTexto 7"/>
              <p:cNvSpPr txBox="1">
                <a:spLocks noRot="1" noChangeAspect="1" noMove="1" noResize="1" noEditPoints="1" noAdjustHandles="1" noChangeArrowheads="1" noChangeShapeType="1" noTextEdit="1"/>
              </p:cNvSpPr>
              <p:nvPr/>
            </p:nvSpPr>
            <p:spPr>
              <a:xfrm>
                <a:off x="9015399" y="1749166"/>
                <a:ext cx="1639230" cy="430887"/>
              </a:xfrm>
              <a:prstGeom prst="rect">
                <a:avLst/>
              </a:prstGeom>
              <a:blipFill rotWithShape="1">
                <a:blip r:embed="rId3"/>
                <a:stretch>
                  <a:fillRect l="-19" t="-87" r="-854" b="23"/>
                </a:stretch>
              </a:blipFill>
            </p:spPr>
            <p:txBody>
              <a:bodyPr/>
              <a:lstStyle/>
              <a:p>
                <a:r>
                  <a:rPr lang="es-ES" altLang="en-US">
                    <a:noFill/>
                  </a:rPr>
                  <a:t> </a:t>
                </a:r>
              </a:p>
            </p:txBody>
          </p:sp>
        </mc:Fallback>
      </mc:AlternateContent>
      <p:sp>
        <p:nvSpPr>
          <p:cNvPr id="9" name="Rectángulo 8"/>
          <p:cNvSpPr/>
          <p:nvPr/>
        </p:nvSpPr>
        <p:spPr>
          <a:xfrm>
            <a:off x="348337" y="2192533"/>
            <a:ext cx="6789881"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Proceso isocórico</a:t>
            </a:r>
            <a:endParaRPr lang="es-MX"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CuadroTexto 10"/>
              <p:cNvSpPr txBox="1"/>
              <p:nvPr/>
            </p:nvSpPr>
            <p:spPr>
              <a:xfrm>
                <a:off x="348335" y="2585175"/>
                <a:ext cx="7805065" cy="1569660"/>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Un proceso isocórico se efectúa a volumen constante. Si el volumen de un sistema termodinámico es constante, no efectúa trabajo sobre su entorno; por lo que </a:t>
                </a:r>
                <a14:m>
                  <m:oMath xmlns:m="http://schemas.openxmlformats.org/officeDocument/2006/math">
                    <m:r>
                      <a:rPr lang="es-MX" sz="2400" i="1" dirty="0" smtClean="0">
                        <a:latin typeface="Cambria Math" panose="02040503050406030204" pitchFamily="18" charset="0"/>
                        <a:cs typeface="Arial" panose="020B0604020202020204" pitchFamily="34" charset="0"/>
                      </a:rPr>
                      <m:t>𝑊</m:t>
                    </m:r>
                    <m:r>
                      <a:rPr lang="es-MX" sz="2400" i="1" dirty="0" smtClean="0">
                        <a:latin typeface="Cambria Math" panose="02040503050406030204" pitchFamily="18" charset="0"/>
                        <a:cs typeface="Arial" panose="020B0604020202020204" pitchFamily="34" charset="0"/>
                      </a:rPr>
                      <m:t> = 0</m:t>
                    </m:r>
                  </m:oMath>
                </a14:m>
                <a:r>
                  <a:rPr lang="es-CO" sz="2400" dirty="0">
                    <a:latin typeface="Arial" panose="020B0604020202020204" pitchFamily="34" charset="0"/>
                    <a:cs typeface="Arial" panose="020B0604020202020204" pitchFamily="34" charset="0"/>
                  </a:rPr>
                  <a:t>.</a:t>
                </a:r>
              </a:p>
            </p:txBody>
          </p:sp>
        </mc:Choice>
        <mc:Fallback xmlns="">
          <p:sp>
            <p:nvSpPr>
              <p:cNvPr id="11" name="CuadroTexto 10"/>
              <p:cNvSpPr txBox="1">
                <a:spLocks noRot="1" noChangeAspect="1" noMove="1" noResize="1" noEditPoints="1" noAdjustHandles="1" noChangeArrowheads="1" noChangeShapeType="1" noTextEdit="1"/>
              </p:cNvSpPr>
              <p:nvPr/>
            </p:nvSpPr>
            <p:spPr>
              <a:xfrm>
                <a:off x="348335" y="2585175"/>
                <a:ext cx="7805065" cy="1569660"/>
              </a:xfrm>
              <a:prstGeom prst="rect">
                <a:avLst/>
              </a:prstGeom>
              <a:blipFill rotWithShape="1">
                <a:blip r:embed="rId4"/>
                <a:stretch>
                  <a:fillRect l="-5" t="-6" b="2"/>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9015399" y="2975506"/>
                <a:ext cx="126861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𝑈</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𝑄</m:t>
                      </m:r>
                    </m:oMath>
                  </m:oMathPara>
                </a14:m>
                <a:endParaRPr lang="es-CO" sz="2800" dirty="0">
                  <a:effectLst>
                    <a:outerShdw blurRad="38100" dist="38100" dir="2700000" algn="tl">
                      <a:srgbClr val="000000">
                        <a:alpha val="43137"/>
                      </a:srgbClr>
                    </a:outerShdw>
                  </a:effectLst>
                </a:endParaRPr>
              </a:p>
            </p:txBody>
          </p:sp>
        </mc:Choice>
        <mc:Fallback xmlns="">
          <p:sp>
            <p:nvSpPr>
              <p:cNvPr id="12" name="CuadroTexto 11"/>
              <p:cNvSpPr txBox="1">
                <a:spLocks noRot="1" noChangeAspect="1" noMove="1" noResize="1" noEditPoints="1" noAdjustHandles="1" noChangeArrowheads="1" noChangeShapeType="1" noTextEdit="1"/>
              </p:cNvSpPr>
              <p:nvPr/>
            </p:nvSpPr>
            <p:spPr>
              <a:xfrm>
                <a:off x="9015399" y="2975506"/>
                <a:ext cx="1268616" cy="430887"/>
              </a:xfrm>
              <a:prstGeom prst="rect">
                <a:avLst/>
              </a:prstGeom>
              <a:blipFill rotWithShape="1">
                <a:blip r:embed="rId5"/>
                <a:stretch>
                  <a:fillRect l="-24" t="-123" r="-2187" b="59"/>
                </a:stretch>
              </a:blipFill>
            </p:spPr>
            <p:txBody>
              <a:bodyPr/>
              <a:lstStyle/>
              <a:p>
                <a:r>
                  <a:rPr lang="es-ES" altLang="en-US">
                    <a:noFill/>
                  </a:rPr>
                  <a:t> </a:t>
                </a:r>
              </a:p>
            </p:txBody>
          </p:sp>
        </mc:Fallback>
      </mc:AlternateContent>
      <p:sp>
        <p:nvSpPr>
          <p:cNvPr id="13" name="Rectángulo 12"/>
          <p:cNvSpPr/>
          <p:nvPr/>
        </p:nvSpPr>
        <p:spPr>
          <a:xfrm>
            <a:off x="348335" y="4121142"/>
            <a:ext cx="4731885"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Proceso isobárico</a:t>
            </a:r>
            <a:endParaRPr lang="es-MX"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5" name="CuadroTexto 14"/>
              <p:cNvSpPr txBox="1"/>
              <p:nvPr/>
            </p:nvSpPr>
            <p:spPr>
              <a:xfrm>
                <a:off x="348332" y="4493631"/>
                <a:ext cx="7805065" cy="830997"/>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Un proceso isobárico se efectúa a presión constante. Tanto </a:t>
                </a:r>
                <a14:m>
                  <m:oMath xmlns:m="http://schemas.openxmlformats.org/officeDocument/2006/math">
                    <m:r>
                      <a:rPr lang="es-MX" sz="24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4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𝑈</m:t>
                    </m:r>
                  </m:oMath>
                </a14:m>
                <a:r>
                  <a:rPr lang="es-CO" sz="2400" dirty="0">
                    <a:latin typeface="Arial" panose="020B0604020202020204" pitchFamily="34" charset="0"/>
                    <a:cs typeface="Arial" panose="020B0604020202020204" pitchFamily="34" charset="0"/>
                  </a:rPr>
                  <a:t>, </a:t>
                </a:r>
                <a14:m>
                  <m:oMath xmlns:m="http://schemas.openxmlformats.org/officeDocument/2006/math">
                    <m:r>
                      <a:rPr lang="es-MX" sz="2400" i="1">
                        <a:effectLst>
                          <a:outerShdw blurRad="38100" dist="38100" dir="2700000" algn="tl">
                            <a:srgbClr val="000000">
                              <a:alpha val="43137"/>
                            </a:srgbClr>
                          </a:outerShdw>
                        </a:effectLst>
                        <a:latin typeface="Cambria Math" panose="02040503050406030204" pitchFamily="18" charset="0"/>
                      </a:rPr>
                      <m:t>𝑄</m:t>
                    </m:r>
                  </m:oMath>
                </a14:m>
                <a:r>
                  <a:rPr lang="es-CO" sz="2400" dirty="0">
                    <a:latin typeface="Arial" panose="020B0604020202020204" pitchFamily="34" charset="0"/>
                    <a:cs typeface="Arial" panose="020B0604020202020204" pitchFamily="34" charset="0"/>
                  </a:rPr>
                  <a:t> y </a:t>
                </a:r>
                <a14:m>
                  <m:oMath xmlns:m="http://schemas.openxmlformats.org/officeDocument/2006/math">
                    <m:r>
                      <a:rPr lang="es-MX" sz="2400" b="0" i="1" smtClean="0">
                        <a:effectLst>
                          <a:outerShdw blurRad="38100" dist="38100" dir="2700000" algn="tl">
                            <a:srgbClr val="000000">
                              <a:alpha val="43137"/>
                            </a:srgbClr>
                          </a:outerShdw>
                        </a:effectLst>
                        <a:latin typeface="Cambria Math" panose="02040503050406030204" pitchFamily="18" charset="0"/>
                      </a:rPr>
                      <m:t>𝑊</m:t>
                    </m:r>
                  </m:oMath>
                </a14:m>
                <a:r>
                  <a:rPr lang="es-CO" sz="2400" dirty="0">
                    <a:latin typeface="Arial" panose="020B0604020202020204" pitchFamily="34" charset="0"/>
                    <a:cs typeface="Arial" panose="020B0604020202020204" pitchFamily="34" charset="0"/>
                  </a:rPr>
                  <a:t> son diferente de cero. </a:t>
                </a:r>
              </a:p>
            </p:txBody>
          </p:sp>
        </mc:Choice>
        <mc:Fallback xmlns="">
          <p:sp>
            <p:nvSpPr>
              <p:cNvPr id="15" name="CuadroTexto 14"/>
              <p:cNvSpPr txBox="1">
                <a:spLocks noRot="1" noChangeAspect="1" noMove="1" noResize="1" noEditPoints="1" noAdjustHandles="1" noChangeArrowheads="1" noChangeShapeType="1" noTextEdit="1"/>
              </p:cNvSpPr>
              <p:nvPr/>
            </p:nvSpPr>
            <p:spPr>
              <a:xfrm>
                <a:off x="348332" y="4493631"/>
                <a:ext cx="7805065" cy="830997"/>
              </a:xfrm>
              <a:prstGeom prst="rect">
                <a:avLst/>
              </a:prstGeom>
              <a:blipFill rotWithShape="1">
                <a:blip r:embed="rId6"/>
                <a:stretch>
                  <a:fillRect l="-5" t="-45" r="8" b="18"/>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16" name="CuadroTexto 15"/>
              <p:cNvSpPr txBox="1"/>
              <p:nvPr/>
            </p:nvSpPr>
            <p:spPr>
              <a:xfrm>
                <a:off x="9015399" y="4521496"/>
                <a:ext cx="252235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𝑊</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𝑃</m:t>
                      </m:r>
                      <m:r>
                        <a:rPr lang="es-MX" sz="2800" b="0" i="1" smtClean="0">
                          <a:effectLst>
                            <a:outerShdw blurRad="38100" dist="38100" dir="2700000" algn="tl">
                              <a:srgbClr val="000000">
                                <a:alpha val="43137"/>
                              </a:srgbClr>
                            </a:outerShdw>
                          </a:effectLst>
                          <a:latin typeface="Cambria Math" panose="02040503050406030204" pitchFamily="18" charset="0"/>
                        </a:rPr>
                        <m:t>(</m:t>
                      </m:r>
                      <m:sSub>
                        <m:sSubPr>
                          <m:ctrlPr>
                            <a:rPr lang="es-MX" sz="2800" b="0" i="1" smtClean="0">
                              <a:effectLst>
                                <a:outerShdw blurRad="38100" dist="38100" dir="2700000" algn="tl">
                                  <a:srgbClr val="000000">
                                    <a:alpha val="43137"/>
                                  </a:srgbClr>
                                </a:outerShdw>
                              </a:effectLst>
                              <a:latin typeface="Cambria Math" panose="02040503050406030204" pitchFamily="18" charset="0"/>
                            </a:rPr>
                          </m:ctrlPr>
                        </m:sSubPr>
                        <m:e>
                          <m:r>
                            <a:rPr lang="es-MX" sz="2800" b="0" i="1" smtClean="0">
                              <a:effectLst>
                                <a:outerShdw blurRad="38100" dist="38100" dir="2700000" algn="tl">
                                  <a:srgbClr val="000000">
                                    <a:alpha val="43137"/>
                                  </a:srgbClr>
                                </a:outerShdw>
                              </a:effectLst>
                              <a:latin typeface="Cambria Math" panose="02040503050406030204" pitchFamily="18" charset="0"/>
                            </a:rPr>
                            <m:t>𝑉</m:t>
                          </m:r>
                        </m:e>
                        <m:sub>
                          <m:r>
                            <a:rPr lang="es-MX" sz="2800" b="0" i="1" smtClean="0">
                              <a:effectLst>
                                <a:outerShdw blurRad="38100" dist="38100" dir="2700000" algn="tl">
                                  <a:srgbClr val="000000">
                                    <a:alpha val="43137"/>
                                  </a:srgbClr>
                                </a:outerShdw>
                              </a:effectLst>
                              <a:latin typeface="Cambria Math" panose="02040503050406030204" pitchFamily="18" charset="0"/>
                            </a:rPr>
                            <m:t>2</m:t>
                          </m:r>
                        </m:sub>
                      </m:sSub>
                      <m:r>
                        <a:rPr lang="es-MX" sz="2800" b="0" i="1" smtClean="0">
                          <a:effectLst>
                            <a:outerShdw blurRad="38100" dist="38100" dir="2700000" algn="tl">
                              <a:srgbClr val="000000">
                                <a:alpha val="43137"/>
                              </a:srgbClr>
                            </a:outerShdw>
                          </a:effectLst>
                          <a:latin typeface="Cambria Math" panose="02040503050406030204" pitchFamily="18" charset="0"/>
                        </a:rPr>
                        <m:t>−</m:t>
                      </m:r>
                      <m:sSub>
                        <m:sSubPr>
                          <m:ctrlPr>
                            <a:rPr lang="es-MX" sz="2800" i="1">
                              <a:effectLst>
                                <a:outerShdw blurRad="38100" dist="38100" dir="2700000" algn="tl">
                                  <a:srgbClr val="000000">
                                    <a:alpha val="43137"/>
                                  </a:srgbClr>
                                </a:outerShdw>
                              </a:effectLst>
                              <a:latin typeface="Cambria Math" panose="02040503050406030204" pitchFamily="18" charset="0"/>
                            </a:rPr>
                          </m:ctrlPr>
                        </m:sSubPr>
                        <m:e>
                          <m:r>
                            <a:rPr lang="es-MX" sz="2800" i="1">
                              <a:effectLst>
                                <a:outerShdw blurRad="38100" dist="38100" dir="2700000" algn="tl">
                                  <a:srgbClr val="000000">
                                    <a:alpha val="43137"/>
                                  </a:srgbClr>
                                </a:outerShdw>
                              </a:effectLst>
                              <a:latin typeface="Cambria Math" panose="02040503050406030204" pitchFamily="18" charset="0"/>
                            </a:rPr>
                            <m:t>𝑉</m:t>
                          </m:r>
                        </m:e>
                        <m:sub>
                          <m:r>
                            <a:rPr lang="es-MX" sz="2800" b="0" i="1" smtClean="0">
                              <a:effectLst>
                                <a:outerShdw blurRad="38100" dist="38100" dir="2700000" algn="tl">
                                  <a:srgbClr val="000000">
                                    <a:alpha val="43137"/>
                                  </a:srgbClr>
                                </a:outerShdw>
                              </a:effectLst>
                              <a:latin typeface="Cambria Math" panose="02040503050406030204" pitchFamily="18" charset="0"/>
                            </a:rPr>
                            <m:t>1</m:t>
                          </m:r>
                        </m:sub>
                      </m:sSub>
                      <m:r>
                        <a:rPr lang="es-MX" sz="2800" b="0" i="1" smtClean="0">
                          <a:effectLst>
                            <a:outerShdw blurRad="38100" dist="38100" dir="2700000" algn="tl">
                              <a:srgbClr val="000000">
                                <a:alpha val="43137"/>
                              </a:srgbClr>
                            </a:outerShdw>
                          </a:effectLst>
                          <a:latin typeface="Cambria Math" panose="02040503050406030204" pitchFamily="18" charset="0"/>
                        </a:rPr>
                        <m:t>)</m:t>
                      </m:r>
                    </m:oMath>
                  </m:oMathPara>
                </a14:m>
                <a:endParaRPr lang="es-CO" sz="2800" dirty="0">
                  <a:effectLst>
                    <a:outerShdw blurRad="38100" dist="38100" dir="2700000" algn="tl">
                      <a:srgbClr val="000000">
                        <a:alpha val="43137"/>
                      </a:srgbClr>
                    </a:outerShdw>
                  </a:effectLst>
                </a:endParaRPr>
              </a:p>
            </p:txBody>
          </p:sp>
        </mc:Choice>
        <mc:Fallback xmlns="">
          <p:sp>
            <p:nvSpPr>
              <p:cNvPr id="16" name="CuadroTexto 15"/>
              <p:cNvSpPr txBox="1">
                <a:spLocks noRot="1" noChangeAspect="1" noMove="1" noResize="1" noEditPoints="1" noAdjustHandles="1" noChangeArrowheads="1" noChangeShapeType="1" noTextEdit="1"/>
              </p:cNvSpPr>
              <p:nvPr/>
            </p:nvSpPr>
            <p:spPr>
              <a:xfrm>
                <a:off x="9015399" y="4521496"/>
                <a:ext cx="2522357" cy="430887"/>
              </a:xfrm>
              <a:prstGeom prst="rect">
                <a:avLst/>
              </a:prstGeom>
              <a:blipFill rotWithShape="1">
                <a:blip r:embed="rId7"/>
                <a:stretch>
                  <a:fillRect l="-12" t="-69" r="-2928" b="4"/>
                </a:stretch>
              </a:blipFill>
            </p:spPr>
            <p:txBody>
              <a:bodyPr/>
              <a:lstStyle/>
              <a:p>
                <a:r>
                  <a:rPr lang="es-ES" altLang="en-US">
                    <a:noFill/>
                  </a:rPr>
                  <a:t> </a:t>
                </a:r>
              </a:p>
            </p:txBody>
          </p:sp>
        </mc:Fallback>
      </mc:AlternateContent>
      <p:sp>
        <p:nvSpPr>
          <p:cNvPr id="17" name="Rectángulo 16"/>
          <p:cNvSpPr/>
          <p:nvPr/>
        </p:nvSpPr>
        <p:spPr>
          <a:xfrm>
            <a:off x="348335" y="5290935"/>
            <a:ext cx="4731885" cy="461665"/>
          </a:xfrm>
          <a:prstGeom prst="rect">
            <a:avLst/>
          </a:prstGeom>
        </p:spPr>
        <p:txBody>
          <a:bodyPr wrap="square">
            <a:spAutoFit/>
          </a:bodyPr>
          <a:lstStyle/>
          <a:p>
            <a:pPr algn="just"/>
            <a:r>
              <a:rPr lang="es-MX" sz="2400" b="1" dirty="0">
                <a:solidFill>
                  <a:srgbClr val="0033CC"/>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Proceso isotérmico</a:t>
            </a:r>
            <a:endParaRPr lang="es-MX"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8" name="CuadroTexto 17"/>
              <p:cNvSpPr txBox="1"/>
              <p:nvPr/>
            </p:nvSpPr>
            <p:spPr>
              <a:xfrm>
                <a:off x="348332" y="5663424"/>
                <a:ext cx="7805065" cy="830997"/>
              </a:xfrm>
              <a:prstGeom prst="rect">
                <a:avLst/>
              </a:prstGeom>
              <a:noFill/>
            </p:spPr>
            <p:txBody>
              <a:bodyPr wrap="square">
                <a:spAutoFit/>
              </a:bodyPr>
              <a:lstStyle/>
              <a:p>
                <a:pPr algn="just"/>
                <a:r>
                  <a:rPr lang="es-MX" sz="2400" dirty="0">
                    <a:latin typeface="Arial" panose="020B0604020202020204" pitchFamily="34" charset="0"/>
                    <a:cs typeface="Arial" panose="020B0604020202020204" pitchFamily="34" charset="0"/>
                  </a:rPr>
                  <a:t>Un proceso isotérmico se efectúa a temperatura constante. Tanto </a:t>
                </a:r>
                <a14:m>
                  <m:oMath xmlns:m="http://schemas.openxmlformats.org/officeDocument/2006/math">
                    <m:r>
                      <a:rPr lang="es-MX" sz="24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MX" sz="24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𝑈</m:t>
                    </m:r>
                  </m:oMath>
                </a14:m>
                <a:r>
                  <a:rPr lang="es-CO" sz="2400" dirty="0">
                    <a:latin typeface="Arial" panose="020B0604020202020204" pitchFamily="34" charset="0"/>
                    <a:cs typeface="Arial" panose="020B0604020202020204" pitchFamily="34" charset="0"/>
                  </a:rPr>
                  <a:t>, </a:t>
                </a:r>
                <a14:m>
                  <m:oMath xmlns:m="http://schemas.openxmlformats.org/officeDocument/2006/math">
                    <m:r>
                      <a:rPr lang="es-MX" sz="2400" i="1">
                        <a:effectLst>
                          <a:outerShdw blurRad="38100" dist="38100" dir="2700000" algn="tl">
                            <a:srgbClr val="000000">
                              <a:alpha val="43137"/>
                            </a:srgbClr>
                          </a:outerShdw>
                        </a:effectLst>
                        <a:latin typeface="Cambria Math" panose="02040503050406030204" pitchFamily="18" charset="0"/>
                      </a:rPr>
                      <m:t>𝑄</m:t>
                    </m:r>
                  </m:oMath>
                </a14:m>
                <a:r>
                  <a:rPr lang="es-CO" sz="2400" dirty="0">
                    <a:latin typeface="Arial" panose="020B0604020202020204" pitchFamily="34" charset="0"/>
                    <a:cs typeface="Arial" panose="020B0604020202020204" pitchFamily="34" charset="0"/>
                  </a:rPr>
                  <a:t> y </a:t>
                </a:r>
                <a14:m>
                  <m:oMath xmlns:m="http://schemas.openxmlformats.org/officeDocument/2006/math">
                    <m:r>
                      <a:rPr lang="es-MX" sz="2400" b="0" i="1" smtClean="0">
                        <a:effectLst>
                          <a:outerShdw blurRad="38100" dist="38100" dir="2700000" algn="tl">
                            <a:srgbClr val="000000">
                              <a:alpha val="43137"/>
                            </a:srgbClr>
                          </a:outerShdw>
                        </a:effectLst>
                        <a:latin typeface="Cambria Math" panose="02040503050406030204" pitchFamily="18" charset="0"/>
                      </a:rPr>
                      <m:t>𝑊</m:t>
                    </m:r>
                  </m:oMath>
                </a14:m>
                <a:r>
                  <a:rPr lang="es-CO" sz="2400" dirty="0">
                    <a:latin typeface="Arial" panose="020B0604020202020204" pitchFamily="34" charset="0"/>
                    <a:cs typeface="Arial" panose="020B0604020202020204" pitchFamily="34" charset="0"/>
                  </a:rPr>
                  <a:t> son diferente de cero. </a:t>
                </a:r>
              </a:p>
            </p:txBody>
          </p:sp>
        </mc:Choice>
        <mc:Fallback xmlns="">
          <p:sp>
            <p:nvSpPr>
              <p:cNvPr id="18" name="CuadroTexto 17"/>
              <p:cNvSpPr txBox="1">
                <a:spLocks noRot="1" noChangeAspect="1" noMove="1" noResize="1" noEditPoints="1" noAdjustHandles="1" noChangeArrowheads="1" noChangeShapeType="1" noTextEdit="1"/>
              </p:cNvSpPr>
              <p:nvPr/>
            </p:nvSpPr>
            <p:spPr>
              <a:xfrm>
                <a:off x="348332" y="5663424"/>
                <a:ext cx="7805065" cy="830997"/>
              </a:xfrm>
              <a:prstGeom prst="rect">
                <a:avLst/>
              </a:prstGeom>
              <a:blipFill rotWithShape="1">
                <a:blip r:embed="rId8"/>
                <a:stretch>
                  <a:fillRect l="-5" t="-59" r="8" b="33"/>
                </a:stretch>
              </a:blipFill>
            </p:spPr>
            <p:txBody>
              <a:bodyPr/>
              <a:lstStyle/>
              <a:p>
                <a:r>
                  <a:rPr lang="es-ES" altLang="en-US">
                    <a:noFill/>
                  </a:rPr>
                  <a:t> </a:t>
                </a:r>
              </a:p>
            </p:txBody>
          </p:sp>
        </mc:Fallback>
      </mc:AlternateContent>
      <mc:AlternateContent xmlns:mc="http://schemas.openxmlformats.org/markup-compatibility/2006" xmlns:a14="http://schemas.microsoft.com/office/drawing/2010/main">
        <mc:Choice Requires="a14">
          <p:sp>
            <p:nvSpPr>
              <p:cNvPr id="20" name="CuadroTexto 19"/>
              <p:cNvSpPr txBox="1"/>
              <p:nvPr/>
            </p:nvSpPr>
            <p:spPr>
              <a:xfrm>
                <a:off x="8872282" y="5423479"/>
                <a:ext cx="2823465" cy="9681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𝑊</m:t>
                      </m:r>
                      <m:r>
                        <a:rPr lang="es-MX" sz="2800" b="0" i="1" smtClean="0">
                          <a:effectLst>
                            <a:outerShdw blurRad="38100" dist="38100" dir="2700000" algn="tl">
                              <a:srgbClr val="000000">
                                <a:alpha val="43137"/>
                              </a:srgbClr>
                            </a:outerShdw>
                          </a:effectLst>
                          <a:latin typeface="Cambria Math" panose="02040503050406030204" pitchFamily="18" charset="0"/>
                        </a:rPr>
                        <m:t>=</m:t>
                      </m:r>
                      <m:r>
                        <a:rPr lang="es-MX" sz="2800" b="0" i="1" smtClean="0">
                          <a:effectLst>
                            <a:outerShdw blurRad="38100" dist="38100" dir="2700000" algn="tl">
                              <a:srgbClr val="000000">
                                <a:alpha val="43137"/>
                              </a:srgbClr>
                            </a:outerShdw>
                          </a:effectLst>
                          <a:latin typeface="Cambria Math" panose="02040503050406030204" pitchFamily="18" charset="0"/>
                        </a:rPr>
                        <m:t>𝑛𝑅𝑇</m:t>
                      </m:r>
                      <m:func>
                        <m:funcPr>
                          <m:ctrlPr>
                            <a:rPr lang="es-MX" sz="2800" b="0" i="1" smtClean="0">
                              <a:effectLst>
                                <a:outerShdw blurRad="38100" dist="38100" dir="2700000" algn="tl">
                                  <a:srgbClr val="000000">
                                    <a:alpha val="43137"/>
                                  </a:srgbClr>
                                </a:outerShdw>
                              </a:effectLst>
                              <a:latin typeface="Cambria Math" panose="02040503050406030204" pitchFamily="18" charset="0"/>
                            </a:rPr>
                          </m:ctrlPr>
                        </m:funcPr>
                        <m:fName>
                          <m:r>
                            <m:rPr>
                              <m:sty m:val="p"/>
                            </m:rPr>
                            <a:rPr lang="es-MX" sz="2800" b="0" i="0" smtClean="0">
                              <a:effectLst>
                                <a:outerShdw blurRad="38100" dist="38100" dir="2700000" algn="tl">
                                  <a:srgbClr val="000000">
                                    <a:alpha val="43137"/>
                                  </a:srgbClr>
                                </a:outerShdw>
                              </a:effectLst>
                              <a:latin typeface="Cambria Math" panose="02040503050406030204" pitchFamily="18" charset="0"/>
                            </a:rPr>
                            <m:t>ln</m:t>
                          </m:r>
                        </m:fName>
                        <m:e>
                          <m:d>
                            <m:dPr>
                              <m:ctrlPr>
                                <a:rPr lang="es-MX" sz="2800" b="0" i="1" smtClean="0">
                                  <a:effectLst>
                                    <a:outerShdw blurRad="38100" dist="38100" dir="2700000" algn="tl">
                                      <a:srgbClr val="000000">
                                        <a:alpha val="43137"/>
                                      </a:srgbClr>
                                    </a:outerShdw>
                                  </a:effectLst>
                                  <a:latin typeface="Cambria Math" panose="02040503050406030204" pitchFamily="18" charset="0"/>
                                </a:rPr>
                              </m:ctrlPr>
                            </m:dPr>
                            <m:e>
                              <m:f>
                                <m:fPr>
                                  <m:ctrlPr>
                                    <a:rPr lang="es-MX" sz="2800" b="0" i="1" smtClean="0">
                                      <a:effectLst>
                                        <a:outerShdw blurRad="38100" dist="38100" dir="2700000" algn="tl">
                                          <a:srgbClr val="000000">
                                            <a:alpha val="43137"/>
                                          </a:srgbClr>
                                        </a:outerShdw>
                                      </a:effectLst>
                                      <a:latin typeface="Cambria Math" panose="02040503050406030204" pitchFamily="18" charset="0"/>
                                    </a:rPr>
                                  </m:ctrlPr>
                                </m:fPr>
                                <m:num>
                                  <m:sSub>
                                    <m:sSubPr>
                                      <m:ctrlPr>
                                        <a:rPr lang="es-MX" sz="2800" i="1">
                                          <a:effectLst>
                                            <a:outerShdw blurRad="38100" dist="38100" dir="2700000" algn="tl">
                                              <a:srgbClr val="000000">
                                                <a:alpha val="43137"/>
                                              </a:srgbClr>
                                            </a:outerShdw>
                                          </a:effectLst>
                                          <a:latin typeface="Cambria Math" panose="02040503050406030204" pitchFamily="18" charset="0"/>
                                        </a:rPr>
                                      </m:ctrlPr>
                                    </m:sSubPr>
                                    <m:e>
                                      <m:r>
                                        <a:rPr lang="es-MX" sz="2800" i="1">
                                          <a:effectLst>
                                            <a:outerShdw blurRad="38100" dist="38100" dir="2700000" algn="tl">
                                              <a:srgbClr val="000000">
                                                <a:alpha val="43137"/>
                                              </a:srgbClr>
                                            </a:outerShdw>
                                          </a:effectLst>
                                          <a:latin typeface="Cambria Math" panose="02040503050406030204" pitchFamily="18" charset="0"/>
                                        </a:rPr>
                                        <m:t>𝑉</m:t>
                                      </m:r>
                                    </m:e>
                                    <m:sub>
                                      <m:r>
                                        <a:rPr lang="es-CO" sz="2800" b="0" i="1" smtClean="0">
                                          <a:effectLst>
                                            <a:outerShdw blurRad="38100" dist="38100" dir="2700000" algn="tl">
                                              <a:srgbClr val="000000">
                                                <a:alpha val="43137"/>
                                              </a:srgbClr>
                                            </a:outerShdw>
                                          </a:effectLst>
                                          <a:latin typeface="Cambria Math" panose="02040503050406030204" pitchFamily="18" charset="0"/>
                                        </a:rPr>
                                        <m:t>2</m:t>
                                      </m:r>
                                    </m:sub>
                                  </m:sSub>
                                </m:num>
                                <m:den>
                                  <m:sSub>
                                    <m:sSubPr>
                                      <m:ctrlPr>
                                        <a:rPr lang="es-MX" sz="2800" i="1">
                                          <a:effectLst>
                                            <a:outerShdw blurRad="38100" dist="38100" dir="2700000" algn="tl">
                                              <a:srgbClr val="000000">
                                                <a:alpha val="43137"/>
                                              </a:srgbClr>
                                            </a:outerShdw>
                                          </a:effectLst>
                                          <a:latin typeface="Cambria Math" panose="02040503050406030204" pitchFamily="18" charset="0"/>
                                        </a:rPr>
                                      </m:ctrlPr>
                                    </m:sSubPr>
                                    <m:e>
                                      <m:r>
                                        <a:rPr lang="es-MX" sz="2800" i="1">
                                          <a:effectLst>
                                            <a:outerShdw blurRad="38100" dist="38100" dir="2700000" algn="tl">
                                              <a:srgbClr val="000000">
                                                <a:alpha val="43137"/>
                                              </a:srgbClr>
                                            </a:outerShdw>
                                          </a:effectLst>
                                          <a:latin typeface="Cambria Math" panose="02040503050406030204" pitchFamily="18" charset="0"/>
                                        </a:rPr>
                                        <m:t>𝑉</m:t>
                                      </m:r>
                                    </m:e>
                                    <m:sub>
                                      <m:r>
                                        <a:rPr lang="es-CO" sz="2800" b="0" i="1" smtClean="0">
                                          <a:effectLst>
                                            <a:outerShdw blurRad="38100" dist="38100" dir="2700000" algn="tl">
                                              <a:srgbClr val="000000">
                                                <a:alpha val="43137"/>
                                              </a:srgbClr>
                                            </a:outerShdw>
                                          </a:effectLst>
                                          <a:latin typeface="Cambria Math" panose="02040503050406030204" pitchFamily="18" charset="0"/>
                                        </a:rPr>
                                        <m:t>1</m:t>
                                      </m:r>
                                    </m:sub>
                                  </m:sSub>
                                </m:den>
                              </m:f>
                            </m:e>
                          </m:d>
                        </m:e>
                      </m:func>
                    </m:oMath>
                  </m:oMathPara>
                </a14:m>
                <a:endParaRPr lang="es-CO" sz="2800" dirty="0">
                  <a:effectLst>
                    <a:outerShdw blurRad="38100" dist="38100" dir="2700000" algn="tl">
                      <a:srgbClr val="000000">
                        <a:alpha val="43137"/>
                      </a:srgbClr>
                    </a:outerShdw>
                  </a:effectLst>
                </a:endParaRPr>
              </a:p>
            </p:txBody>
          </p:sp>
        </mc:Choice>
        <mc:Fallback xmlns="">
          <p:sp>
            <p:nvSpPr>
              <p:cNvPr id="20" name="CuadroTexto 19"/>
              <p:cNvSpPr txBox="1">
                <a:spLocks noRot="1" noChangeAspect="1" noMove="1" noResize="1" noEditPoints="1" noAdjustHandles="1" noChangeArrowheads="1" noChangeShapeType="1" noTextEdit="1"/>
              </p:cNvSpPr>
              <p:nvPr/>
            </p:nvSpPr>
            <p:spPr>
              <a:xfrm>
                <a:off x="8872282" y="5423479"/>
                <a:ext cx="2823465" cy="968150"/>
              </a:xfrm>
              <a:prstGeom prst="rect">
                <a:avLst/>
              </a:prstGeom>
              <a:blipFill rotWithShape="0">
                <a:blip r:embed="rId9"/>
                <a:stretch>
                  <a:fillRect b="-6962"/>
                </a:stretch>
              </a:blipFill>
            </p:spPr>
            <p:txBody>
              <a:bodyPr/>
              <a:lstStyle/>
              <a:p>
                <a:r>
                  <a:rPr lang="es-CO">
                    <a:noFill/>
                  </a:rPr>
                  <a:t> </a:t>
                </a:r>
              </a:p>
            </p:txBody>
          </p:sp>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smtClean="0"/>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43</a:t>
            </a:fld>
            <a:endParaRPr lang="es-CO" dirty="0"/>
          </a:p>
        </p:txBody>
      </p:sp>
      <p:pic>
        <p:nvPicPr>
          <p:cNvPr id="4" name="Imagen 3"/>
          <p:cNvPicPr>
            <a:picLocks noChangeAspect="1"/>
          </p:cNvPicPr>
          <p:nvPr/>
        </p:nvPicPr>
        <p:blipFill>
          <a:blip r:embed="rId2"/>
          <a:stretch>
            <a:fillRect/>
          </a:stretch>
        </p:blipFill>
        <p:spPr>
          <a:xfrm>
            <a:off x="1450305" y="664981"/>
            <a:ext cx="8860644" cy="5529474"/>
          </a:xfrm>
          <a:prstGeom prst="rect">
            <a:avLst/>
          </a:prstGeom>
        </p:spPr>
      </p:pic>
      <p:sp>
        <p:nvSpPr>
          <p:cNvPr id="5" name="Rectángulo 4"/>
          <p:cNvSpPr/>
          <p:nvPr/>
        </p:nvSpPr>
        <p:spPr>
          <a:xfrm>
            <a:off x="4781006" y="5207726"/>
            <a:ext cx="391885" cy="2612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dirty="0">
                <a:solidFill>
                  <a:srgbClr val="0000FF"/>
                </a:solidFill>
              </a:rPr>
              <a:t>Q</a:t>
            </a:r>
          </a:p>
        </p:txBody>
      </p:sp>
    </p:spTree>
    <p:extLst>
      <p:ext uri="{BB962C8B-B14F-4D97-AF65-F5344CB8AC3E}">
        <p14:creationId xmlns:p14="http://schemas.microsoft.com/office/powerpoint/2010/main" val="24266291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44</a:t>
            </a:fld>
            <a:endParaRPr lang="es-CO" dirty="0"/>
          </a:p>
        </p:txBody>
      </p:sp>
      <p:sp>
        <p:nvSpPr>
          <p:cNvPr id="4" name="CuadroTexto 3"/>
          <p:cNvSpPr txBox="1"/>
          <p:nvPr/>
        </p:nvSpPr>
        <p:spPr>
          <a:xfrm>
            <a:off x="358594" y="706870"/>
            <a:ext cx="11336877" cy="1200329"/>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14.</a:t>
            </a:r>
            <a:r>
              <a:rPr lang="es-MX" sz="2400" dirty="0" smtClean="0">
                <a:latin typeface="Arial" panose="020B0604020202020204" pitchFamily="34" charset="0"/>
                <a:cs typeface="Arial" panose="020B0604020202020204" pitchFamily="34" charset="0"/>
              </a:rPr>
              <a:t> </a:t>
            </a:r>
            <a:r>
              <a:rPr lang="es-MX" altLang="es-CO" sz="2400" dirty="0"/>
              <a:t>Sobre un sistema se realiza un trabajo de 1500J y se le suministran 2300 J de calor ¿Cuál es la variación de la energía interna del </a:t>
            </a:r>
            <a:r>
              <a:rPr lang="es-MX" altLang="es-CO" sz="2400" dirty="0" smtClean="0"/>
              <a:t>sistema?</a:t>
            </a:r>
            <a:endParaRPr lang="es-CO" altLang="es-CO" sz="2400" dirty="0"/>
          </a:p>
          <a:p>
            <a:pPr algn="just"/>
            <a:endParaRPr lang="es-MX"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45</a:t>
            </a:fld>
            <a:endParaRPr lang="es-CO" dirty="0"/>
          </a:p>
        </p:txBody>
      </p:sp>
      <p:sp>
        <p:nvSpPr>
          <p:cNvPr id="4" name="CuadroTexto 3"/>
          <p:cNvSpPr txBox="1"/>
          <p:nvPr/>
        </p:nvSpPr>
        <p:spPr>
          <a:xfrm>
            <a:off x="358594" y="706870"/>
            <a:ext cx="11336877" cy="1938992"/>
          </a:xfrm>
          <a:prstGeom prst="rect">
            <a:avLst/>
          </a:prstGeom>
          <a:noFill/>
        </p:spPr>
        <p:txBody>
          <a:bodyPr wrap="square">
            <a:spAutoFit/>
          </a:bodyPr>
          <a:lstStyle/>
          <a:p>
            <a:pPr algn="just"/>
            <a:r>
              <a:rPr lang="es-MX"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a:t>
            </a:r>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15.</a:t>
            </a:r>
            <a:r>
              <a:rPr lang="es-MX" sz="2400" dirty="0" smtClean="0">
                <a:latin typeface="Arial" panose="020B0604020202020204" pitchFamily="34" charset="0"/>
                <a:cs typeface="Arial" panose="020B0604020202020204" pitchFamily="34" charset="0"/>
              </a:rPr>
              <a:t> </a:t>
            </a:r>
            <a:r>
              <a:rPr lang="es-MX" sz="2400" dirty="0">
                <a:latin typeface="Arial" panose="020B0604020202020204" pitchFamily="34" charset="0"/>
                <a:cs typeface="Arial" panose="020B0604020202020204" pitchFamily="34" charset="0"/>
              </a:rPr>
              <a:t>Un gas se lleva a través del proceso cíclico descrito en la figura.        a) Encuentre la energía neta transferida al sistema por calor durante un ciclo completo. </a:t>
            </a:r>
          </a:p>
          <a:p>
            <a:pPr algn="just"/>
            <a:r>
              <a:rPr lang="es-MX" sz="2400" dirty="0">
                <a:latin typeface="Arial" panose="020B0604020202020204" pitchFamily="34" charset="0"/>
                <a:cs typeface="Arial" panose="020B0604020202020204" pitchFamily="34" charset="0"/>
              </a:rPr>
              <a:t>b) ¿Qué pasaría si? Si el ciclo se invierte (esto es, el proceso sigue la trayectoria ACBA), ¿cuál es la entrada de energía neta por cada ciclo por calor?</a:t>
            </a:r>
          </a:p>
        </p:txBody>
      </p:sp>
      <p:pic>
        <p:nvPicPr>
          <p:cNvPr id="6" name="Imagen 5"/>
          <p:cNvPicPr>
            <a:picLocks noChangeAspect="1"/>
          </p:cNvPicPr>
          <p:nvPr/>
        </p:nvPicPr>
        <p:blipFill>
          <a:blip r:embed="rId2"/>
          <a:stretch>
            <a:fillRect/>
          </a:stretch>
        </p:blipFill>
        <p:spPr>
          <a:xfrm>
            <a:off x="8790037" y="2645862"/>
            <a:ext cx="2743201" cy="2598212"/>
          </a:xfrm>
          <a:prstGeom prst="rect">
            <a:avLst/>
          </a:prstGeom>
        </p:spPr>
      </p:pic>
    </p:spTree>
    <p:extLst>
      <p:ext uri="{BB962C8B-B14F-4D97-AF65-F5344CB8AC3E}">
        <p14:creationId xmlns:p14="http://schemas.microsoft.com/office/powerpoint/2010/main" val="286956634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r>
              <a:rPr lang="es-CO"/>
              <a:t>Física Calor Ondas</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46</a:t>
            </a:fld>
            <a:endParaRPr lang="es-CO" dirty="0"/>
          </a:p>
        </p:txBody>
      </p:sp>
      <p:sp>
        <p:nvSpPr>
          <p:cNvPr id="4" name="CuadroTexto 3"/>
          <p:cNvSpPr txBox="1"/>
          <p:nvPr/>
        </p:nvSpPr>
        <p:spPr>
          <a:xfrm>
            <a:off x="358594" y="706870"/>
            <a:ext cx="11336877" cy="3046988"/>
          </a:xfrm>
          <a:prstGeom prst="rect">
            <a:avLst/>
          </a:prstGeom>
          <a:noFill/>
        </p:spPr>
        <p:txBody>
          <a:bodyPr wrap="square">
            <a:spAutoFit/>
          </a:bodyPr>
          <a:lstStyle/>
          <a:p>
            <a:pPr algn="just"/>
            <a:r>
              <a:rPr lang="es-MX" sz="24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Ejemplo 16.</a:t>
            </a:r>
            <a:r>
              <a:rPr lang="es-MX" sz="2400" dirty="0" smtClean="0">
                <a:latin typeface="Arial" panose="020B0604020202020204" pitchFamily="34" charset="0"/>
                <a:cs typeface="Arial" panose="020B0604020202020204" pitchFamily="34" charset="0"/>
              </a:rPr>
              <a:t> Una </a:t>
            </a:r>
            <a:r>
              <a:rPr lang="es-MX" sz="2400" dirty="0">
                <a:latin typeface="Arial" panose="020B0604020202020204" pitchFamily="34" charset="0"/>
                <a:cs typeface="Arial" panose="020B0604020202020204" pitchFamily="34" charset="0"/>
              </a:rPr>
              <a:t>muestra de 1 mol de un gas ideal se mantiene a 0.0°C durante una expansión de 3.0 L a 10.0 L. </a:t>
            </a:r>
          </a:p>
          <a:p>
            <a:pPr algn="just"/>
            <a:endParaRPr lang="es-MX" sz="2400" dirty="0">
              <a:latin typeface="Arial" panose="020B0604020202020204" pitchFamily="34" charset="0"/>
              <a:cs typeface="Arial" panose="020B0604020202020204" pitchFamily="34" charset="0"/>
            </a:endParaRPr>
          </a:p>
          <a:p>
            <a:pPr algn="just"/>
            <a:r>
              <a:rPr lang="es-MX" sz="2400" dirty="0">
                <a:latin typeface="Arial" panose="020B0604020202020204" pitchFamily="34" charset="0"/>
                <a:cs typeface="Arial" panose="020B0604020202020204" pitchFamily="34" charset="0"/>
              </a:rPr>
              <a:t>a) ¿Cuánto trabajo se gasta en el gas durante la expansión? </a:t>
            </a:r>
          </a:p>
          <a:p>
            <a:pPr algn="just"/>
            <a:r>
              <a:rPr lang="es-MX" sz="2400" dirty="0">
                <a:latin typeface="Arial" panose="020B0604020202020204" pitchFamily="34" charset="0"/>
                <a:cs typeface="Arial" panose="020B0604020202020204" pitchFamily="34" charset="0"/>
              </a:rPr>
              <a:t>b) ¿Cuánta transferencia de energía por calor se presenta entre el gas y sus alrededores en este proceso?</a:t>
            </a:r>
          </a:p>
          <a:p>
            <a:pPr algn="just"/>
            <a:r>
              <a:rPr lang="es-MX" sz="2400" dirty="0">
                <a:latin typeface="Arial" panose="020B0604020202020204" pitchFamily="34" charset="0"/>
                <a:cs typeface="Arial" panose="020B0604020202020204" pitchFamily="34" charset="0"/>
              </a:rPr>
              <a:t>c) Si el gas regresa al volumen original mediante un proceso isobárico, ¿cuánto trabajo se consume en el gas?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p:cNvSpPr>
            <a:spLocks noGrp="1"/>
          </p:cNvSpPr>
          <p:nvPr>
            <p:ph type="ftr" sz="quarter" idx="11"/>
          </p:nvPr>
        </p:nvSpPr>
        <p:spPr/>
        <p:txBody>
          <a:bodyPr/>
          <a:lstStyle/>
          <a:p>
            <a:pPr algn="ctr"/>
            <a:r>
              <a:rPr lang="es-CO"/>
              <a:t>Física Ondulatoria</a:t>
            </a:r>
            <a:endParaRPr lang="es-CO" dirty="0"/>
          </a:p>
        </p:txBody>
      </p:sp>
      <p:sp>
        <p:nvSpPr>
          <p:cNvPr id="3" name="Marcador de número de diapositiva 2"/>
          <p:cNvSpPr>
            <a:spLocks noGrp="1"/>
          </p:cNvSpPr>
          <p:nvPr>
            <p:ph type="sldNum" sz="quarter" idx="12"/>
          </p:nvPr>
        </p:nvSpPr>
        <p:spPr/>
        <p:txBody>
          <a:bodyPr/>
          <a:lstStyle/>
          <a:p>
            <a:fld id="{09261294-D4D2-4553-85DE-AE70C6133B6E}" type="slidenum">
              <a:rPr lang="es-CO" smtClean="0"/>
              <a:t>47</a:t>
            </a:fld>
            <a:endParaRPr lang="es-CO" dirty="0"/>
          </a:p>
        </p:txBody>
      </p:sp>
      <p:sp>
        <p:nvSpPr>
          <p:cNvPr id="4" name="Rectángulo 3"/>
          <p:cNvSpPr/>
          <p:nvPr/>
        </p:nvSpPr>
        <p:spPr>
          <a:xfrm>
            <a:off x="490355" y="777472"/>
            <a:ext cx="3849131" cy="461665"/>
          </a:xfrm>
          <a:prstGeom prst="rect">
            <a:avLst/>
          </a:prstGeom>
          <a:effectLst>
            <a:outerShdw blurRad="50800" dist="38100" dir="5400000" algn="t" rotWithShape="0">
              <a:prstClr val="black">
                <a:alpha val="40000"/>
              </a:prstClr>
            </a:outerShdw>
          </a:effectLst>
        </p:spPr>
        <p:txBody>
          <a:bodyPr wrap="none">
            <a:prstTxWarp prst="textWave1">
              <a:avLst/>
            </a:prstTxWarp>
            <a:spAutoFit/>
          </a:bodyPr>
          <a:lstStyle/>
          <a:p>
            <a:r>
              <a:rPr lang="es-MX" sz="2400" b="1" dirty="0">
                <a:ln w="0"/>
                <a:solidFill>
                  <a:srgbClr val="FF0000"/>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¡¡Practica lo aprendido!! No. 4</a:t>
            </a:r>
          </a:p>
        </p:txBody>
      </p:sp>
      <p:sp>
        <p:nvSpPr>
          <p:cNvPr id="12" name="CuadroTexto 11"/>
          <p:cNvSpPr txBox="1"/>
          <p:nvPr/>
        </p:nvSpPr>
        <p:spPr>
          <a:xfrm>
            <a:off x="320746" y="4530648"/>
            <a:ext cx="11539876" cy="2277547"/>
          </a:xfrm>
          <a:prstGeom prst="rect">
            <a:avLst/>
          </a:prstGeom>
          <a:noFill/>
        </p:spPr>
        <p:txBody>
          <a:bodyPr wrap="square">
            <a:spAutoFit/>
          </a:bodyPr>
          <a:lstStyle/>
          <a:p>
            <a:pPr>
              <a:defRPr/>
            </a:pPr>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3. </a:t>
            </a:r>
            <a:r>
              <a:rPr lang="es-MX" sz="2400" dirty="0"/>
              <a:t>Un gas  tiene una presión inicial de 165000 </a:t>
            </a:r>
            <a:r>
              <a:rPr lang="es-MX" sz="2400" dirty="0" err="1"/>
              <a:t>Pa</a:t>
            </a:r>
            <a:r>
              <a:rPr lang="es-MX" sz="2400" dirty="0"/>
              <a:t> y ocupa un volumen de 0.20 m³. La lenta adición de 84000 J de calor al gas hace que se expanda isobáricamente hasta un volumen de 0.40 m³. </a:t>
            </a:r>
          </a:p>
          <a:p>
            <a:pPr marL="342900" indent="-342900">
              <a:buFontTx/>
              <a:buAutoNum type="alphaLcParenR"/>
              <a:defRPr/>
            </a:pPr>
            <a:r>
              <a:rPr lang="es-MX" sz="2400" dirty="0"/>
              <a:t>¿Cuánto trabajo efectúa el gas durante el proceso? </a:t>
            </a:r>
          </a:p>
          <a:p>
            <a:pPr marL="342900" indent="-342900">
              <a:buFontTx/>
              <a:buAutoNum type="alphaLcParenR"/>
              <a:defRPr/>
            </a:pPr>
            <a:r>
              <a:rPr lang="es-MX" sz="2400" dirty="0"/>
              <a:t>¿Cambia la energía interna del gas? Si es así, ¿cuánto cambia?</a:t>
            </a:r>
          </a:p>
          <a:p>
            <a:pPr algn="just"/>
            <a:endParaRPr lang="es-CO" sz="2200" dirty="0">
              <a:latin typeface="Arial" panose="020B0604020202020204" pitchFamily="34" charset="0"/>
              <a:cs typeface="Arial" panose="020B0604020202020204" pitchFamily="34" charset="0"/>
            </a:endParaRPr>
          </a:p>
        </p:txBody>
      </p:sp>
      <p:sp>
        <p:nvSpPr>
          <p:cNvPr id="6" name="Rectángulo 5"/>
          <p:cNvSpPr/>
          <p:nvPr/>
        </p:nvSpPr>
        <p:spPr>
          <a:xfrm>
            <a:off x="384375" y="1317510"/>
            <a:ext cx="7688472" cy="2277547"/>
          </a:xfrm>
          <a:prstGeom prst="rect">
            <a:avLst/>
          </a:prstGeom>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1</a:t>
            </a:r>
            <a:r>
              <a:rPr lang="es-MX" sz="22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s-MX" altLang="es-CO" sz="2400" dirty="0"/>
              <a:t>Una máquina térmica realiza el ciclo termodinámico mostrado en la figura. Conociendo que el calor que absorbe en cada ciclo es 500 J, calcula el trabajo realizado en cada ciclo (1-2, 3-1) , trabajo total y cambio de energía interna en cada ciclo (1-2, 3-1)</a:t>
            </a:r>
            <a:endParaRPr lang="es-CO" altLang="es-CO" sz="2400" dirty="0"/>
          </a:p>
          <a:p>
            <a:pPr algn="just"/>
            <a:r>
              <a:rPr lang="es-MX" sz="22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endParaRPr lang="es-MX" sz="2200" dirty="0">
              <a:latin typeface="Arial" panose="020B0604020202020204" pitchFamily="34" charset="0"/>
              <a:cs typeface="Arial" panose="020B0604020202020204" pitchFamily="34" charset="0"/>
            </a:endParaRPr>
          </a:p>
        </p:txBody>
      </p:sp>
      <p:sp>
        <p:nvSpPr>
          <p:cNvPr id="7" name="CuadroTexto 6"/>
          <p:cNvSpPr txBox="1"/>
          <p:nvPr/>
        </p:nvSpPr>
        <p:spPr>
          <a:xfrm>
            <a:off x="399123" y="3524709"/>
            <a:ext cx="11144220" cy="1169551"/>
          </a:xfrm>
          <a:prstGeom prst="rect">
            <a:avLst/>
          </a:prstGeom>
          <a:noFill/>
        </p:spPr>
        <p:txBody>
          <a:bodyPr wrap="square">
            <a:spAutoFit/>
          </a:bodyPr>
          <a:lstStyle/>
          <a:p>
            <a:pPr algn="just"/>
            <a:r>
              <a:rPr lang="es-MX" sz="22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Ejercicio 2. </a:t>
            </a:r>
            <a:r>
              <a:rPr lang="es-MX" altLang="es-CO" sz="2400" dirty="0"/>
              <a:t>¿Cuál es el incremento en la energía interna de un sistema si se le suministran 700 calorías de calor y se le aplica un trabajo de 900 </a:t>
            </a:r>
            <a:r>
              <a:rPr lang="es-MX" altLang="es-CO" sz="2400" dirty="0" err="1"/>
              <a:t>Joules</a:t>
            </a:r>
            <a:r>
              <a:rPr lang="es-MX" altLang="es-CO" sz="2400" dirty="0"/>
              <a:t>?</a:t>
            </a:r>
            <a:endParaRPr lang="es-CO" altLang="es-CO" sz="2400" dirty="0"/>
          </a:p>
          <a:p>
            <a:pPr algn="just"/>
            <a:endParaRPr lang="es-MX" sz="2200" dirty="0">
              <a:latin typeface="Arial" panose="020B0604020202020204" pitchFamily="34" charset="0"/>
              <a:cs typeface="Arial" panose="020B0604020202020204" pitchFamily="34" charset="0"/>
            </a:endParaRPr>
          </a:p>
        </p:txBody>
      </p:sp>
      <p:pic>
        <p:nvPicPr>
          <p:cNvPr id="9" name="Imagen 8"/>
          <p:cNvPicPr>
            <a:picLocks noChangeAspect="1"/>
          </p:cNvPicPr>
          <p:nvPr/>
        </p:nvPicPr>
        <p:blipFill>
          <a:blip r:embed="rId2"/>
          <a:stretch>
            <a:fillRect/>
          </a:stretch>
        </p:blipFill>
        <p:spPr>
          <a:xfrm>
            <a:off x="8072847" y="834053"/>
            <a:ext cx="3787775" cy="2616200"/>
          </a:xfrm>
          <a:prstGeom prst="rect">
            <a:avLst/>
          </a:prstGeom>
          <a:noFill/>
          <a:ln w="9525">
            <a:noFill/>
          </a:ln>
        </p:spPr>
      </p:pic>
    </p:spTree>
    <p:extLst>
      <p:ext uri="{BB962C8B-B14F-4D97-AF65-F5344CB8AC3E}">
        <p14:creationId xmlns:p14="http://schemas.microsoft.com/office/powerpoint/2010/main" val="981710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D70D3519257EC42A0CA977A2AF8C08D" ma:contentTypeVersion="13" ma:contentTypeDescription="Create a new document." ma:contentTypeScope="" ma:versionID="5e9771a428dd02befe6915fdd90d6fc2">
  <xsd:schema xmlns:xsd="http://www.w3.org/2001/XMLSchema" xmlns:xs="http://www.w3.org/2001/XMLSchema" xmlns:p="http://schemas.microsoft.com/office/2006/metadata/properties" xmlns:ns3="844ca49c-123f-4d6b-9ac4-79ea89062d16" xmlns:ns4="90d748ec-abbe-42c6-a7d9-a3434500bd02" targetNamespace="http://schemas.microsoft.com/office/2006/metadata/properties" ma:root="true" ma:fieldsID="395491bb2346d5f5b9a65045db87ae6f" ns3:_="" ns4:_="">
    <xsd:import namespace="844ca49c-123f-4d6b-9ac4-79ea89062d16"/>
    <xsd:import namespace="90d748ec-abbe-42c6-a7d9-a3434500bd0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MediaServiceObjectDetectorVersions" minOccurs="0"/>
                <xsd:element ref="ns4:_activity"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4ca49c-123f-4d6b-9ac4-79ea89062d1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d748ec-abbe-42c6-a7d9-a3434500bd0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0d748ec-abbe-42c6-a7d9-a3434500bd02" xsi:nil="true"/>
  </documentManagement>
</p:properties>
</file>

<file path=customXml/itemProps1.xml><?xml version="1.0" encoding="utf-8"?>
<ds:datastoreItem xmlns:ds="http://schemas.openxmlformats.org/officeDocument/2006/customXml" ds:itemID="{80178E9A-194A-4CD0-A1D9-CF07C0CDC0BD}">
  <ds:schemaRefs/>
</ds:datastoreItem>
</file>

<file path=customXml/itemProps2.xml><?xml version="1.0" encoding="utf-8"?>
<ds:datastoreItem xmlns:ds="http://schemas.openxmlformats.org/officeDocument/2006/customXml" ds:itemID="{66DC66AE-B619-457D-B3A5-DDF3A2A7812B}">
  <ds:schemaRefs/>
</ds:datastoreItem>
</file>

<file path=customXml/itemProps3.xml><?xml version="1.0" encoding="utf-8"?>
<ds:datastoreItem xmlns:ds="http://schemas.openxmlformats.org/officeDocument/2006/customXml" ds:itemID="{44DEAF86-0FCD-4657-896F-A624DD343A38}">
  <ds:schemaRefs/>
</ds:datastoreItem>
</file>

<file path=docProps/app.xml><?xml version="1.0" encoding="utf-8"?>
<Properties xmlns="http://schemas.openxmlformats.org/officeDocument/2006/extended-properties" xmlns:vt="http://schemas.openxmlformats.org/officeDocument/2006/docPropsVTypes">
  <TotalTime>177</TotalTime>
  <Words>3032</Words>
  <Application>Microsoft Office PowerPoint</Application>
  <PresentationFormat>Panorámica</PresentationFormat>
  <Paragraphs>305</Paragraphs>
  <Slides>47</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47</vt:i4>
      </vt:variant>
    </vt:vector>
  </HeadingPairs>
  <TitlesOfParts>
    <vt:vector size="55" baseType="lpstr">
      <vt:lpstr>Arial</vt:lpstr>
      <vt:lpstr>Calibri</vt:lpstr>
      <vt:lpstr>Calibri Light</vt:lpstr>
      <vt:lpstr>Cambria Math</vt:lpstr>
      <vt:lpstr>NewBaskerville-Roman</vt:lpstr>
      <vt:lpstr>Times New Roman</vt:lpstr>
      <vt:lpstr>Times-Roman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FISICA CALOR Y ONDAS</dc:title>
  <dc:creator>USUARIO</dc:creator>
  <cp:lastModifiedBy>Margarita Guerrero peñas</cp:lastModifiedBy>
  <cp:revision>627</cp:revision>
  <dcterms:created xsi:type="dcterms:W3CDTF">2021-08-04T14:37:00Z</dcterms:created>
  <dcterms:modified xsi:type="dcterms:W3CDTF">2025-07-28T23:03:42Z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0x010100FD70D3519257EC42A0CA977A2AF8C08D</vt:lpwstr>
  </property>
  <property fmtid="{D5CDD505-2E9C-101B-9397-08002B2CF9AE}" pid="3" name="ICV">
    <vt:lpwstr>DC74664CB7204C24A9DF86B163A017D4_12</vt:lpwstr>
  </property>
  <property fmtid="{D5CDD505-2E9C-101B-9397-08002B2CF9AE}" pid="4" name="KSOProductBuildVer">
    <vt:lpwstr>3082-12.2.0.20795</vt:lpwstr>
  </property>
</Properties>
</file>