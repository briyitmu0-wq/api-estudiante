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3" r:id="rId7"/>
    <p:sldId id="258" r:id="rId8"/>
    <p:sldId id="259" r:id="rId9"/>
    <p:sldId id="260" r:id="rId10"/>
    <p:sldId id="261" r:id="rId11"/>
    <p:sldId id="262" r:id="rId12"/>
    <p:sldId id="264"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90" d="100"/>
          <a:sy n="90" d="100"/>
        </p:scale>
        <p:origin x="-42"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759BF0A7-99EA-41CE-B2EB-4DA48A3C5205}" type="datetimeFigureOut">
              <a:rPr lang="es-CO" smtClean="0"/>
              <a:t>2/12/2021</a:t>
            </a:fld>
            <a:endParaRPr lang="es-CO"/>
          </a:p>
        </p:txBody>
      </p:sp>
      <p:sp>
        <p:nvSpPr>
          <p:cNvPr id="5" name="Footer Placeholder 4"/>
          <p:cNvSpPr>
            <a:spLocks noGrp="1"/>
          </p:cNvSpPr>
          <p:nvPr>
            <p:ph type="ftr" sz="quarter" idx="11"/>
          </p:nvPr>
        </p:nvSpPr>
        <p:spPr>
          <a:xfrm>
            <a:off x="1371600" y="4323845"/>
            <a:ext cx="6400800" cy="365125"/>
          </a:xfrm>
        </p:spPr>
        <p:txBody>
          <a:bodyPr/>
          <a:lstStyle/>
          <a:p>
            <a:endParaRPr lang="es-CO"/>
          </a:p>
        </p:txBody>
      </p:sp>
      <p:sp>
        <p:nvSpPr>
          <p:cNvPr id="6" name="Slide Number Placeholder 5"/>
          <p:cNvSpPr>
            <a:spLocks noGrp="1"/>
          </p:cNvSpPr>
          <p:nvPr>
            <p:ph type="sldNum" sz="quarter" idx="12"/>
          </p:nvPr>
        </p:nvSpPr>
        <p:spPr>
          <a:xfrm>
            <a:off x="8077200" y="1430866"/>
            <a:ext cx="2743200" cy="365125"/>
          </a:xfrm>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2581951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59BF0A7-99EA-41CE-B2EB-4DA48A3C5205}" type="datetimeFigureOut">
              <a:rPr lang="es-CO" smtClean="0"/>
              <a:t>2/12/2021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2329895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759BF0A7-99EA-41CE-B2EB-4DA48A3C5205}" type="datetimeFigureOut">
              <a:rPr lang="es-CO" smtClean="0"/>
              <a:t>2/12/2021</a:t>
            </a:fld>
            <a:endParaRPr lang="es-CO"/>
          </a:p>
        </p:txBody>
      </p:sp>
      <p:sp>
        <p:nvSpPr>
          <p:cNvPr id="5" name="Footer Placeholder 4"/>
          <p:cNvSpPr>
            <a:spLocks noGrp="1"/>
          </p:cNvSpPr>
          <p:nvPr>
            <p:ph type="ftr" sz="quarter" idx="11"/>
          </p:nvPr>
        </p:nvSpPr>
        <p:spPr>
          <a:xfrm>
            <a:off x="685800" y="381001"/>
            <a:ext cx="6991492" cy="364065"/>
          </a:xfrm>
        </p:spPr>
        <p:txBody>
          <a:bodyPr/>
          <a:lstStyle/>
          <a:p>
            <a:endParaRPr lang="es-CO"/>
          </a:p>
        </p:txBody>
      </p:sp>
      <p:sp>
        <p:nvSpPr>
          <p:cNvPr id="6" name="Slide Number Placeholder 5"/>
          <p:cNvSpPr>
            <a:spLocks noGrp="1"/>
          </p:cNvSpPr>
          <p:nvPr>
            <p:ph type="sldNum" sz="quarter" idx="12"/>
          </p:nvPr>
        </p:nvSpPr>
        <p:spPr>
          <a:xfrm>
            <a:off x="10862452" y="381000"/>
            <a:ext cx="643748" cy="365125"/>
          </a:xfrm>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367945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59BF0A7-99EA-41CE-B2EB-4DA48A3C5205}" type="datetimeFigureOut">
              <a:rPr lang="es-CO" smtClean="0"/>
              <a:t>2/12/2021</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919588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0" y="3132666"/>
            <a:ext cx="5311775" cy="308601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132666"/>
            <a:ext cx="5334000" cy="308601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59BF0A7-99EA-41CE-B2EB-4DA48A3C5205}" type="datetimeFigureOut">
              <a:rPr lang="es-CO" smtClean="0"/>
              <a:t>2/12/2021</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1808781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59BF0A7-99EA-41CE-B2EB-4DA48A3C5205}" type="datetimeFigureOut">
              <a:rPr lang="es-CO" smtClean="0"/>
              <a:t>2/12/2021</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2913281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9BF0A7-99EA-41CE-B2EB-4DA48A3C5205}" type="datetimeFigureOut">
              <a:rPr lang="es-CO" smtClean="0"/>
              <a:t>2/12/2021</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3910847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59BF0A7-99EA-41CE-B2EB-4DA48A3C5205}" type="datetimeFigureOut">
              <a:rPr lang="es-CO" smtClean="0"/>
              <a:t>2/12/2021</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2551635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59BF0A7-99EA-41CE-B2EB-4DA48A3C5205}" type="datetimeFigureOut">
              <a:rPr lang="es-CO" smtClean="0"/>
              <a:t>2/12/2021</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1370597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59BF0A7-99EA-41CE-B2EB-4DA48A3C5205}" type="datetimeFigureOut">
              <a:rPr lang="es-CO" smtClean="0"/>
              <a:t>2/12/2021</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374734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59BF0A7-99EA-41CE-B2EB-4DA48A3C5205}" type="datetimeFigureOut">
              <a:rPr lang="es-CO" smtClean="0"/>
              <a:t>2/12/2021</a:t>
            </a:fld>
            <a:endParaRPr lang="es-CO"/>
          </a:p>
        </p:txBody>
      </p:sp>
      <p:sp>
        <p:nvSpPr>
          <p:cNvPr id="6" name="Footer Placeholder 5"/>
          <p:cNvSpPr>
            <a:spLocks noGrp="1"/>
          </p:cNvSpPr>
          <p:nvPr>
            <p:ph type="ftr" sz="quarter" idx="11"/>
          </p:nvPr>
        </p:nvSpPr>
        <p:spPr>
          <a:xfrm>
            <a:off x="685800" y="379941"/>
            <a:ext cx="6991492" cy="365125"/>
          </a:xfrm>
        </p:spPr>
        <p:txBody>
          <a:bodyPr/>
          <a:lstStyle/>
          <a:p>
            <a:endParaRPr lang="es-CO"/>
          </a:p>
        </p:txBody>
      </p:sp>
      <p:sp>
        <p:nvSpPr>
          <p:cNvPr id="7" name="Slide Number Placeholder 6"/>
          <p:cNvSpPr>
            <a:spLocks noGrp="1"/>
          </p:cNvSpPr>
          <p:nvPr>
            <p:ph type="sldNum" sz="quarter" idx="12"/>
          </p:nvPr>
        </p:nvSpPr>
        <p:spPr>
          <a:xfrm>
            <a:off x="10862452" y="381000"/>
            <a:ext cx="643748" cy="365125"/>
          </a:xfrm>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3686991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59BF0A7-99EA-41CE-B2EB-4DA48A3C5205}" type="datetimeFigureOut">
              <a:rPr lang="es-CO" smtClean="0"/>
              <a:t>2/12/2021</a:t>
            </a:fld>
            <a:endParaRPr lang="es-CO"/>
          </a:p>
        </p:txBody>
      </p:sp>
      <p:sp>
        <p:nvSpPr>
          <p:cNvPr id="6" name="Footer Placeholder 5"/>
          <p:cNvSpPr>
            <a:spLocks noGrp="1"/>
          </p:cNvSpPr>
          <p:nvPr>
            <p:ph type="ftr" sz="quarter" idx="11"/>
          </p:nvPr>
        </p:nvSpPr>
        <p:spPr>
          <a:xfrm>
            <a:off x="685800" y="379941"/>
            <a:ext cx="6991492" cy="365125"/>
          </a:xfrm>
        </p:spPr>
        <p:txBody>
          <a:bodyPr/>
          <a:lstStyle/>
          <a:p>
            <a:endParaRPr lang="es-CO"/>
          </a:p>
        </p:txBody>
      </p:sp>
      <p:sp>
        <p:nvSpPr>
          <p:cNvPr id="7" name="Slide Number Placeholder 6"/>
          <p:cNvSpPr>
            <a:spLocks noGrp="1"/>
          </p:cNvSpPr>
          <p:nvPr>
            <p:ph type="sldNum" sz="quarter" idx="12"/>
          </p:nvPr>
        </p:nvSpPr>
        <p:spPr>
          <a:xfrm>
            <a:off x="10862452" y="381000"/>
            <a:ext cx="643748" cy="365125"/>
          </a:xfrm>
        </p:spPr>
        <p:txBody>
          <a:bodyPr/>
          <a:lstStyle/>
          <a:p>
            <a:fld id="{B55FFF99-7F59-44ED-B50C-1E993DF57184}" type="slidenum">
              <a:rPr lang="es-CO" smtClean="0"/>
              <a:t>‹Nº›</a:t>
            </a:fld>
            <a:endParaRPr lang="es-CO"/>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03100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759BF0A7-99EA-41CE-B2EB-4DA48A3C5205}" type="datetimeFigureOut">
              <a:rPr lang="es-CO" smtClean="0"/>
              <a:t>2/12/2021</a:t>
            </a:fld>
            <a:endParaRPr lang="es-CO"/>
          </a:p>
        </p:txBody>
      </p:sp>
      <p:sp>
        <p:nvSpPr>
          <p:cNvPr id="6" name="Footer Placeholder 5"/>
          <p:cNvSpPr>
            <a:spLocks noGrp="1"/>
          </p:cNvSpPr>
          <p:nvPr>
            <p:ph type="ftr" sz="quarter" idx="11"/>
          </p:nvPr>
        </p:nvSpPr>
        <p:spPr>
          <a:xfrm>
            <a:off x="685800" y="378883"/>
            <a:ext cx="6991492" cy="365125"/>
          </a:xfrm>
        </p:spPr>
        <p:txBody>
          <a:bodyPr/>
          <a:lstStyle/>
          <a:p>
            <a:endParaRPr lang="es-CO"/>
          </a:p>
        </p:txBody>
      </p:sp>
      <p:sp>
        <p:nvSpPr>
          <p:cNvPr id="7" name="Slide Number Placeholder 6"/>
          <p:cNvSpPr>
            <a:spLocks noGrp="1"/>
          </p:cNvSpPr>
          <p:nvPr>
            <p:ph type="sldNum" sz="quarter" idx="12"/>
          </p:nvPr>
        </p:nvSpPr>
        <p:spPr>
          <a:xfrm>
            <a:off x="10862452" y="381000"/>
            <a:ext cx="643748" cy="365125"/>
          </a:xfrm>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1106194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759BF0A7-99EA-41CE-B2EB-4DA48A3C5205}" type="datetimeFigureOut">
              <a:rPr lang="es-CO" smtClean="0"/>
              <a:t>2/12/2021</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1400810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759BF0A7-99EA-41CE-B2EB-4DA48A3C5205}" type="datetimeFigureOut">
              <a:rPr lang="es-CO" smtClean="0"/>
              <a:t>2/12/2021</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779258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59BF0A7-99EA-41CE-B2EB-4DA48A3C5205}" type="datetimeFigureOut">
              <a:rPr lang="es-CO" smtClean="0"/>
              <a:t>2/12/2021</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2336658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759BF0A7-99EA-41CE-B2EB-4DA48A3C5205}" type="datetimeFigureOut">
              <a:rPr lang="es-CO" smtClean="0"/>
              <a:t>2/12/2021</a:t>
            </a:fld>
            <a:endParaRPr lang="es-CO"/>
          </a:p>
        </p:txBody>
      </p:sp>
      <p:sp>
        <p:nvSpPr>
          <p:cNvPr id="5" name="Footer Placeholder 4"/>
          <p:cNvSpPr>
            <a:spLocks noGrp="1"/>
          </p:cNvSpPr>
          <p:nvPr>
            <p:ph type="ftr" sz="quarter" idx="11"/>
          </p:nvPr>
        </p:nvSpPr>
        <p:spPr>
          <a:xfrm>
            <a:off x="685800" y="381000"/>
            <a:ext cx="6991492" cy="365125"/>
          </a:xfrm>
        </p:spPr>
        <p:txBody>
          <a:bodyPr/>
          <a:lstStyle/>
          <a:p>
            <a:endParaRPr lang="es-CO"/>
          </a:p>
        </p:txBody>
      </p:sp>
      <p:sp>
        <p:nvSpPr>
          <p:cNvPr id="6" name="Slide Number Placeholder 5"/>
          <p:cNvSpPr>
            <a:spLocks noGrp="1"/>
          </p:cNvSpPr>
          <p:nvPr>
            <p:ph type="sldNum" sz="quarter" idx="12"/>
          </p:nvPr>
        </p:nvSpPr>
        <p:spPr>
          <a:xfrm>
            <a:off x="10862452" y="381000"/>
            <a:ext cx="643748" cy="365125"/>
          </a:xfrm>
        </p:spPr>
        <p:txBody>
          <a:bodyPr/>
          <a:lstStyle/>
          <a:p>
            <a:fld id="{B55FFF99-7F59-44ED-B50C-1E993DF57184}" type="slidenum">
              <a:rPr lang="es-CO" smtClean="0"/>
              <a:t>‹Nº›</a:t>
            </a:fld>
            <a:endParaRPr lang="es-CO"/>
          </a:p>
        </p:txBody>
      </p:sp>
    </p:spTree>
    <p:extLst>
      <p:ext uri="{BB962C8B-B14F-4D97-AF65-F5344CB8AC3E}">
        <p14:creationId xmlns:p14="http://schemas.microsoft.com/office/powerpoint/2010/main" val="1477431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59BF0A7-99EA-41CE-B2EB-4DA48A3C5205}" type="datetimeFigureOut">
              <a:rPr lang="es-CO" smtClean="0"/>
              <a:t>2/12/2021</a:t>
            </a:fld>
            <a:endParaRPr lang="es-CO"/>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55FFF99-7F59-44ED-B50C-1E993DF57184}" type="slidenum">
              <a:rPr lang="es-CO" smtClean="0"/>
              <a:t>‹Nº›</a:t>
            </a:fld>
            <a:endParaRPr lang="es-CO"/>
          </a:p>
        </p:txBody>
      </p:sp>
    </p:spTree>
    <p:extLst>
      <p:ext uri="{BB962C8B-B14F-4D97-AF65-F5344CB8AC3E}">
        <p14:creationId xmlns:p14="http://schemas.microsoft.com/office/powerpoint/2010/main" val="140629414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S1VwDfagHss" TargetMode="External"/><Relationship Id="rId2" Type="http://schemas.openxmlformats.org/officeDocument/2006/relationships/hyperlink" Target="https://www.youtube.com/watch?v=qVngppqKq_c"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SBYJbnUCTQE"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V8HuVaaHKo"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63E7A4-A272-4644-BE74-78D761FC59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03C5846-EA59-4F5C-87F1-D783CEF81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9873"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10EC9341-0F0E-4576-8E72-2A90C9422C6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3459450" y="2187575"/>
            <a:ext cx="6857999" cy="2482850"/>
          </a:xfrm>
          <a:prstGeom prst="rect">
            <a:avLst/>
          </a:prstGeom>
        </p:spPr>
      </p:pic>
      <p:sp>
        <p:nvSpPr>
          <p:cNvPr id="2" name="Título 1">
            <a:extLst>
              <a:ext uri="{FF2B5EF4-FFF2-40B4-BE49-F238E27FC236}">
                <a16:creationId xmlns:a16="http://schemas.microsoft.com/office/drawing/2014/main" id="{CD222F54-71D1-42E7-8DB5-D9AE5938895F}"/>
              </a:ext>
            </a:extLst>
          </p:cNvPr>
          <p:cNvSpPr>
            <a:spLocks noGrp="1"/>
          </p:cNvSpPr>
          <p:nvPr>
            <p:ph type="ctrTitle"/>
          </p:nvPr>
        </p:nvSpPr>
        <p:spPr>
          <a:xfrm>
            <a:off x="792483" y="821265"/>
            <a:ext cx="6326774" cy="5222117"/>
          </a:xfrm>
        </p:spPr>
        <p:txBody>
          <a:bodyPr anchor="ctr">
            <a:normAutofit/>
          </a:bodyPr>
          <a:lstStyle/>
          <a:p>
            <a:pPr algn="r"/>
            <a:r>
              <a:rPr lang="es-CO" sz="5400" dirty="0">
                <a:solidFill>
                  <a:srgbClr val="FFFFFF"/>
                </a:solidFill>
              </a:rPr>
              <a:t>PRINCIPIOS-CRITERIOS Y JUICIOS CRÍTICOS</a:t>
            </a:r>
          </a:p>
        </p:txBody>
      </p:sp>
      <p:sp>
        <p:nvSpPr>
          <p:cNvPr id="3" name="Subtítulo 2">
            <a:extLst>
              <a:ext uri="{FF2B5EF4-FFF2-40B4-BE49-F238E27FC236}">
                <a16:creationId xmlns:a16="http://schemas.microsoft.com/office/drawing/2014/main" id="{CAD207E7-6902-4684-A7CE-9D087C8745CF}"/>
              </a:ext>
            </a:extLst>
          </p:cNvPr>
          <p:cNvSpPr>
            <a:spLocks noGrp="1"/>
          </p:cNvSpPr>
          <p:nvPr>
            <p:ph type="subTitle" idx="1"/>
          </p:nvPr>
        </p:nvSpPr>
        <p:spPr>
          <a:xfrm>
            <a:off x="8392885" y="821265"/>
            <a:ext cx="3243944" cy="5222117"/>
          </a:xfrm>
        </p:spPr>
        <p:txBody>
          <a:bodyPr anchor="ctr">
            <a:normAutofit/>
          </a:bodyPr>
          <a:lstStyle/>
          <a:p>
            <a:r>
              <a:rPr lang="es-CO" dirty="0"/>
              <a:t>SABER SER YO </a:t>
            </a:r>
          </a:p>
        </p:txBody>
      </p:sp>
    </p:spTree>
    <p:extLst>
      <p:ext uri="{BB962C8B-B14F-4D97-AF65-F5344CB8AC3E}">
        <p14:creationId xmlns:p14="http://schemas.microsoft.com/office/powerpoint/2010/main" val="524314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E4DACC-361F-4FF5-A722-740653887ADE}"/>
              </a:ext>
            </a:extLst>
          </p:cNvPr>
          <p:cNvSpPr>
            <a:spLocks noGrp="1"/>
          </p:cNvSpPr>
          <p:nvPr>
            <p:ph type="title"/>
          </p:nvPr>
        </p:nvSpPr>
        <p:spPr/>
        <p:txBody>
          <a:bodyPr/>
          <a:lstStyle/>
          <a:p>
            <a:r>
              <a:rPr lang="es-CO" dirty="0"/>
              <a:t>Los principios: </a:t>
            </a:r>
          </a:p>
        </p:txBody>
      </p:sp>
      <p:sp>
        <p:nvSpPr>
          <p:cNvPr id="3" name="Marcador de contenido 2">
            <a:extLst>
              <a:ext uri="{FF2B5EF4-FFF2-40B4-BE49-F238E27FC236}">
                <a16:creationId xmlns:a16="http://schemas.microsoft.com/office/drawing/2014/main" id="{7E0B1372-127A-45B0-9AD3-61615028EBB8}"/>
              </a:ext>
            </a:extLst>
          </p:cNvPr>
          <p:cNvSpPr>
            <a:spLocks noGrp="1"/>
          </p:cNvSpPr>
          <p:nvPr>
            <p:ph idx="1"/>
          </p:nvPr>
        </p:nvSpPr>
        <p:spPr/>
        <p:txBody>
          <a:bodyPr>
            <a:normAutofit/>
          </a:bodyPr>
          <a:lstStyle/>
          <a:p>
            <a:r>
              <a:rPr lang="es-CO" dirty="0"/>
              <a:t>Son el conjunto de valores, creencias, normas, que orientan y regulan la vida de las  personas y organizaciones.</a:t>
            </a:r>
          </a:p>
          <a:p>
            <a:r>
              <a:rPr lang="es-CO" dirty="0"/>
              <a:t>Son el soporte de la visión, la misión, la estrategia y los objetivos. Estos principios se manifiestan y se hacen realidad en nuestra cultura, en nuestra forma de ser, pensar y conducirnos.</a:t>
            </a:r>
          </a:p>
          <a:p>
            <a:r>
              <a:rPr lang="es-CO" dirty="0"/>
              <a:t>Son un movimiento político que lucha por la libertad, la justicia social, la igualdad y la solidaridad en nuestro país y en el mundo. Nuestra meta es un país en paz, en el que puedan realizarse estos valores fundamentales, en el que cada individuo pueda vivir una vida plena desarrollando su personalidad y sus capacidades, y en el que los derechos humanos y civiles estén amparados en el marco de una sociedad democrática. </a:t>
            </a:r>
          </a:p>
        </p:txBody>
      </p:sp>
    </p:spTree>
    <p:extLst>
      <p:ext uri="{BB962C8B-B14F-4D97-AF65-F5344CB8AC3E}">
        <p14:creationId xmlns:p14="http://schemas.microsoft.com/office/powerpoint/2010/main" val="150317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7BE69D-1F8A-4E5E-8D2D-08A7F47E3265}"/>
              </a:ext>
            </a:extLst>
          </p:cNvPr>
          <p:cNvSpPr>
            <a:spLocks noGrp="1"/>
          </p:cNvSpPr>
          <p:nvPr>
            <p:ph type="title"/>
          </p:nvPr>
        </p:nvSpPr>
        <p:spPr>
          <a:xfrm>
            <a:off x="648929" y="629266"/>
            <a:ext cx="3505495" cy="1622321"/>
          </a:xfrm>
        </p:spPr>
        <p:txBody>
          <a:bodyPr>
            <a:normAutofit/>
          </a:bodyPr>
          <a:lstStyle/>
          <a:p>
            <a:r>
              <a:rPr lang="es-CO" dirty="0"/>
              <a:t>Observamos </a:t>
            </a:r>
          </a:p>
        </p:txBody>
      </p:sp>
      <p:sp>
        <p:nvSpPr>
          <p:cNvPr id="3" name="Marcador de contenido 2">
            <a:extLst>
              <a:ext uri="{FF2B5EF4-FFF2-40B4-BE49-F238E27FC236}">
                <a16:creationId xmlns:a16="http://schemas.microsoft.com/office/drawing/2014/main" id="{6046052B-7EB4-45C9-B8D5-07369781CC74}"/>
              </a:ext>
            </a:extLst>
          </p:cNvPr>
          <p:cNvSpPr>
            <a:spLocks noGrp="1"/>
          </p:cNvSpPr>
          <p:nvPr>
            <p:ph idx="1"/>
          </p:nvPr>
        </p:nvSpPr>
        <p:spPr>
          <a:xfrm>
            <a:off x="648931" y="2438400"/>
            <a:ext cx="3505494" cy="3785419"/>
          </a:xfrm>
        </p:spPr>
        <p:txBody>
          <a:bodyPr>
            <a:normAutofit/>
          </a:bodyPr>
          <a:lstStyle/>
          <a:p>
            <a:r>
              <a:rPr lang="es-CO" sz="2000" dirty="0">
                <a:hlinkClick r:id="rId2"/>
              </a:rPr>
              <a:t>https://www.youtube.com/watch?v=qVngppqKq_c</a:t>
            </a:r>
            <a:endParaRPr lang="es-CO" sz="2000" dirty="0"/>
          </a:p>
          <a:p>
            <a:pPr marL="0" indent="0">
              <a:buNone/>
            </a:pPr>
            <a:r>
              <a:rPr lang="es-CO" sz="2000" dirty="0"/>
              <a:t>Ejemplo: </a:t>
            </a:r>
          </a:p>
          <a:p>
            <a:pPr marL="0" indent="0">
              <a:buNone/>
            </a:pPr>
            <a:r>
              <a:rPr lang="es-CO" sz="2000" dirty="0">
                <a:hlinkClick r:id="rId3"/>
              </a:rPr>
              <a:t>https://www.youtube.com/watch?v=S1VwDfagHss</a:t>
            </a:r>
            <a:endParaRPr lang="es-CO" sz="2000" dirty="0"/>
          </a:p>
          <a:p>
            <a:pPr marL="0" indent="0">
              <a:buNone/>
            </a:pPr>
            <a:endParaRPr lang="es-CO" sz="2000" dirty="0"/>
          </a:p>
        </p:txBody>
      </p:sp>
      <p:pic>
        <p:nvPicPr>
          <p:cNvPr id="3074" name="Picture 2" descr="Diagrama&#10;&#10;Descripción generada automáticamente">
            <a:extLst>
              <a:ext uri="{FF2B5EF4-FFF2-40B4-BE49-F238E27FC236}">
                <a16:creationId xmlns:a16="http://schemas.microsoft.com/office/drawing/2014/main" id="{02932565-8E2C-4776-B778-C6439CAE93F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405862" y="1163910"/>
            <a:ext cx="6019331" cy="4526934"/>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891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8B1DC0-7E2A-4AE8-866F-90C37FECA5F5}"/>
              </a:ext>
            </a:extLst>
          </p:cNvPr>
          <p:cNvSpPr>
            <a:spLocks noGrp="1"/>
          </p:cNvSpPr>
          <p:nvPr>
            <p:ph type="title"/>
          </p:nvPr>
        </p:nvSpPr>
        <p:spPr>
          <a:xfrm>
            <a:off x="648929" y="629266"/>
            <a:ext cx="3505495" cy="1622321"/>
          </a:xfrm>
        </p:spPr>
        <p:txBody>
          <a:bodyPr>
            <a:normAutofit/>
          </a:bodyPr>
          <a:lstStyle/>
          <a:p>
            <a:r>
              <a:rPr lang="es-CO" dirty="0"/>
              <a:t>CRITERIO: </a:t>
            </a:r>
          </a:p>
        </p:txBody>
      </p:sp>
      <p:sp>
        <p:nvSpPr>
          <p:cNvPr id="3" name="Marcador de contenido 2">
            <a:extLst>
              <a:ext uri="{FF2B5EF4-FFF2-40B4-BE49-F238E27FC236}">
                <a16:creationId xmlns:a16="http://schemas.microsoft.com/office/drawing/2014/main" id="{75EC2ACC-49EC-4EA8-BFA0-F64266A59FBD}"/>
              </a:ext>
            </a:extLst>
          </p:cNvPr>
          <p:cNvSpPr>
            <a:spLocks noGrp="1"/>
          </p:cNvSpPr>
          <p:nvPr>
            <p:ph idx="1"/>
          </p:nvPr>
        </p:nvSpPr>
        <p:spPr>
          <a:xfrm>
            <a:off x="648931" y="2438400"/>
            <a:ext cx="3505494" cy="3785419"/>
          </a:xfrm>
        </p:spPr>
        <p:txBody>
          <a:bodyPr>
            <a:normAutofit lnSpcReduction="10000"/>
          </a:bodyPr>
          <a:lstStyle/>
          <a:p>
            <a:r>
              <a:rPr lang="es-CO" sz="2000" dirty="0"/>
              <a:t>El termino criterio tiene su origen en un vocablo griego que significa “juzgar”. El criterio es el juicio o discernimiento de una persona.</a:t>
            </a:r>
          </a:p>
          <a:p>
            <a:r>
              <a:rPr lang="es-CO" sz="2000" dirty="0"/>
              <a:t>Por ejemplo: “A mi criterio, el árbitro tendría que haber sancionado falta contra el arquero”, “El criterio artístico de estas polémicas obras es cuestionado por muchas personas”.</a:t>
            </a:r>
          </a:p>
          <a:p>
            <a:endParaRPr lang="es-CO" sz="2000" dirty="0"/>
          </a:p>
        </p:txBody>
      </p:sp>
      <p:pic>
        <p:nvPicPr>
          <p:cNvPr id="1029" name="Picture 5" descr="Subjetividad">
            <a:extLst>
              <a:ext uri="{FF2B5EF4-FFF2-40B4-BE49-F238E27FC236}">
                <a16:creationId xmlns:a16="http://schemas.microsoft.com/office/drawing/2014/main" id="{25DAC43B-1524-44E2-8F49-F425488668D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5862" y="2088076"/>
            <a:ext cx="6019331" cy="267860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6362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6A3F16E-CC60-4737-8CBB-9568A351D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DABE73-66EA-42B0-AB0A-9FB1C0AD7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1E4917B9-5D95-4999-9E13-3568EDD423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264032" y="2187576"/>
            <a:ext cx="6857999" cy="2482850"/>
          </a:xfrm>
          <a:prstGeom prst="rect">
            <a:avLst/>
          </a:prstGeom>
        </p:spPr>
      </p:pic>
      <p:sp>
        <p:nvSpPr>
          <p:cNvPr id="3" name="Marcador de contenido 2">
            <a:extLst>
              <a:ext uri="{FF2B5EF4-FFF2-40B4-BE49-F238E27FC236}">
                <a16:creationId xmlns:a16="http://schemas.microsoft.com/office/drawing/2014/main" id="{FDE6E7AB-4DA0-4DE8-A1E0-0EAB7BA7384E}"/>
              </a:ext>
            </a:extLst>
          </p:cNvPr>
          <p:cNvSpPr>
            <a:spLocks noGrp="1"/>
          </p:cNvSpPr>
          <p:nvPr>
            <p:ph idx="1"/>
          </p:nvPr>
        </p:nvSpPr>
        <p:spPr>
          <a:xfrm>
            <a:off x="4090507" y="2628900"/>
            <a:ext cx="7454077" cy="3589785"/>
          </a:xfrm>
        </p:spPr>
        <p:txBody>
          <a:bodyPr>
            <a:normAutofit/>
          </a:bodyPr>
          <a:lstStyle/>
          <a:p>
            <a:pPr marL="0" indent="0">
              <a:buNone/>
            </a:pPr>
            <a:r>
              <a:rPr lang="es-CO" sz="1700"/>
              <a:t>El criterio y lo subjetivo</a:t>
            </a:r>
          </a:p>
          <a:p>
            <a:r>
              <a:rPr lang="es-CO" sz="1700"/>
              <a:t>El criterio, por lo tanto, es una especie de condición subjetiva que permite concretar una elección. Se trata, en definitiva, de aquello que sustenta un juicio de valor.</a:t>
            </a:r>
          </a:p>
          <a:p>
            <a:r>
              <a:rPr lang="es-CO" sz="1700"/>
              <a:t>Una misma situación puede entenderse de formas distintas de acuerdo al criterio. Si una madre le da una bofetada a su hijo cuando éste la desobedece, algunas personas estarán de acuerdo y otras condenarán la acción. De acuerdo al criterio del primer grupo, la bofetada supone un castigo que sirve como lección y mejora la conducta del niño. Quienes no están a favor, en cambio, tendrán un criterio diferente al creer que el castigo físico nunca es positivo.</a:t>
            </a:r>
          </a:p>
        </p:txBody>
      </p:sp>
    </p:spTree>
    <p:extLst>
      <p:ext uri="{BB962C8B-B14F-4D97-AF65-F5344CB8AC3E}">
        <p14:creationId xmlns:p14="http://schemas.microsoft.com/office/powerpoint/2010/main" val="277848274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8A195E-584A-485A-BECD-66468900B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0177A7-740C-43C7-8F2D-BD7067F12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solidFill>
            <a:schemeClr val="bg1">
              <a:lumMod val="95000"/>
              <a:lumOff val="5000"/>
            </a:schemeClr>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FF525AAA-82CE-4027-A26C-B0EFFD856F2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265719" y="2187575"/>
            <a:ext cx="6857999" cy="2482850"/>
          </a:xfrm>
          <a:prstGeom prst="rect">
            <a:avLst/>
          </a:prstGeom>
        </p:spPr>
      </p:pic>
      <p:sp>
        <p:nvSpPr>
          <p:cNvPr id="3" name="Marcador de contenido 2">
            <a:extLst>
              <a:ext uri="{FF2B5EF4-FFF2-40B4-BE49-F238E27FC236}">
                <a16:creationId xmlns:a16="http://schemas.microsoft.com/office/drawing/2014/main" id="{3ED8DDEC-20BC-412C-9874-1F5C121DC8A1}"/>
              </a:ext>
            </a:extLst>
          </p:cNvPr>
          <p:cNvSpPr>
            <a:spLocks noGrp="1"/>
          </p:cNvSpPr>
          <p:nvPr>
            <p:ph idx="1"/>
          </p:nvPr>
        </p:nvSpPr>
        <p:spPr>
          <a:xfrm>
            <a:off x="4090507" y="2628900"/>
            <a:ext cx="7454077" cy="3589785"/>
          </a:xfrm>
        </p:spPr>
        <p:txBody>
          <a:bodyPr>
            <a:normAutofit/>
          </a:bodyPr>
          <a:lstStyle/>
          <a:p>
            <a:pPr marL="0" indent="0">
              <a:buNone/>
            </a:pPr>
            <a:r>
              <a:rPr lang="es-CO" sz="1700"/>
              <a:t>Un requisito</a:t>
            </a:r>
          </a:p>
          <a:p>
            <a:r>
              <a:rPr lang="es-CO" sz="1700"/>
              <a:t>Un criterio también es un requisito que debe ser respetado para alcanzar un cierto objetivo o satisfacer una necesidad.</a:t>
            </a:r>
          </a:p>
          <a:p>
            <a:endParaRPr lang="es-CO" sz="1700"/>
          </a:p>
          <a:p>
            <a:r>
              <a:rPr lang="es-CO" sz="1700"/>
              <a:t>En este sentido, es decir, partiendo de dicha acepción nos encontramos con una gran variedad de importantes criterios. Así, por ejemplo, podríamos citar lo que se conoce como criterios de estabilidad. Los mismos podemos establecer que hacen referencia al conjunto de normas o leyes que debe cumplir a rajatabla una embarcación para conseguir la seguridad necesaria que evite que pueda volcar. Entre aquellos destacan los criterios de dinámica, amplitud del balance o altura metacéntrica.</a:t>
            </a:r>
          </a:p>
        </p:txBody>
      </p:sp>
    </p:spTree>
    <p:extLst>
      <p:ext uri="{BB962C8B-B14F-4D97-AF65-F5344CB8AC3E}">
        <p14:creationId xmlns:p14="http://schemas.microsoft.com/office/powerpoint/2010/main" val="2565850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8A195E-584A-485A-BECD-66468900B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52AC952-D176-4ED1-B197-830ADF7566FC}"/>
              </a:ext>
            </a:extLst>
          </p:cNvPr>
          <p:cNvSpPr>
            <a:spLocks noGrp="1"/>
          </p:cNvSpPr>
          <p:nvPr>
            <p:ph type="title"/>
          </p:nvPr>
        </p:nvSpPr>
        <p:spPr>
          <a:xfrm>
            <a:off x="4090507" y="764373"/>
            <a:ext cx="7434070" cy="1474330"/>
          </a:xfrm>
        </p:spPr>
        <p:txBody>
          <a:bodyPr>
            <a:normAutofit/>
          </a:bodyPr>
          <a:lstStyle/>
          <a:p>
            <a:r>
              <a:rPr lang="es-CO" b="1" i="0">
                <a:effectLst/>
                <a:latin typeface="Muli"/>
              </a:rPr>
              <a:t>¿Qué es un juicio crítico?</a:t>
            </a:r>
            <a:endParaRPr lang="es-CO" dirty="0"/>
          </a:p>
        </p:txBody>
      </p:sp>
      <p:sp>
        <p:nvSpPr>
          <p:cNvPr id="10" name="Rectangle 9">
            <a:extLst>
              <a:ext uri="{FF2B5EF4-FFF2-40B4-BE49-F238E27FC236}">
                <a16:creationId xmlns:a16="http://schemas.microsoft.com/office/drawing/2014/main" id="{840177A7-740C-43C7-8F2D-BD7067F12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solidFill>
            <a:schemeClr val="bg1">
              <a:lumMod val="95000"/>
              <a:lumOff val="5000"/>
            </a:schemeClr>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FF525AAA-82CE-4027-A26C-B0EFFD856F2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265719" y="2187575"/>
            <a:ext cx="6857999" cy="2482850"/>
          </a:xfrm>
          <a:prstGeom prst="rect">
            <a:avLst/>
          </a:prstGeom>
        </p:spPr>
      </p:pic>
      <p:sp>
        <p:nvSpPr>
          <p:cNvPr id="3" name="Marcador de contenido 2">
            <a:extLst>
              <a:ext uri="{FF2B5EF4-FFF2-40B4-BE49-F238E27FC236}">
                <a16:creationId xmlns:a16="http://schemas.microsoft.com/office/drawing/2014/main" id="{85624EF6-7E36-4903-8AAD-52FBBECB80C7}"/>
              </a:ext>
            </a:extLst>
          </p:cNvPr>
          <p:cNvSpPr>
            <a:spLocks noGrp="1"/>
          </p:cNvSpPr>
          <p:nvPr>
            <p:ph idx="1"/>
          </p:nvPr>
        </p:nvSpPr>
        <p:spPr>
          <a:xfrm>
            <a:off x="4090507" y="2628900"/>
            <a:ext cx="7454077" cy="3589785"/>
          </a:xfrm>
        </p:spPr>
        <p:txBody>
          <a:bodyPr>
            <a:normAutofit/>
          </a:bodyPr>
          <a:lstStyle/>
          <a:p>
            <a:pPr marL="0" indent="0">
              <a:buNone/>
            </a:pPr>
            <a:r>
              <a:rPr lang="es-CO" sz="1400"/>
              <a:t>El juicio o pensamiento crítico es una fortaleza que nos da la capacidad de pensar en profundidad y tomar decisiones considerando todos los puntos de vista. ... Muchos autores, también lo denominan pensamiento crítico.</a:t>
            </a:r>
          </a:p>
          <a:p>
            <a:endParaRPr lang="es-CO" sz="1400"/>
          </a:p>
          <a:p>
            <a:r>
              <a:rPr lang="es-CO" sz="1400"/>
              <a:t>Otra pregunta sería, ¿cómo se desarrolla el juicio crítico?</a:t>
            </a:r>
          </a:p>
          <a:p>
            <a:endParaRPr lang="es-CO" sz="1400"/>
          </a:p>
          <a:p>
            <a:pPr marL="0" indent="0">
              <a:buNone/>
            </a:pPr>
            <a:r>
              <a:rPr lang="es-CO" sz="1400"/>
              <a:t>En términos sencillos, la única forma de desarrollar el pensamiento crítico es aprendiendo a pensar. Esto consiste en una serie de habilidades que van desde identificar y reconocer relaciones, hacer inferencias correctas, evaluar evidencias, realizar proposiciones sólidas y deducir conclusiones.</a:t>
            </a:r>
          </a:p>
          <a:p>
            <a:endParaRPr lang="es-CO" sz="1400"/>
          </a:p>
          <a:p>
            <a:r>
              <a:rPr lang="es-CO" sz="1400"/>
              <a:t>Pero también, ¿cómo se hace un juicio crítico?</a:t>
            </a:r>
          </a:p>
          <a:p>
            <a:endParaRPr lang="es-CO" sz="1400"/>
          </a:p>
        </p:txBody>
      </p:sp>
    </p:spTree>
    <p:extLst>
      <p:ext uri="{BB962C8B-B14F-4D97-AF65-F5344CB8AC3E}">
        <p14:creationId xmlns:p14="http://schemas.microsoft.com/office/powerpoint/2010/main" val="2238454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9CCDE5A-D782-4FDC-B2F5-41113C388103}"/>
              </a:ext>
            </a:extLst>
          </p:cNvPr>
          <p:cNvSpPr>
            <a:spLocks noGrp="1"/>
          </p:cNvSpPr>
          <p:nvPr>
            <p:ph idx="1"/>
          </p:nvPr>
        </p:nvSpPr>
        <p:spPr>
          <a:xfrm>
            <a:off x="838200" y="887896"/>
            <a:ext cx="10515600" cy="5289067"/>
          </a:xfrm>
        </p:spPr>
        <p:txBody>
          <a:bodyPr>
            <a:normAutofit/>
          </a:bodyPr>
          <a:lstStyle/>
          <a:p>
            <a:r>
              <a:rPr lang="es-CO" dirty="0"/>
              <a:t>Como conclusión entendemos que para realizar un "JUICIO CRÍTICO" debemos ser imparciales, abiertos, observadores y dar nuestros puntos de vista desde una posición neutral y con intenciones de mejorar la información mas no de mostrar los errores de determinada persona o trabajo.</a:t>
            </a:r>
          </a:p>
          <a:p>
            <a:endParaRPr lang="es-CO" dirty="0"/>
          </a:p>
          <a:p>
            <a:r>
              <a:rPr lang="es-CO" dirty="0"/>
              <a:t>Ahora, ¿qué es un juicio crítico ejemplo?</a:t>
            </a:r>
          </a:p>
          <a:p>
            <a:endParaRPr lang="es-CO" dirty="0"/>
          </a:p>
          <a:p>
            <a:r>
              <a:rPr lang="es-CO" dirty="0"/>
              <a:t>Un ejemplo de un juicio crítico puede ser el siguiente: Cuando pensamos y hablamos de la actitud del hombre respecto a los derechos que exigen las mujeres; en este caso los hombres deben ser críticos consigo mismos.</a:t>
            </a:r>
          </a:p>
          <a:p>
            <a:endParaRPr lang="es-CO" dirty="0"/>
          </a:p>
        </p:txBody>
      </p:sp>
    </p:spTree>
    <p:extLst>
      <p:ext uri="{BB962C8B-B14F-4D97-AF65-F5344CB8AC3E}">
        <p14:creationId xmlns:p14="http://schemas.microsoft.com/office/powerpoint/2010/main" val="3343549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0" name="Rectangle 70">
            <a:extLst>
              <a:ext uri="{FF2B5EF4-FFF2-40B4-BE49-F238E27FC236}">
                <a16:creationId xmlns:a16="http://schemas.microsoft.com/office/drawing/2014/main" id="{CD94F7C0-1344-4B3C-AFCB-E7F006BB5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1" name="Picture 72">
            <a:extLst>
              <a:ext uri="{FF2B5EF4-FFF2-40B4-BE49-F238E27FC236}">
                <a16:creationId xmlns:a16="http://schemas.microsoft.com/office/drawing/2014/main" id="{4EC584A2-4215-4DB8-AE1F-E3768D77E8D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ítulo 1">
            <a:extLst>
              <a:ext uri="{FF2B5EF4-FFF2-40B4-BE49-F238E27FC236}">
                <a16:creationId xmlns:a16="http://schemas.microsoft.com/office/drawing/2014/main" id="{35CCDF44-868F-4165-925B-1D7F6926784B}"/>
              </a:ext>
            </a:extLst>
          </p:cNvPr>
          <p:cNvSpPr>
            <a:spLocks noGrp="1"/>
          </p:cNvSpPr>
          <p:nvPr>
            <p:ph type="title"/>
          </p:nvPr>
        </p:nvSpPr>
        <p:spPr>
          <a:xfrm>
            <a:off x="685799" y="764373"/>
            <a:ext cx="3977639" cy="1600200"/>
          </a:xfrm>
        </p:spPr>
        <p:txBody>
          <a:bodyPr anchor="b">
            <a:normAutofit/>
          </a:bodyPr>
          <a:lstStyle/>
          <a:p>
            <a:pPr algn="l"/>
            <a:r>
              <a:rPr lang="es-CO" sz="3200"/>
              <a:t>Observamos: </a:t>
            </a:r>
          </a:p>
        </p:txBody>
      </p:sp>
      <p:sp>
        <p:nvSpPr>
          <p:cNvPr id="3" name="Marcador de contenido 2">
            <a:extLst>
              <a:ext uri="{FF2B5EF4-FFF2-40B4-BE49-F238E27FC236}">
                <a16:creationId xmlns:a16="http://schemas.microsoft.com/office/drawing/2014/main" id="{E3FEC13F-574B-4D21-A856-2C3B560CB218}"/>
              </a:ext>
            </a:extLst>
          </p:cNvPr>
          <p:cNvSpPr>
            <a:spLocks noGrp="1"/>
          </p:cNvSpPr>
          <p:nvPr>
            <p:ph idx="1"/>
          </p:nvPr>
        </p:nvSpPr>
        <p:spPr>
          <a:xfrm>
            <a:off x="685800" y="2364573"/>
            <a:ext cx="3977639" cy="3854112"/>
          </a:xfrm>
        </p:spPr>
        <p:txBody>
          <a:bodyPr>
            <a:normAutofit/>
          </a:bodyPr>
          <a:lstStyle/>
          <a:p>
            <a:r>
              <a:rPr lang="es-CO" sz="1600" dirty="0">
                <a:hlinkClick r:id="rId3"/>
              </a:rPr>
              <a:t>https://www.youtube.com/watch?v=SBYJbnUCTQE</a:t>
            </a:r>
            <a:endParaRPr lang="es-CO" sz="1600" dirty="0"/>
          </a:p>
          <a:p>
            <a:endParaRPr lang="es-CO" sz="1600" dirty="0"/>
          </a:p>
        </p:txBody>
      </p:sp>
      <p:pic>
        <p:nvPicPr>
          <p:cNvPr id="4098" name="Picture 2">
            <a:extLst>
              <a:ext uri="{FF2B5EF4-FFF2-40B4-BE49-F238E27FC236}">
                <a16:creationId xmlns:a16="http://schemas.microsoft.com/office/drawing/2014/main" id="{4E55C312-5522-4514-97F2-4641D63C5DF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972699" y="1612755"/>
            <a:ext cx="6533501" cy="3739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2326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ítulo 1">
            <a:extLst>
              <a:ext uri="{FF2B5EF4-FFF2-40B4-BE49-F238E27FC236}">
                <a16:creationId xmlns:a16="http://schemas.microsoft.com/office/drawing/2014/main" id="{A4F70DBA-264F-400A-9DBA-8BB20E6515B5}"/>
              </a:ext>
            </a:extLst>
          </p:cNvPr>
          <p:cNvSpPr>
            <a:spLocks noGrp="1"/>
          </p:cNvSpPr>
          <p:nvPr>
            <p:ph type="title"/>
          </p:nvPr>
        </p:nvSpPr>
        <p:spPr>
          <a:xfrm>
            <a:off x="683609" y="764372"/>
            <a:ext cx="3173688" cy="5216013"/>
          </a:xfrm>
        </p:spPr>
        <p:txBody>
          <a:bodyPr>
            <a:normAutofit/>
          </a:bodyPr>
          <a:lstStyle/>
          <a:p>
            <a:r>
              <a:rPr lang="es-CO" sz="3400" dirty="0"/>
              <a:t>Analizamos: </a:t>
            </a:r>
          </a:p>
        </p:txBody>
      </p:sp>
      <p:cxnSp>
        <p:nvCxnSpPr>
          <p:cNvPr id="10" name="Straight Connector 9">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27197" y="1923563"/>
            <a:ext cx="0" cy="30175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89020610-C0ED-4B04-8686-AB86624A46CA}"/>
              </a:ext>
            </a:extLst>
          </p:cNvPr>
          <p:cNvSpPr>
            <a:spLocks noGrp="1"/>
          </p:cNvSpPr>
          <p:nvPr>
            <p:ph idx="1"/>
          </p:nvPr>
        </p:nvSpPr>
        <p:spPr>
          <a:xfrm>
            <a:off x="4370138" y="764372"/>
            <a:ext cx="7086600" cy="5216013"/>
          </a:xfrm>
        </p:spPr>
        <p:txBody>
          <a:bodyPr anchor="ctr">
            <a:normAutofit/>
          </a:bodyPr>
          <a:lstStyle/>
          <a:p>
            <a:r>
              <a:rPr lang="es-CO" sz="2000" dirty="0"/>
              <a:t>Estudio de casi 1. </a:t>
            </a:r>
          </a:p>
          <a:p>
            <a:r>
              <a:rPr lang="es-CO" sz="2000"/>
              <a:t>   </a:t>
            </a:r>
            <a:endParaRPr lang="es-CO" sz="2000" dirty="0"/>
          </a:p>
          <a:p>
            <a:r>
              <a:rPr lang="es-CO" sz="2000" dirty="0"/>
              <a:t>Estudio de caso 2. </a:t>
            </a:r>
          </a:p>
          <a:p>
            <a:r>
              <a:rPr lang="es-CO" sz="2000" dirty="0">
                <a:hlinkClick r:id="rId2"/>
              </a:rPr>
              <a:t>https://www.youtube.com/watch?v=-V8HuVaaHKo</a:t>
            </a:r>
            <a:endParaRPr lang="es-CO" sz="2000" dirty="0"/>
          </a:p>
          <a:p>
            <a:pPr marL="0" indent="0">
              <a:buNone/>
            </a:pPr>
            <a:endParaRPr lang="es-CO" sz="2000" dirty="0"/>
          </a:p>
        </p:txBody>
      </p:sp>
    </p:spTree>
    <p:extLst>
      <p:ext uri="{BB962C8B-B14F-4D97-AF65-F5344CB8AC3E}">
        <p14:creationId xmlns:p14="http://schemas.microsoft.com/office/powerpoint/2010/main" val="754734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ítulo 1">
            <a:extLst>
              <a:ext uri="{FF2B5EF4-FFF2-40B4-BE49-F238E27FC236}">
                <a16:creationId xmlns:a16="http://schemas.microsoft.com/office/drawing/2014/main" id="{A829F356-7204-4E6A-84BC-39CA5491C732}"/>
              </a:ext>
            </a:extLst>
          </p:cNvPr>
          <p:cNvSpPr>
            <a:spLocks noGrp="1"/>
          </p:cNvSpPr>
          <p:nvPr>
            <p:ph type="title"/>
          </p:nvPr>
        </p:nvSpPr>
        <p:spPr>
          <a:xfrm>
            <a:off x="683609" y="764372"/>
            <a:ext cx="3173688" cy="5216013"/>
          </a:xfrm>
        </p:spPr>
        <p:txBody>
          <a:bodyPr>
            <a:normAutofit/>
          </a:bodyPr>
          <a:lstStyle/>
          <a:p>
            <a:r>
              <a:rPr lang="es-CO" dirty="0"/>
              <a:t>Actividad oral </a:t>
            </a:r>
          </a:p>
        </p:txBody>
      </p:sp>
      <p:cxnSp>
        <p:nvCxnSpPr>
          <p:cNvPr id="10" name="Straight Connector 9">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27197" y="1923563"/>
            <a:ext cx="0" cy="30175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9A364A27-E3FE-4FFC-AC75-5A8615EA037F}"/>
              </a:ext>
            </a:extLst>
          </p:cNvPr>
          <p:cNvSpPr>
            <a:spLocks noGrp="1"/>
          </p:cNvSpPr>
          <p:nvPr>
            <p:ph idx="1"/>
          </p:nvPr>
        </p:nvSpPr>
        <p:spPr>
          <a:xfrm>
            <a:off x="4370138" y="764372"/>
            <a:ext cx="7086600" cy="5216013"/>
          </a:xfrm>
        </p:spPr>
        <p:txBody>
          <a:bodyPr anchor="ctr">
            <a:normAutofit/>
          </a:bodyPr>
          <a:lstStyle/>
          <a:p>
            <a:r>
              <a:rPr lang="es-CO" sz="2000"/>
              <a:t>Escribe tu propio ejemplo de un caso ético y redacta su posible  solución, luego léelo en clase para debatir las posturas.  </a:t>
            </a:r>
          </a:p>
        </p:txBody>
      </p:sp>
    </p:spTree>
    <p:extLst>
      <p:ext uri="{BB962C8B-B14F-4D97-AF65-F5344CB8AC3E}">
        <p14:creationId xmlns:p14="http://schemas.microsoft.com/office/powerpoint/2010/main" val="3661046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86C33-123A-4D0F-A667-E59F3A5B8828}"/>
              </a:ext>
            </a:extLst>
          </p:cNvPr>
          <p:cNvSpPr>
            <a:spLocks noGrp="1"/>
          </p:cNvSpPr>
          <p:nvPr>
            <p:ph type="title"/>
          </p:nvPr>
        </p:nvSpPr>
        <p:spPr>
          <a:xfrm>
            <a:off x="2299252" y="2500408"/>
            <a:ext cx="8610600" cy="1293028"/>
          </a:xfrm>
        </p:spPr>
        <p:txBody>
          <a:bodyPr/>
          <a:lstStyle/>
          <a:p>
            <a:r>
              <a:rPr lang="es-CO" dirty="0"/>
              <a:t>GRACIAS </a:t>
            </a:r>
          </a:p>
        </p:txBody>
      </p:sp>
    </p:spTree>
    <p:extLst>
      <p:ext uri="{BB962C8B-B14F-4D97-AF65-F5344CB8AC3E}">
        <p14:creationId xmlns:p14="http://schemas.microsoft.com/office/powerpoint/2010/main" val="3527121353"/>
      </p:ext>
    </p:extLst>
  </p:cSld>
  <p:clrMapOvr>
    <a:masterClrMapping/>
  </p:clrMapOvr>
</p:sld>
</file>

<file path=ppt/theme/theme1.xml><?xml version="1.0" encoding="utf-8"?>
<a:theme xmlns:a="http://schemas.openxmlformats.org/drawingml/2006/main" name="Estela de condensación">
  <a:themeElements>
    <a:clrScheme name="Estela de condensación">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Estela de condensació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tela de condensació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02800169EED2947BF58CF289B38A081" ma:contentTypeVersion="6" ma:contentTypeDescription="Create a new document." ma:contentTypeScope="" ma:versionID="d1ca62c3a88b94c18349f4c7991ccb69">
  <xsd:schema xmlns:xsd="http://www.w3.org/2001/XMLSchema" xmlns:xs="http://www.w3.org/2001/XMLSchema" xmlns:p="http://schemas.microsoft.com/office/2006/metadata/properties" xmlns:ns3="dfbb7e9d-7489-4e85-bfd0-4cc02beef29f" xmlns:ns4="a2f317bf-2df6-40b7-afa7-2fc6b3071cb4" targetNamespace="http://schemas.microsoft.com/office/2006/metadata/properties" ma:root="true" ma:fieldsID="1287541740ed368b5e3049baefbcdcd4" ns3:_="" ns4:_="">
    <xsd:import namespace="dfbb7e9d-7489-4e85-bfd0-4cc02beef29f"/>
    <xsd:import namespace="a2f317bf-2df6-40b7-afa7-2fc6b3071cb4"/>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bb7e9d-7489-4e85-bfd0-4cc02beef2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f317bf-2df6-40b7-afa7-2fc6b3071c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F28302-4261-4048-814A-FB7490E54C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bb7e9d-7489-4e85-bfd0-4cc02beef29f"/>
    <ds:schemaRef ds:uri="a2f317bf-2df6-40b7-afa7-2fc6b3071c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44153AE-2760-450F-A7F4-205445B784A1}">
  <ds:schemaRefs>
    <ds:schemaRef ds:uri="http://schemas.microsoft.com/sharepoint/v3/contenttype/forms"/>
  </ds:schemaRefs>
</ds:datastoreItem>
</file>

<file path=customXml/itemProps3.xml><?xml version="1.0" encoding="utf-8"?>
<ds:datastoreItem xmlns:ds="http://schemas.openxmlformats.org/officeDocument/2006/customXml" ds:itemID="{D263F93D-F0C1-451D-9556-11079CD63F27}">
  <ds:schemaRefs>
    <ds:schemaRef ds:uri="http://schemas.microsoft.com/office/infopath/2007/PartnerControls"/>
    <ds:schemaRef ds:uri="dfbb7e9d-7489-4e85-bfd0-4cc02beef29f"/>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2f317bf-2df6-40b7-afa7-2fc6b3071cb4"/>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TM04033937[[fn=Estela de condensación]]</Template>
  <TotalTime>198</TotalTime>
  <Words>749</Words>
  <Application>Microsoft Office PowerPoint</Application>
  <PresentationFormat>Panorámica</PresentationFormat>
  <Paragraphs>43</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Century Gothic</vt:lpstr>
      <vt:lpstr>Muli</vt:lpstr>
      <vt:lpstr>Estela de condensación</vt:lpstr>
      <vt:lpstr>PRINCIPIOS-CRITERIOS Y JUICIOS CRÍTICOS</vt:lpstr>
      <vt:lpstr>Los principios: </vt:lpstr>
      <vt:lpstr>Observamos </vt:lpstr>
      <vt:lpstr>CRITERIO: </vt:lpstr>
      <vt:lpstr>Presentación de PowerPoint</vt:lpstr>
      <vt:lpstr>Presentación de PowerPoint</vt:lpstr>
      <vt:lpstr>¿Qué es un juicio crítico?</vt:lpstr>
      <vt:lpstr>Presentación de PowerPoint</vt:lpstr>
      <vt:lpstr>Observamos: </vt:lpstr>
      <vt:lpstr>Analizamos: </vt:lpstr>
      <vt:lpstr>Actividad oral </vt:lpstr>
      <vt:lpstr>GRACIAS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PRINCIPIOS-CRITERIOS Y JUICIOS CRITICOS</dc:title>
  <dc:creator>DAYANA VANESSA CONRADO ORTIZ</dc:creator>
  <cp:lastModifiedBy>DAYANA VANESSA CONRADO ORTIZ</cp:lastModifiedBy>
  <cp:revision>4</cp:revision>
  <dcterms:created xsi:type="dcterms:W3CDTF">2021-12-02T22:54:14Z</dcterms:created>
  <dcterms:modified xsi:type="dcterms:W3CDTF">2021-12-03T02:12:57Z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d67fb3e-ac31-4c8c-a672-17639f3ff98d_Enabled">
    <vt:lpwstr>true</vt:lpwstr>
  </property>
  <property fmtid="{D5CDD505-2E9C-101B-9397-08002B2CF9AE}" pid="3" name="MSIP_Label_cd67fb3e-ac31-4c8c-a672-17639f3ff98d_SetDate">
    <vt:lpwstr>2021-12-02T22:54:13Z</vt:lpwstr>
  </property>
  <property fmtid="{D5CDD505-2E9C-101B-9397-08002B2CF9AE}" pid="4" name="MSIP_Label_cd67fb3e-ac31-4c8c-a672-17639f3ff98d_Method">
    <vt:lpwstr>Standard</vt:lpwstr>
  </property>
  <property fmtid="{D5CDD505-2E9C-101B-9397-08002B2CF9AE}" pid="5" name="MSIP_Label_cd67fb3e-ac31-4c8c-a672-17639f3ff98d_Name">
    <vt:lpwstr>cédula</vt:lpwstr>
  </property>
  <property fmtid="{D5CDD505-2E9C-101B-9397-08002B2CF9AE}" pid="6" name="MSIP_Label_cd67fb3e-ac31-4c8c-a672-17639f3ff98d_SiteId">
    <vt:lpwstr>1e9aabe8-67f8-4f1c-a329-a754e92499ae</vt:lpwstr>
  </property>
  <property fmtid="{D5CDD505-2E9C-101B-9397-08002B2CF9AE}" pid="7" name="MSIP_Label_cd67fb3e-ac31-4c8c-a672-17639f3ff98d_ActionId">
    <vt:lpwstr>7202efb6-4bb6-41d8-a2f5-9cfb65b0e717</vt:lpwstr>
  </property>
  <property fmtid="{D5CDD505-2E9C-101B-9397-08002B2CF9AE}" pid="8" name="MSIP_Label_cd67fb3e-ac31-4c8c-a672-17639f3ff98d_ContentBits">
    <vt:lpwstr>0</vt:lpwstr>
  </property>
  <property fmtid="{D5CDD505-2E9C-101B-9397-08002B2CF9AE}" pid="9" name="ContentTypeId">
    <vt:lpwstr>0x010100902800169EED2947BF58CF289B38A081</vt:lpwstr>
  </property>
</Properties>
</file>