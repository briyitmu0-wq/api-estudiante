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63" r:id="rId4"/>
    <p:sldId id="267" r:id="rId5"/>
    <p:sldId id="258" r:id="rId6"/>
    <p:sldId id="264" r:id="rId7"/>
    <p:sldId id="259" r:id="rId8"/>
    <p:sldId id="265" r:id="rId9"/>
    <p:sldId id="261" r:id="rId10"/>
    <p:sldId id="266" r:id="rId11"/>
    <p:sldId id="262" r:id="rId12"/>
    <p:sldId id="269"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6" Type="http://schemas.openxmlformats.org/officeDocument/2006/relationships/image" Target="../media/image23.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6" Type="http://schemas.openxmlformats.org/officeDocument/2006/relationships/image" Target="../media/image23.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CFE18B-5298-46BB-A652-BF210A12764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AFBC790-D09E-4036-8C59-3E1D18B596C4}">
      <dgm:prSet/>
      <dgm:spPr/>
      <dgm:t>
        <a:bodyPr/>
        <a:lstStyle/>
        <a:p>
          <a:r>
            <a:rPr lang="es-CO"/>
            <a:t>Fundamentos de la moral</a:t>
          </a:r>
          <a:endParaRPr lang="en-US"/>
        </a:p>
      </dgm:t>
    </dgm:pt>
    <dgm:pt modelId="{65DAA0CB-CA49-42D6-91F1-86780D147152}" type="parTrans" cxnId="{04E6DF30-BB3F-441B-8E42-4A4363400288}">
      <dgm:prSet/>
      <dgm:spPr/>
      <dgm:t>
        <a:bodyPr/>
        <a:lstStyle/>
        <a:p>
          <a:endParaRPr lang="en-US"/>
        </a:p>
      </dgm:t>
    </dgm:pt>
    <dgm:pt modelId="{36FC1089-93AD-4153-AD5A-A95AF8BC6963}" type="sibTrans" cxnId="{04E6DF30-BB3F-441B-8E42-4A4363400288}">
      <dgm:prSet/>
      <dgm:spPr/>
      <dgm:t>
        <a:bodyPr/>
        <a:lstStyle/>
        <a:p>
          <a:endParaRPr lang="en-US"/>
        </a:p>
      </dgm:t>
    </dgm:pt>
    <dgm:pt modelId="{FDDADD8B-B54F-4AE7-89C2-9DBE4B55BE96}">
      <dgm:prSet/>
      <dgm:spPr/>
      <dgm:t>
        <a:bodyPr/>
        <a:lstStyle/>
        <a:p>
          <a:r>
            <a:rPr lang="es-CO" dirty="0"/>
            <a:t>¿Qué es ética? ¿Qué es moral?</a:t>
          </a:r>
          <a:endParaRPr lang="en-US" dirty="0"/>
        </a:p>
      </dgm:t>
    </dgm:pt>
    <dgm:pt modelId="{1F6D49B8-BDA7-4F2A-87B1-4DAA331F4344}" type="parTrans" cxnId="{CF212C95-05F6-4E6B-8A1C-D49DFB0673FF}">
      <dgm:prSet/>
      <dgm:spPr/>
      <dgm:t>
        <a:bodyPr/>
        <a:lstStyle/>
        <a:p>
          <a:endParaRPr lang="en-US"/>
        </a:p>
      </dgm:t>
    </dgm:pt>
    <dgm:pt modelId="{3222EFDE-8DB3-46B7-BE41-90D396018465}" type="sibTrans" cxnId="{CF212C95-05F6-4E6B-8A1C-D49DFB0673FF}">
      <dgm:prSet/>
      <dgm:spPr/>
      <dgm:t>
        <a:bodyPr/>
        <a:lstStyle/>
        <a:p>
          <a:endParaRPr lang="en-US"/>
        </a:p>
      </dgm:t>
    </dgm:pt>
    <dgm:pt modelId="{20D9A21A-07A0-42D9-8AFD-6F76C1F7DF32}">
      <dgm:prSet/>
      <dgm:spPr/>
      <dgm:t>
        <a:bodyPr/>
        <a:lstStyle/>
        <a:p>
          <a:r>
            <a:rPr lang="es-CO"/>
            <a:t>Estas palabras son la ciencia de las costumbres, es decir, 0el esfuerzo por vivir una vida acorde con la dignidad del ser humano.</a:t>
          </a:r>
          <a:endParaRPr lang="en-US"/>
        </a:p>
      </dgm:t>
    </dgm:pt>
    <dgm:pt modelId="{9341FFAB-1608-494E-BAA8-20D8667CE4BB}" type="parTrans" cxnId="{72D897CB-ADFE-450D-8842-A4D5A1D909CA}">
      <dgm:prSet/>
      <dgm:spPr/>
      <dgm:t>
        <a:bodyPr/>
        <a:lstStyle/>
        <a:p>
          <a:endParaRPr lang="en-US"/>
        </a:p>
      </dgm:t>
    </dgm:pt>
    <dgm:pt modelId="{D2976CA3-2249-4F04-8975-603793F0D254}" type="sibTrans" cxnId="{72D897CB-ADFE-450D-8842-A4D5A1D909CA}">
      <dgm:prSet/>
      <dgm:spPr/>
      <dgm:t>
        <a:bodyPr/>
        <a:lstStyle/>
        <a:p>
          <a:endParaRPr lang="en-US"/>
        </a:p>
      </dgm:t>
    </dgm:pt>
    <dgm:pt modelId="{AA487DEB-4152-4B4F-A4D2-40B2166C75FE}">
      <dgm:prSet/>
      <dgm:spPr/>
      <dgm:t>
        <a:bodyPr/>
        <a:lstStyle/>
        <a:p>
          <a:r>
            <a:rPr lang="es-CO"/>
            <a:t>Existen unos fundamentos de la vida moral, de los cuales el comportamiento humano se basa de estos. Los 4 fundamentos básicos son:</a:t>
          </a:r>
          <a:endParaRPr lang="en-US"/>
        </a:p>
      </dgm:t>
    </dgm:pt>
    <dgm:pt modelId="{02AA25C8-A857-4112-9794-9C2015F4341B}" type="parTrans" cxnId="{C0EF9D96-BADA-4A85-A791-9199510E771B}">
      <dgm:prSet/>
      <dgm:spPr/>
      <dgm:t>
        <a:bodyPr/>
        <a:lstStyle/>
        <a:p>
          <a:endParaRPr lang="en-US"/>
        </a:p>
      </dgm:t>
    </dgm:pt>
    <dgm:pt modelId="{E8082267-64FD-4625-9BBA-0316C2D083A7}" type="sibTrans" cxnId="{C0EF9D96-BADA-4A85-A791-9199510E771B}">
      <dgm:prSet/>
      <dgm:spPr/>
      <dgm:t>
        <a:bodyPr/>
        <a:lstStyle/>
        <a:p>
          <a:endParaRPr lang="en-US"/>
        </a:p>
      </dgm:t>
    </dgm:pt>
    <dgm:pt modelId="{ED036111-DBCA-4EFB-ACDE-3ED407346BDA}">
      <dgm:prSet/>
      <dgm:spPr/>
      <dgm:t>
        <a:bodyPr/>
        <a:lstStyle/>
        <a:p>
          <a:r>
            <a:rPr lang="es-CO"/>
            <a:t>LIBERTAD PERSONAL: somos capaces de  elegir y realizar nuestros actos, ya sean buenos o malos</a:t>
          </a:r>
          <a:endParaRPr lang="en-US"/>
        </a:p>
      </dgm:t>
    </dgm:pt>
    <dgm:pt modelId="{C539BFE2-B946-485D-8861-EDA3E5B41B44}" type="parTrans" cxnId="{CF5547A3-D1AE-4B6F-91FA-2E96C029C9F0}">
      <dgm:prSet/>
      <dgm:spPr/>
      <dgm:t>
        <a:bodyPr/>
        <a:lstStyle/>
        <a:p>
          <a:endParaRPr lang="en-US"/>
        </a:p>
      </dgm:t>
    </dgm:pt>
    <dgm:pt modelId="{DB51A900-792E-4DA0-B21A-5D49C7522A1A}" type="sibTrans" cxnId="{CF5547A3-D1AE-4B6F-91FA-2E96C029C9F0}">
      <dgm:prSet/>
      <dgm:spPr/>
      <dgm:t>
        <a:bodyPr/>
        <a:lstStyle/>
        <a:p>
          <a:endParaRPr lang="en-US"/>
        </a:p>
      </dgm:t>
    </dgm:pt>
    <dgm:pt modelId="{748D5FBD-10F6-4790-A6E0-9C4CC362D028}">
      <dgm:prSet/>
      <dgm:spPr/>
      <dgm:t>
        <a:bodyPr/>
        <a:lstStyle/>
        <a:p>
          <a:r>
            <a:rPr lang="es-CO" dirty="0"/>
            <a:t>NORMAS MORALES: Indican los que está bien , y lo que está mal. Estas abarcan la ley natural y la ley revelada.</a:t>
          </a:r>
          <a:endParaRPr lang="en-US" dirty="0"/>
        </a:p>
      </dgm:t>
    </dgm:pt>
    <dgm:pt modelId="{A322AE7E-49F1-4FF7-8BC2-EC928EA1DA39}" type="parTrans" cxnId="{DCF7CE26-9E59-4A45-8D71-A0314791BD73}">
      <dgm:prSet/>
      <dgm:spPr/>
      <dgm:t>
        <a:bodyPr/>
        <a:lstStyle/>
        <a:p>
          <a:endParaRPr lang="en-US"/>
        </a:p>
      </dgm:t>
    </dgm:pt>
    <dgm:pt modelId="{95CA84C1-5E70-4E11-B51A-DA15228085F7}" type="sibTrans" cxnId="{DCF7CE26-9E59-4A45-8D71-A0314791BD73}">
      <dgm:prSet/>
      <dgm:spPr/>
      <dgm:t>
        <a:bodyPr/>
        <a:lstStyle/>
        <a:p>
          <a:endParaRPr lang="en-US"/>
        </a:p>
      </dgm:t>
    </dgm:pt>
    <dgm:pt modelId="{8D0D85A3-8136-4C1C-83AA-2314862B50A8}">
      <dgm:prSet/>
      <dgm:spPr/>
      <dgm:t>
        <a:bodyPr/>
        <a:lstStyle/>
        <a:p>
          <a:r>
            <a:rPr lang="es-CO"/>
            <a:t>CONCIENCIA: Mediante el cual haces un juicio, por el que reconoces lo que es bueno y lo que es malo.</a:t>
          </a:r>
          <a:endParaRPr lang="en-US"/>
        </a:p>
      </dgm:t>
    </dgm:pt>
    <dgm:pt modelId="{49C48D2B-6BB1-4D98-BC38-E797F4FC260E}" type="parTrans" cxnId="{1CD16188-8B3E-448C-A0D3-0A06E79A6DEA}">
      <dgm:prSet/>
      <dgm:spPr/>
      <dgm:t>
        <a:bodyPr/>
        <a:lstStyle/>
        <a:p>
          <a:endParaRPr lang="en-US"/>
        </a:p>
      </dgm:t>
    </dgm:pt>
    <dgm:pt modelId="{7B94752E-A3D4-4588-8559-07BF66556766}" type="sibTrans" cxnId="{1CD16188-8B3E-448C-A0D3-0A06E79A6DEA}">
      <dgm:prSet/>
      <dgm:spPr/>
      <dgm:t>
        <a:bodyPr/>
        <a:lstStyle/>
        <a:p>
          <a:endParaRPr lang="en-US"/>
        </a:p>
      </dgm:t>
    </dgm:pt>
    <dgm:pt modelId="{D4FF032A-B773-442C-B6E9-9D734EF3F882}">
      <dgm:prSet/>
      <dgm:spPr/>
      <dgm:t>
        <a:bodyPr/>
        <a:lstStyle/>
        <a:p>
          <a:r>
            <a:rPr lang="es-CO" dirty="0"/>
            <a:t>FUENTES DE MORALIDAD: Los elementos que confluyen a la hora de calificar la dimensión moral, </a:t>
          </a:r>
          <a:r>
            <a:rPr lang="es-MX" dirty="0"/>
            <a:t>un ejemplo de estos es</a:t>
          </a:r>
          <a:r>
            <a:rPr lang="es-CO" dirty="0"/>
            <a:t>: objeto del acto, finalidad, y circunstancias.</a:t>
          </a:r>
          <a:endParaRPr lang="en-US" dirty="0"/>
        </a:p>
      </dgm:t>
    </dgm:pt>
    <dgm:pt modelId="{409FCF78-1284-4DC2-B1CB-D60944680676}" type="parTrans" cxnId="{FFDA97E2-7DBC-4D9B-BEC4-03A49A42EF49}">
      <dgm:prSet/>
      <dgm:spPr/>
      <dgm:t>
        <a:bodyPr/>
        <a:lstStyle/>
        <a:p>
          <a:endParaRPr lang="en-US"/>
        </a:p>
      </dgm:t>
    </dgm:pt>
    <dgm:pt modelId="{EB82377E-7123-4ED5-87C8-71CD8EFB13C9}" type="sibTrans" cxnId="{FFDA97E2-7DBC-4D9B-BEC4-03A49A42EF49}">
      <dgm:prSet/>
      <dgm:spPr/>
      <dgm:t>
        <a:bodyPr/>
        <a:lstStyle/>
        <a:p>
          <a:endParaRPr lang="en-US"/>
        </a:p>
      </dgm:t>
    </dgm:pt>
    <dgm:pt modelId="{3B1D674D-14BB-4EA8-8F8E-675F4ADB16F6}" type="pres">
      <dgm:prSet presAssocID="{39CFE18B-5298-46BB-A652-BF210A12764B}" presName="root" presStyleCnt="0">
        <dgm:presLayoutVars>
          <dgm:dir/>
          <dgm:resizeHandles val="exact"/>
        </dgm:presLayoutVars>
      </dgm:prSet>
      <dgm:spPr/>
    </dgm:pt>
    <dgm:pt modelId="{B260B6DE-472E-4D16-B35B-670436EC31A3}" type="pres">
      <dgm:prSet presAssocID="{7AFBC790-D09E-4036-8C59-3E1D18B596C4}" presName="compNode" presStyleCnt="0"/>
      <dgm:spPr/>
    </dgm:pt>
    <dgm:pt modelId="{1C9DA6EE-54DE-4789-A2AD-FE6FC199A0DB}" type="pres">
      <dgm:prSet presAssocID="{7AFBC790-D09E-4036-8C59-3E1D18B596C4}"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A5A8FE09-ADB2-483C-9D8B-AD9017D1C3FD}" type="pres">
      <dgm:prSet presAssocID="{7AFBC790-D09E-4036-8C59-3E1D18B596C4}" presName="spaceRect" presStyleCnt="0"/>
      <dgm:spPr/>
    </dgm:pt>
    <dgm:pt modelId="{4B174556-DB80-4D80-AD27-A8BF027CAB6F}" type="pres">
      <dgm:prSet presAssocID="{7AFBC790-D09E-4036-8C59-3E1D18B596C4}" presName="textRect" presStyleLbl="revTx" presStyleIdx="0" presStyleCnt="8">
        <dgm:presLayoutVars>
          <dgm:chMax val="1"/>
          <dgm:chPref val="1"/>
        </dgm:presLayoutVars>
      </dgm:prSet>
      <dgm:spPr/>
    </dgm:pt>
    <dgm:pt modelId="{69A6C566-959D-457B-8AD0-4DC7EA0B09D4}" type="pres">
      <dgm:prSet presAssocID="{36FC1089-93AD-4153-AD5A-A95AF8BC6963}" presName="sibTrans" presStyleCnt="0"/>
      <dgm:spPr/>
    </dgm:pt>
    <dgm:pt modelId="{6CEC6032-DC3B-4641-8499-C89C4F5C814D}" type="pres">
      <dgm:prSet presAssocID="{FDDADD8B-B54F-4AE7-89C2-9DBE4B55BE96}" presName="compNode" presStyleCnt="0"/>
      <dgm:spPr/>
    </dgm:pt>
    <dgm:pt modelId="{8F514DA4-8A27-494D-9074-26B533BCA9DB}" type="pres">
      <dgm:prSet presAssocID="{FDDADD8B-B54F-4AE7-89C2-9DBE4B55BE96}"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25E93C82-5424-4B1D-B439-AF3EA60A2006}" type="pres">
      <dgm:prSet presAssocID="{FDDADD8B-B54F-4AE7-89C2-9DBE4B55BE96}" presName="spaceRect" presStyleCnt="0"/>
      <dgm:spPr/>
    </dgm:pt>
    <dgm:pt modelId="{312BD11A-A458-4AED-95F5-134C8FA8082B}" type="pres">
      <dgm:prSet presAssocID="{FDDADD8B-B54F-4AE7-89C2-9DBE4B55BE96}" presName="textRect" presStyleLbl="revTx" presStyleIdx="1" presStyleCnt="8">
        <dgm:presLayoutVars>
          <dgm:chMax val="1"/>
          <dgm:chPref val="1"/>
        </dgm:presLayoutVars>
      </dgm:prSet>
      <dgm:spPr/>
    </dgm:pt>
    <dgm:pt modelId="{01DF5203-F8F2-4AEE-AD9E-32444BD1F6ED}" type="pres">
      <dgm:prSet presAssocID="{3222EFDE-8DB3-46B7-BE41-90D396018465}" presName="sibTrans" presStyleCnt="0"/>
      <dgm:spPr/>
    </dgm:pt>
    <dgm:pt modelId="{71B1FDE6-4DB4-4C9A-B18F-28AFA2D5B5CA}" type="pres">
      <dgm:prSet presAssocID="{20D9A21A-07A0-42D9-8AFD-6F76C1F7DF32}" presName="compNode" presStyleCnt="0"/>
      <dgm:spPr/>
    </dgm:pt>
    <dgm:pt modelId="{3DFF0E90-88ED-4D45-BEBD-0C4C800EEE2F}" type="pres">
      <dgm:prSet presAssocID="{20D9A21A-07A0-42D9-8AFD-6F76C1F7DF3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guntas"/>
        </a:ext>
      </dgm:extLst>
    </dgm:pt>
    <dgm:pt modelId="{2F2598BA-56E0-4ABC-8C6C-BC81AE248997}" type="pres">
      <dgm:prSet presAssocID="{20D9A21A-07A0-42D9-8AFD-6F76C1F7DF32}" presName="spaceRect" presStyleCnt="0"/>
      <dgm:spPr/>
    </dgm:pt>
    <dgm:pt modelId="{F330B936-90D2-4845-94DF-C10A648C70EA}" type="pres">
      <dgm:prSet presAssocID="{20D9A21A-07A0-42D9-8AFD-6F76C1F7DF32}" presName="textRect" presStyleLbl="revTx" presStyleIdx="2" presStyleCnt="8">
        <dgm:presLayoutVars>
          <dgm:chMax val="1"/>
          <dgm:chPref val="1"/>
        </dgm:presLayoutVars>
      </dgm:prSet>
      <dgm:spPr/>
    </dgm:pt>
    <dgm:pt modelId="{F0A6D823-A032-4676-AA07-09F7CE863CA2}" type="pres">
      <dgm:prSet presAssocID="{D2976CA3-2249-4F04-8975-603793F0D254}" presName="sibTrans" presStyleCnt="0"/>
      <dgm:spPr/>
    </dgm:pt>
    <dgm:pt modelId="{325D5327-8C8C-43C7-B12A-050A3DD380C5}" type="pres">
      <dgm:prSet presAssocID="{AA487DEB-4152-4B4F-A4D2-40B2166C75FE}" presName="compNode" presStyleCnt="0"/>
      <dgm:spPr/>
    </dgm:pt>
    <dgm:pt modelId="{1AA591EA-A1B3-4B18-9239-407EA9933CF4}" type="pres">
      <dgm:prSet presAssocID="{AA487DEB-4152-4B4F-A4D2-40B2166C75FE}"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05636580-2669-46F9-9918-F107101A625B}" type="pres">
      <dgm:prSet presAssocID="{AA487DEB-4152-4B4F-A4D2-40B2166C75FE}" presName="spaceRect" presStyleCnt="0"/>
      <dgm:spPr/>
    </dgm:pt>
    <dgm:pt modelId="{CC12E78A-8B06-42F9-B365-A5C88A75F190}" type="pres">
      <dgm:prSet presAssocID="{AA487DEB-4152-4B4F-A4D2-40B2166C75FE}" presName="textRect" presStyleLbl="revTx" presStyleIdx="3" presStyleCnt="8">
        <dgm:presLayoutVars>
          <dgm:chMax val="1"/>
          <dgm:chPref val="1"/>
        </dgm:presLayoutVars>
      </dgm:prSet>
      <dgm:spPr/>
    </dgm:pt>
    <dgm:pt modelId="{9EC62AFD-D0F3-46DE-ADC4-1155E33DCA73}" type="pres">
      <dgm:prSet presAssocID="{E8082267-64FD-4625-9BBA-0316C2D083A7}" presName="sibTrans" presStyleCnt="0"/>
      <dgm:spPr/>
    </dgm:pt>
    <dgm:pt modelId="{3A493481-44AB-4AED-8AAB-C69727573CD4}" type="pres">
      <dgm:prSet presAssocID="{ED036111-DBCA-4EFB-ACDE-3ED407346BDA}" presName="compNode" presStyleCnt="0"/>
      <dgm:spPr/>
    </dgm:pt>
    <dgm:pt modelId="{5BC9D6A8-6926-4733-AA90-50728A2C03B9}" type="pres">
      <dgm:prSet presAssocID="{ED036111-DBCA-4EFB-ACDE-3ED407346BD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Irritante"/>
        </a:ext>
      </dgm:extLst>
    </dgm:pt>
    <dgm:pt modelId="{CE8B24E4-8196-41DE-A3BF-FD47DBE05D68}" type="pres">
      <dgm:prSet presAssocID="{ED036111-DBCA-4EFB-ACDE-3ED407346BDA}" presName="spaceRect" presStyleCnt="0"/>
      <dgm:spPr/>
    </dgm:pt>
    <dgm:pt modelId="{7CB30514-6770-45EF-9023-F55EE3DA5ABE}" type="pres">
      <dgm:prSet presAssocID="{ED036111-DBCA-4EFB-ACDE-3ED407346BDA}" presName="textRect" presStyleLbl="revTx" presStyleIdx="4" presStyleCnt="8">
        <dgm:presLayoutVars>
          <dgm:chMax val="1"/>
          <dgm:chPref val="1"/>
        </dgm:presLayoutVars>
      </dgm:prSet>
      <dgm:spPr/>
    </dgm:pt>
    <dgm:pt modelId="{D8710EEF-C36B-4C4C-A246-2E09943E2E12}" type="pres">
      <dgm:prSet presAssocID="{DB51A900-792E-4DA0-B21A-5D49C7522A1A}" presName="sibTrans" presStyleCnt="0"/>
      <dgm:spPr/>
    </dgm:pt>
    <dgm:pt modelId="{CD42C729-EA93-4AF7-B24C-FBE8EE565832}" type="pres">
      <dgm:prSet presAssocID="{748D5FBD-10F6-4790-A6E0-9C4CC362D028}" presName="compNode" presStyleCnt="0"/>
      <dgm:spPr/>
    </dgm:pt>
    <dgm:pt modelId="{38D78BC4-35EF-4CF9-B290-9E9C05689ABE}" type="pres">
      <dgm:prSet presAssocID="{748D5FBD-10F6-4790-A6E0-9C4CC362D028}"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rtillo de juez"/>
        </a:ext>
      </dgm:extLst>
    </dgm:pt>
    <dgm:pt modelId="{BD62FEBE-5712-4E38-B204-05D0D150B9E1}" type="pres">
      <dgm:prSet presAssocID="{748D5FBD-10F6-4790-A6E0-9C4CC362D028}" presName="spaceRect" presStyleCnt="0"/>
      <dgm:spPr/>
    </dgm:pt>
    <dgm:pt modelId="{9B407F26-06D0-4B02-B267-C9AA2432E234}" type="pres">
      <dgm:prSet presAssocID="{748D5FBD-10F6-4790-A6E0-9C4CC362D028}" presName="textRect" presStyleLbl="revTx" presStyleIdx="5" presStyleCnt="8">
        <dgm:presLayoutVars>
          <dgm:chMax val="1"/>
          <dgm:chPref val="1"/>
        </dgm:presLayoutVars>
      </dgm:prSet>
      <dgm:spPr/>
    </dgm:pt>
    <dgm:pt modelId="{A8CC22A9-10A0-4B90-996B-131603DC11B6}" type="pres">
      <dgm:prSet presAssocID="{95CA84C1-5E70-4E11-B51A-DA15228085F7}" presName="sibTrans" presStyleCnt="0"/>
      <dgm:spPr/>
    </dgm:pt>
    <dgm:pt modelId="{62030999-D668-4485-A76D-720501F4740F}" type="pres">
      <dgm:prSet presAssocID="{8D0D85A3-8136-4C1C-83AA-2314862B50A8}" presName="compNode" presStyleCnt="0"/>
      <dgm:spPr/>
    </dgm:pt>
    <dgm:pt modelId="{FD8AE1C4-7A2B-48E9-B931-3087A4DFCBA9}" type="pres">
      <dgm:prSet presAssocID="{8D0D85A3-8136-4C1C-83AA-2314862B50A8}"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omillas"/>
        </a:ext>
      </dgm:extLst>
    </dgm:pt>
    <dgm:pt modelId="{AD7DB45F-4860-435C-A4E5-7A8F45BDDCD0}" type="pres">
      <dgm:prSet presAssocID="{8D0D85A3-8136-4C1C-83AA-2314862B50A8}" presName="spaceRect" presStyleCnt="0"/>
      <dgm:spPr/>
    </dgm:pt>
    <dgm:pt modelId="{1D08F634-DB0A-4123-8F33-1880E7302A93}" type="pres">
      <dgm:prSet presAssocID="{8D0D85A3-8136-4C1C-83AA-2314862B50A8}" presName="textRect" presStyleLbl="revTx" presStyleIdx="6" presStyleCnt="8">
        <dgm:presLayoutVars>
          <dgm:chMax val="1"/>
          <dgm:chPref val="1"/>
        </dgm:presLayoutVars>
      </dgm:prSet>
      <dgm:spPr/>
    </dgm:pt>
    <dgm:pt modelId="{136C49EC-5AA0-42DD-904F-8A39E5F8079F}" type="pres">
      <dgm:prSet presAssocID="{7B94752E-A3D4-4588-8559-07BF66556766}" presName="sibTrans" presStyleCnt="0"/>
      <dgm:spPr/>
    </dgm:pt>
    <dgm:pt modelId="{03B3413B-7B37-4A89-8534-94D14F08A996}" type="pres">
      <dgm:prSet presAssocID="{D4FF032A-B773-442C-B6E9-9D734EF3F882}" presName="compNode" presStyleCnt="0"/>
      <dgm:spPr/>
    </dgm:pt>
    <dgm:pt modelId="{CD6C9183-7521-4AB8-B15E-5FF6EBD65CC0}" type="pres">
      <dgm:prSet presAssocID="{D4FF032A-B773-442C-B6E9-9D734EF3F882}" presName="iconRect" presStyleLbl="node1" presStyleIdx="7" presStyleCnt="8" custLinFactX="-264099" custLinFactY="3165" custLinFactNeighborX="-300000" custLinFactNeighborY="100000"/>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Marca de verificación"/>
        </a:ext>
      </dgm:extLst>
    </dgm:pt>
    <dgm:pt modelId="{5CD9CA73-78EF-4BF9-9D93-107FE9BC4D11}" type="pres">
      <dgm:prSet presAssocID="{D4FF032A-B773-442C-B6E9-9D734EF3F882}" presName="spaceRect" presStyleCnt="0"/>
      <dgm:spPr/>
    </dgm:pt>
    <dgm:pt modelId="{3B1CF19C-C853-40F8-980C-6A28C60F9AEF}" type="pres">
      <dgm:prSet presAssocID="{D4FF032A-B773-442C-B6E9-9D734EF3F882}" presName="textRect" presStyleLbl="revTx" presStyleIdx="7" presStyleCnt="8" custScaleX="423714" custLinFactNeighborX="3452" custLinFactNeighborY="-32933">
        <dgm:presLayoutVars>
          <dgm:chMax val="1"/>
          <dgm:chPref val="1"/>
        </dgm:presLayoutVars>
      </dgm:prSet>
      <dgm:spPr/>
    </dgm:pt>
  </dgm:ptLst>
  <dgm:cxnLst>
    <dgm:cxn modelId="{279DCE09-FDC8-4F91-90CB-469E7178BE8D}" type="presOf" srcId="{D4FF032A-B773-442C-B6E9-9D734EF3F882}" destId="{3B1CF19C-C853-40F8-980C-6A28C60F9AEF}" srcOrd="0" destOrd="0" presId="urn:microsoft.com/office/officeart/2018/2/layout/IconLabelList"/>
    <dgm:cxn modelId="{A957EC15-06D8-44BE-9C4F-2F6F67E46013}" type="presOf" srcId="{39CFE18B-5298-46BB-A652-BF210A12764B}" destId="{3B1D674D-14BB-4EA8-8F8E-675F4ADB16F6}" srcOrd="0" destOrd="0" presId="urn:microsoft.com/office/officeart/2018/2/layout/IconLabelList"/>
    <dgm:cxn modelId="{DCF7CE26-9E59-4A45-8D71-A0314791BD73}" srcId="{39CFE18B-5298-46BB-A652-BF210A12764B}" destId="{748D5FBD-10F6-4790-A6E0-9C4CC362D028}" srcOrd="5" destOrd="0" parTransId="{A322AE7E-49F1-4FF7-8BC2-EC928EA1DA39}" sibTransId="{95CA84C1-5E70-4E11-B51A-DA15228085F7}"/>
    <dgm:cxn modelId="{BEB0762E-F7C0-4FF3-B827-AD50CA65E8D0}" type="presOf" srcId="{748D5FBD-10F6-4790-A6E0-9C4CC362D028}" destId="{9B407F26-06D0-4B02-B267-C9AA2432E234}" srcOrd="0" destOrd="0" presId="urn:microsoft.com/office/officeart/2018/2/layout/IconLabelList"/>
    <dgm:cxn modelId="{04E6DF30-BB3F-441B-8E42-4A4363400288}" srcId="{39CFE18B-5298-46BB-A652-BF210A12764B}" destId="{7AFBC790-D09E-4036-8C59-3E1D18B596C4}" srcOrd="0" destOrd="0" parTransId="{65DAA0CB-CA49-42D6-91F1-86780D147152}" sibTransId="{36FC1089-93AD-4153-AD5A-A95AF8BC6963}"/>
    <dgm:cxn modelId="{C60C3135-2B41-4322-B1E0-3F44CDFE2A83}" type="presOf" srcId="{20D9A21A-07A0-42D9-8AFD-6F76C1F7DF32}" destId="{F330B936-90D2-4845-94DF-C10A648C70EA}" srcOrd="0" destOrd="0" presId="urn:microsoft.com/office/officeart/2018/2/layout/IconLabelList"/>
    <dgm:cxn modelId="{9F9B8A45-EFFF-41BE-9C3F-47A9AE60320F}" type="presOf" srcId="{8D0D85A3-8136-4C1C-83AA-2314862B50A8}" destId="{1D08F634-DB0A-4123-8F33-1880E7302A93}" srcOrd="0" destOrd="0" presId="urn:microsoft.com/office/officeart/2018/2/layout/IconLabelList"/>
    <dgm:cxn modelId="{1CD16188-8B3E-448C-A0D3-0A06E79A6DEA}" srcId="{39CFE18B-5298-46BB-A652-BF210A12764B}" destId="{8D0D85A3-8136-4C1C-83AA-2314862B50A8}" srcOrd="6" destOrd="0" parTransId="{49C48D2B-6BB1-4D98-BC38-E797F4FC260E}" sibTransId="{7B94752E-A3D4-4588-8559-07BF66556766}"/>
    <dgm:cxn modelId="{43E76A8A-7A50-41D6-BFE3-9FFD673EB095}" type="presOf" srcId="{AA487DEB-4152-4B4F-A4D2-40B2166C75FE}" destId="{CC12E78A-8B06-42F9-B365-A5C88A75F190}" srcOrd="0" destOrd="0" presId="urn:microsoft.com/office/officeart/2018/2/layout/IconLabelList"/>
    <dgm:cxn modelId="{CF212C95-05F6-4E6B-8A1C-D49DFB0673FF}" srcId="{39CFE18B-5298-46BB-A652-BF210A12764B}" destId="{FDDADD8B-B54F-4AE7-89C2-9DBE4B55BE96}" srcOrd="1" destOrd="0" parTransId="{1F6D49B8-BDA7-4F2A-87B1-4DAA331F4344}" sibTransId="{3222EFDE-8DB3-46B7-BE41-90D396018465}"/>
    <dgm:cxn modelId="{C0EF9D96-BADA-4A85-A791-9199510E771B}" srcId="{39CFE18B-5298-46BB-A652-BF210A12764B}" destId="{AA487DEB-4152-4B4F-A4D2-40B2166C75FE}" srcOrd="3" destOrd="0" parTransId="{02AA25C8-A857-4112-9794-9C2015F4341B}" sibTransId="{E8082267-64FD-4625-9BBA-0316C2D083A7}"/>
    <dgm:cxn modelId="{CF5547A3-D1AE-4B6F-91FA-2E96C029C9F0}" srcId="{39CFE18B-5298-46BB-A652-BF210A12764B}" destId="{ED036111-DBCA-4EFB-ACDE-3ED407346BDA}" srcOrd="4" destOrd="0" parTransId="{C539BFE2-B946-485D-8861-EDA3E5B41B44}" sibTransId="{DB51A900-792E-4DA0-B21A-5D49C7522A1A}"/>
    <dgm:cxn modelId="{E2F20CB0-966E-48A7-8EDE-2FC87FCCCDFA}" type="presOf" srcId="{ED036111-DBCA-4EFB-ACDE-3ED407346BDA}" destId="{7CB30514-6770-45EF-9023-F55EE3DA5ABE}" srcOrd="0" destOrd="0" presId="urn:microsoft.com/office/officeart/2018/2/layout/IconLabelList"/>
    <dgm:cxn modelId="{72D897CB-ADFE-450D-8842-A4D5A1D909CA}" srcId="{39CFE18B-5298-46BB-A652-BF210A12764B}" destId="{20D9A21A-07A0-42D9-8AFD-6F76C1F7DF32}" srcOrd="2" destOrd="0" parTransId="{9341FFAB-1608-494E-BAA8-20D8667CE4BB}" sibTransId="{D2976CA3-2249-4F04-8975-603793F0D254}"/>
    <dgm:cxn modelId="{BB4EC7D0-63B5-45AF-9DE6-CB0D94763A5B}" type="presOf" srcId="{FDDADD8B-B54F-4AE7-89C2-9DBE4B55BE96}" destId="{312BD11A-A458-4AED-95F5-134C8FA8082B}" srcOrd="0" destOrd="0" presId="urn:microsoft.com/office/officeart/2018/2/layout/IconLabelList"/>
    <dgm:cxn modelId="{6C63D2DF-3AB4-4D59-9AB0-B9BBA3D596FD}" type="presOf" srcId="{7AFBC790-D09E-4036-8C59-3E1D18B596C4}" destId="{4B174556-DB80-4D80-AD27-A8BF027CAB6F}" srcOrd="0" destOrd="0" presId="urn:microsoft.com/office/officeart/2018/2/layout/IconLabelList"/>
    <dgm:cxn modelId="{FFDA97E2-7DBC-4D9B-BEC4-03A49A42EF49}" srcId="{39CFE18B-5298-46BB-A652-BF210A12764B}" destId="{D4FF032A-B773-442C-B6E9-9D734EF3F882}" srcOrd="7" destOrd="0" parTransId="{409FCF78-1284-4DC2-B1CB-D60944680676}" sibTransId="{EB82377E-7123-4ED5-87C8-71CD8EFB13C9}"/>
    <dgm:cxn modelId="{DED4E9E9-1919-4B32-88A6-17CDB0063942}" type="presParOf" srcId="{3B1D674D-14BB-4EA8-8F8E-675F4ADB16F6}" destId="{B260B6DE-472E-4D16-B35B-670436EC31A3}" srcOrd="0" destOrd="0" presId="urn:microsoft.com/office/officeart/2018/2/layout/IconLabelList"/>
    <dgm:cxn modelId="{7E2AF534-40B6-4D4E-9DA9-1DE4D58B9732}" type="presParOf" srcId="{B260B6DE-472E-4D16-B35B-670436EC31A3}" destId="{1C9DA6EE-54DE-4789-A2AD-FE6FC199A0DB}" srcOrd="0" destOrd="0" presId="urn:microsoft.com/office/officeart/2018/2/layout/IconLabelList"/>
    <dgm:cxn modelId="{34592143-162C-4D37-ACE8-060127F31B3B}" type="presParOf" srcId="{B260B6DE-472E-4D16-B35B-670436EC31A3}" destId="{A5A8FE09-ADB2-483C-9D8B-AD9017D1C3FD}" srcOrd="1" destOrd="0" presId="urn:microsoft.com/office/officeart/2018/2/layout/IconLabelList"/>
    <dgm:cxn modelId="{2BDCCD01-E6BC-4EE1-861E-CFDCDAC5ECAC}" type="presParOf" srcId="{B260B6DE-472E-4D16-B35B-670436EC31A3}" destId="{4B174556-DB80-4D80-AD27-A8BF027CAB6F}" srcOrd="2" destOrd="0" presId="urn:microsoft.com/office/officeart/2018/2/layout/IconLabelList"/>
    <dgm:cxn modelId="{CF1D9757-32B4-4454-A0C6-B1FD639B7CAF}" type="presParOf" srcId="{3B1D674D-14BB-4EA8-8F8E-675F4ADB16F6}" destId="{69A6C566-959D-457B-8AD0-4DC7EA0B09D4}" srcOrd="1" destOrd="0" presId="urn:microsoft.com/office/officeart/2018/2/layout/IconLabelList"/>
    <dgm:cxn modelId="{475B6E78-C4F4-4808-90E4-0972FFE733DC}" type="presParOf" srcId="{3B1D674D-14BB-4EA8-8F8E-675F4ADB16F6}" destId="{6CEC6032-DC3B-4641-8499-C89C4F5C814D}" srcOrd="2" destOrd="0" presId="urn:microsoft.com/office/officeart/2018/2/layout/IconLabelList"/>
    <dgm:cxn modelId="{4CAE4BF4-F2D0-45B1-B608-8881BAD52F62}" type="presParOf" srcId="{6CEC6032-DC3B-4641-8499-C89C4F5C814D}" destId="{8F514DA4-8A27-494D-9074-26B533BCA9DB}" srcOrd="0" destOrd="0" presId="urn:microsoft.com/office/officeart/2018/2/layout/IconLabelList"/>
    <dgm:cxn modelId="{15C259B9-760E-4CAC-8D7A-CA408FD626D5}" type="presParOf" srcId="{6CEC6032-DC3B-4641-8499-C89C4F5C814D}" destId="{25E93C82-5424-4B1D-B439-AF3EA60A2006}" srcOrd="1" destOrd="0" presId="urn:microsoft.com/office/officeart/2018/2/layout/IconLabelList"/>
    <dgm:cxn modelId="{3D45C527-A630-4E67-BF74-89C8CAAC05DF}" type="presParOf" srcId="{6CEC6032-DC3B-4641-8499-C89C4F5C814D}" destId="{312BD11A-A458-4AED-95F5-134C8FA8082B}" srcOrd="2" destOrd="0" presId="urn:microsoft.com/office/officeart/2018/2/layout/IconLabelList"/>
    <dgm:cxn modelId="{DCC79229-FBC3-460B-A9CB-DC1AF3CDE3DC}" type="presParOf" srcId="{3B1D674D-14BB-4EA8-8F8E-675F4ADB16F6}" destId="{01DF5203-F8F2-4AEE-AD9E-32444BD1F6ED}" srcOrd="3" destOrd="0" presId="urn:microsoft.com/office/officeart/2018/2/layout/IconLabelList"/>
    <dgm:cxn modelId="{77185658-A592-4FE0-96E3-C665655351BE}" type="presParOf" srcId="{3B1D674D-14BB-4EA8-8F8E-675F4ADB16F6}" destId="{71B1FDE6-4DB4-4C9A-B18F-28AFA2D5B5CA}" srcOrd="4" destOrd="0" presId="urn:microsoft.com/office/officeart/2018/2/layout/IconLabelList"/>
    <dgm:cxn modelId="{9091BD24-070A-42BB-A428-AF4D1DAF84F1}" type="presParOf" srcId="{71B1FDE6-4DB4-4C9A-B18F-28AFA2D5B5CA}" destId="{3DFF0E90-88ED-4D45-BEBD-0C4C800EEE2F}" srcOrd="0" destOrd="0" presId="urn:microsoft.com/office/officeart/2018/2/layout/IconLabelList"/>
    <dgm:cxn modelId="{BE99CCDD-677B-4986-B521-D21B908E9E76}" type="presParOf" srcId="{71B1FDE6-4DB4-4C9A-B18F-28AFA2D5B5CA}" destId="{2F2598BA-56E0-4ABC-8C6C-BC81AE248997}" srcOrd="1" destOrd="0" presId="urn:microsoft.com/office/officeart/2018/2/layout/IconLabelList"/>
    <dgm:cxn modelId="{E4F149FF-34C8-42EA-B02B-3938BF2965F1}" type="presParOf" srcId="{71B1FDE6-4DB4-4C9A-B18F-28AFA2D5B5CA}" destId="{F330B936-90D2-4845-94DF-C10A648C70EA}" srcOrd="2" destOrd="0" presId="urn:microsoft.com/office/officeart/2018/2/layout/IconLabelList"/>
    <dgm:cxn modelId="{359B38DB-CFEC-45AE-978F-14659C4FBAE4}" type="presParOf" srcId="{3B1D674D-14BB-4EA8-8F8E-675F4ADB16F6}" destId="{F0A6D823-A032-4676-AA07-09F7CE863CA2}" srcOrd="5" destOrd="0" presId="urn:microsoft.com/office/officeart/2018/2/layout/IconLabelList"/>
    <dgm:cxn modelId="{747EAB85-ACF3-4C2C-8985-257450CC27D3}" type="presParOf" srcId="{3B1D674D-14BB-4EA8-8F8E-675F4ADB16F6}" destId="{325D5327-8C8C-43C7-B12A-050A3DD380C5}" srcOrd="6" destOrd="0" presId="urn:microsoft.com/office/officeart/2018/2/layout/IconLabelList"/>
    <dgm:cxn modelId="{E81F3034-26A1-4D40-A0D6-95304B26A00A}" type="presParOf" srcId="{325D5327-8C8C-43C7-B12A-050A3DD380C5}" destId="{1AA591EA-A1B3-4B18-9239-407EA9933CF4}" srcOrd="0" destOrd="0" presId="urn:microsoft.com/office/officeart/2018/2/layout/IconLabelList"/>
    <dgm:cxn modelId="{FAD89816-B73D-49B9-A050-57814E627110}" type="presParOf" srcId="{325D5327-8C8C-43C7-B12A-050A3DD380C5}" destId="{05636580-2669-46F9-9918-F107101A625B}" srcOrd="1" destOrd="0" presId="urn:microsoft.com/office/officeart/2018/2/layout/IconLabelList"/>
    <dgm:cxn modelId="{49B93FD3-C777-42F7-A5C5-E8FF3A2FE58B}" type="presParOf" srcId="{325D5327-8C8C-43C7-B12A-050A3DD380C5}" destId="{CC12E78A-8B06-42F9-B365-A5C88A75F190}" srcOrd="2" destOrd="0" presId="urn:microsoft.com/office/officeart/2018/2/layout/IconLabelList"/>
    <dgm:cxn modelId="{9B51D2CF-69AB-400B-9A3B-3AD552D9343E}" type="presParOf" srcId="{3B1D674D-14BB-4EA8-8F8E-675F4ADB16F6}" destId="{9EC62AFD-D0F3-46DE-ADC4-1155E33DCA73}" srcOrd="7" destOrd="0" presId="urn:microsoft.com/office/officeart/2018/2/layout/IconLabelList"/>
    <dgm:cxn modelId="{2FC81374-30F6-4AF3-B39E-B8F190CCDBF4}" type="presParOf" srcId="{3B1D674D-14BB-4EA8-8F8E-675F4ADB16F6}" destId="{3A493481-44AB-4AED-8AAB-C69727573CD4}" srcOrd="8" destOrd="0" presId="urn:microsoft.com/office/officeart/2018/2/layout/IconLabelList"/>
    <dgm:cxn modelId="{FFE26550-9218-4C62-8408-D01CD1226CB3}" type="presParOf" srcId="{3A493481-44AB-4AED-8AAB-C69727573CD4}" destId="{5BC9D6A8-6926-4733-AA90-50728A2C03B9}" srcOrd="0" destOrd="0" presId="urn:microsoft.com/office/officeart/2018/2/layout/IconLabelList"/>
    <dgm:cxn modelId="{78442DF5-25BD-4174-9562-10ED739B6DB8}" type="presParOf" srcId="{3A493481-44AB-4AED-8AAB-C69727573CD4}" destId="{CE8B24E4-8196-41DE-A3BF-FD47DBE05D68}" srcOrd="1" destOrd="0" presId="urn:microsoft.com/office/officeart/2018/2/layout/IconLabelList"/>
    <dgm:cxn modelId="{8D14940C-1C1D-4EF8-B058-720474527240}" type="presParOf" srcId="{3A493481-44AB-4AED-8AAB-C69727573CD4}" destId="{7CB30514-6770-45EF-9023-F55EE3DA5ABE}" srcOrd="2" destOrd="0" presId="urn:microsoft.com/office/officeart/2018/2/layout/IconLabelList"/>
    <dgm:cxn modelId="{5AE3575C-B551-4C13-9BEE-3E46FADB50ED}" type="presParOf" srcId="{3B1D674D-14BB-4EA8-8F8E-675F4ADB16F6}" destId="{D8710EEF-C36B-4C4C-A246-2E09943E2E12}" srcOrd="9" destOrd="0" presId="urn:microsoft.com/office/officeart/2018/2/layout/IconLabelList"/>
    <dgm:cxn modelId="{71E79317-9944-400F-B5F0-722B8DDE014A}" type="presParOf" srcId="{3B1D674D-14BB-4EA8-8F8E-675F4ADB16F6}" destId="{CD42C729-EA93-4AF7-B24C-FBE8EE565832}" srcOrd="10" destOrd="0" presId="urn:microsoft.com/office/officeart/2018/2/layout/IconLabelList"/>
    <dgm:cxn modelId="{D9B955CB-8C29-4514-B0DA-4A22FDBCEAD0}" type="presParOf" srcId="{CD42C729-EA93-4AF7-B24C-FBE8EE565832}" destId="{38D78BC4-35EF-4CF9-B290-9E9C05689ABE}" srcOrd="0" destOrd="0" presId="urn:microsoft.com/office/officeart/2018/2/layout/IconLabelList"/>
    <dgm:cxn modelId="{2D5EB423-5756-4F6A-BFDE-DF3FD78E436E}" type="presParOf" srcId="{CD42C729-EA93-4AF7-B24C-FBE8EE565832}" destId="{BD62FEBE-5712-4E38-B204-05D0D150B9E1}" srcOrd="1" destOrd="0" presId="urn:microsoft.com/office/officeart/2018/2/layout/IconLabelList"/>
    <dgm:cxn modelId="{F905E9CE-DC3C-4A19-B879-0BBDA940743E}" type="presParOf" srcId="{CD42C729-EA93-4AF7-B24C-FBE8EE565832}" destId="{9B407F26-06D0-4B02-B267-C9AA2432E234}" srcOrd="2" destOrd="0" presId="urn:microsoft.com/office/officeart/2018/2/layout/IconLabelList"/>
    <dgm:cxn modelId="{191CB447-1BDE-4222-A36F-83E882223D4F}" type="presParOf" srcId="{3B1D674D-14BB-4EA8-8F8E-675F4ADB16F6}" destId="{A8CC22A9-10A0-4B90-996B-131603DC11B6}" srcOrd="11" destOrd="0" presId="urn:microsoft.com/office/officeart/2018/2/layout/IconLabelList"/>
    <dgm:cxn modelId="{C817D403-DC25-4B47-98E5-152B54FADEAE}" type="presParOf" srcId="{3B1D674D-14BB-4EA8-8F8E-675F4ADB16F6}" destId="{62030999-D668-4485-A76D-720501F4740F}" srcOrd="12" destOrd="0" presId="urn:microsoft.com/office/officeart/2018/2/layout/IconLabelList"/>
    <dgm:cxn modelId="{279A318D-775E-4346-9BB1-95243754DB98}" type="presParOf" srcId="{62030999-D668-4485-A76D-720501F4740F}" destId="{FD8AE1C4-7A2B-48E9-B931-3087A4DFCBA9}" srcOrd="0" destOrd="0" presId="urn:microsoft.com/office/officeart/2018/2/layout/IconLabelList"/>
    <dgm:cxn modelId="{8C4D5F81-9B07-446F-B21F-427A46832A59}" type="presParOf" srcId="{62030999-D668-4485-A76D-720501F4740F}" destId="{AD7DB45F-4860-435C-A4E5-7A8F45BDDCD0}" srcOrd="1" destOrd="0" presId="urn:microsoft.com/office/officeart/2018/2/layout/IconLabelList"/>
    <dgm:cxn modelId="{F495BC4B-B38C-4F68-9E83-5E692A4165D3}" type="presParOf" srcId="{62030999-D668-4485-A76D-720501F4740F}" destId="{1D08F634-DB0A-4123-8F33-1880E7302A93}" srcOrd="2" destOrd="0" presId="urn:microsoft.com/office/officeart/2018/2/layout/IconLabelList"/>
    <dgm:cxn modelId="{3F76E16C-72D4-4ED7-8483-E1936865A4E0}" type="presParOf" srcId="{3B1D674D-14BB-4EA8-8F8E-675F4ADB16F6}" destId="{136C49EC-5AA0-42DD-904F-8A39E5F8079F}" srcOrd="13" destOrd="0" presId="urn:microsoft.com/office/officeart/2018/2/layout/IconLabelList"/>
    <dgm:cxn modelId="{852F8C7A-D75E-4FA8-ABD5-B229338195CF}" type="presParOf" srcId="{3B1D674D-14BB-4EA8-8F8E-675F4ADB16F6}" destId="{03B3413B-7B37-4A89-8534-94D14F08A996}" srcOrd="14" destOrd="0" presId="urn:microsoft.com/office/officeart/2018/2/layout/IconLabelList"/>
    <dgm:cxn modelId="{10702A75-8585-4D9A-91C9-6A3853D529AB}" type="presParOf" srcId="{03B3413B-7B37-4A89-8534-94D14F08A996}" destId="{CD6C9183-7521-4AB8-B15E-5FF6EBD65CC0}" srcOrd="0" destOrd="0" presId="urn:microsoft.com/office/officeart/2018/2/layout/IconLabelList"/>
    <dgm:cxn modelId="{50FC3B15-9455-4A69-B5AF-E79939051860}" type="presParOf" srcId="{03B3413B-7B37-4A89-8534-94D14F08A996}" destId="{5CD9CA73-78EF-4BF9-9D93-107FE9BC4D11}" srcOrd="1" destOrd="0" presId="urn:microsoft.com/office/officeart/2018/2/layout/IconLabelList"/>
    <dgm:cxn modelId="{7931C64F-3C86-4FC1-AAE3-09DC7612B5E5}" type="presParOf" srcId="{03B3413B-7B37-4A89-8534-94D14F08A996}" destId="{3B1CF19C-C853-40F8-980C-6A28C60F9AE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9DA6EE-54DE-4789-A2AD-FE6FC199A0DB}">
      <dsp:nvSpPr>
        <dsp:cNvPr id="0" name=""/>
        <dsp:cNvSpPr/>
      </dsp:nvSpPr>
      <dsp:spPr>
        <a:xfrm>
          <a:off x="489450" y="437938"/>
          <a:ext cx="575859" cy="5758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174556-DB80-4D80-AD27-A8BF027CAB6F}">
      <dsp:nvSpPr>
        <dsp:cNvPr id="0" name=""/>
        <dsp:cNvSpPr/>
      </dsp:nvSpPr>
      <dsp:spPr>
        <a:xfrm>
          <a:off x="137536"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a:t>Fundamentos de la moral</a:t>
          </a:r>
          <a:endParaRPr lang="en-US" sz="1100" kern="1200"/>
        </a:p>
      </dsp:txBody>
      <dsp:txXfrm>
        <a:off x="137536" y="1264325"/>
        <a:ext cx="1279687" cy="663447"/>
      </dsp:txXfrm>
    </dsp:sp>
    <dsp:sp modelId="{8F514DA4-8A27-494D-9074-26B533BCA9DB}">
      <dsp:nvSpPr>
        <dsp:cNvPr id="0" name=""/>
        <dsp:cNvSpPr/>
      </dsp:nvSpPr>
      <dsp:spPr>
        <a:xfrm>
          <a:off x="1993083" y="437938"/>
          <a:ext cx="575859" cy="5758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2BD11A-A458-4AED-95F5-134C8FA8082B}">
      <dsp:nvSpPr>
        <dsp:cNvPr id="0" name=""/>
        <dsp:cNvSpPr/>
      </dsp:nvSpPr>
      <dsp:spPr>
        <a:xfrm>
          <a:off x="1641169"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dirty="0"/>
            <a:t>¿Qué es ética? ¿Qué es moral?</a:t>
          </a:r>
          <a:endParaRPr lang="en-US" sz="1100" kern="1200" dirty="0"/>
        </a:p>
      </dsp:txBody>
      <dsp:txXfrm>
        <a:off x="1641169" y="1264325"/>
        <a:ext cx="1279687" cy="663447"/>
      </dsp:txXfrm>
    </dsp:sp>
    <dsp:sp modelId="{3DFF0E90-88ED-4D45-BEBD-0C4C800EEE2F}">
      <dsp:nvSpPr>
        <dsp:cNvPr id="0" name=""/>
        <dsp:cNvSpPr/>
      </dsp:nvSpPr>
      <dsp:spPr>
        <a:xfrm>
          <a:off x="3496716" y="437938"/>
          <a:ext cx="575859" cy="5758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30B936-90D2-4845-94DF-C10A648C70EA}">
      <dsp:nvSpPr>
        <dsp:cNvPr id="0" name=""/>
        <dsp:cNvSpPr/>
      </dsp:nvSpPr>
      <dsp:spPr>
        <a:xfrm>
          <a:off x="3144802"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a:t>Estas palabras son la ciencia de las costumbres, es decir, 0el esfuerzo por vivir una vida acorde con la dignidad del ser humano.</a:t>
          </a:r>
          <a:endParaRPr lang="en-US" sz="1100" kern="1200"/>
        </a:p>
      </dsp:txBody>
      <dsp:txXfrm>
        <a:off x="3144802" y="1264325"/>
        <a:ext cx="1279687" cy="663447"/>
      </dsp:txXfrm>
    </dsp:sp>
    <dsp:sp modelId="{1AA591EA-A1B3-4B18-9239-407EA9933CF4}">
      <dsp:nvSpPr>
        <dsp:cNvPr id="0" name=""/>
        <dsp:cNvSpPr/>
      </dsp:nvSpPr>
      <dsp:spPr>
        <a:xfrm>
          <a:off x="5000349" y="437938"/>
          <a:ext cx="575859" cy="5758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12E78A-8B06-42F9-B365-A5C88A75F190}">
      <dsp:nvSpPr>
        <dsp:cNvPr id="0" name=""/>
        <dsp:cNvSpPr/>
      </dsp:nvSpPr>
      <dsp:spPr>
        <a:xfrm>
          <a:off x="4648435"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a:t>Existen unos fundamentos de la vida moral, de los cuales el comportamiento humano se basa de estos. Los 4 fundamentos básicos son:</a:t>
          </a:r>
          <a:endParaRPr lang="en-US" sz="1100" kern="1200"/>
        </a:p>
      </dsp:txBody>
      <dsp:txXfrm>
        <a:off x="4648435" y="1264325"/>
        <a:ext cx="1279687" cy="663447"/>
      </dsp:txXfrm>
    </dsp:sp>
    <dsp:sp modelId="{5BC9D6A8-6926-4733-AA90-50728A2C03B9}">
      <dsp:nvSpPr>
        <dsp:cNvPr id="0" name=""/>
        <dsp:cNvSpPr/>
      </dsp:nvSpPr>
      <dsp:spPr>
        <a:xfrm>
          <a:off x="6503982" y="437938"/>
          <a:ext cx="575859" cy="5758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B30514-6770-45EF-9023-F55EE3DA5ABE}">
      <dsp:nvSpPr>
        <dsp:cNvPr id="0" name=""/>
        <dsp:cNvSpPr/>
      </dsp:nvSpPr>
      <dsp:spPr>
        <a:xfrm>
          <a:off x="6152068"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a:t>LIBERTAD PERSONAL: somos capaces de  elegir y realizar nuestros actos, ya sean buenos o malos</a:t>
          </a:r>
          <a:endParaRPr lang="en-US" sz="1100" kern="1200"/>
        </a:p>
      </dsp:txBody>
      <dsp:txXfrm>
        <a:off x="6152068" y="1264325"/>
        <a:ext cx="1279687" cy="663447"/>
      </dsp:txXfrm>
    </dsp:sp>
    <dsp:sp modelId="{38D78BC4-35EF-4CF9-B290-9E9C05689ABE}">
      <dsp:nvSpPr>
        <dsp:cNvPr id="0" name=""/>
        <dsp:cNvSpPr/>
      </dsp:nvSpPr>
      <dsp:spPr>
        <a:xfrm>
          <a:off x="8007614" y="437938"/>
          <a:ext cx="575859" cy="57585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407F26-06D0-4B02-B267-C9AA2432E234}">
      <dsp:nvSpPr>
        <dsp:cNvPr id="0" name=""/>
        <dsp:cNvSpPr/>
      </dsp:nvSpPr>
      <dsp:spPr>
        <a:xfrm>
          <a:off x="7655700"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dirty="0"/>
            <a:t>NORMAS MORALES: Indican los que está bien , y lo que está mal. Estas abarcan la ley natural y la ley revelada.</a:t>
          </a:r>
          <a:endParaRPr lang="en-US" sz="1100" kern="1200" dirty="0"/>
        </a:p>
      </dsp:txBody>
      <dsp:txXfrm>
        <a:off x="7655700" y="1264325"/>
        <a:ext cx="1279687" cy="663447"/>
      </dsp:txXfrm>
    </dsp:sp>
    <dsp:sp modelId="{FD8AE1C4-7A2B-48E9-B931-3087A4DFCBA9}">
      <dsp:nvSpPr>
        <dsp:cNvPr id="0" name=""/>
        <dsp:cNvSpPr/>
      </dsp:nvSpPr>
      <dsp:spPr>
        <a:xfrm>
          <a:off x="9511247" y="437938"/>
          <a:ext cx="575859" cy="57585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08F634-DB0A-4123-8F33-1880E7302A93}">
      <dsp:nvSpPr>
        <dsp:cNvPr id="0" name=""/>
        <dsp:cNvSpPr/>
      </dsp:nvSpPr>
      <dsp:spPr>
        <a:xfrm>
          <a:off x="9159333" y="1264325"/>
          <a:ext cx="1279687"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a:t>CONCIENCIA: Mediante el cual haces un juicio, por el que reconoces lo que es bueno y lo que es malo.</a:t>
          </a:r>
          <a:endParaRPr lang="en-US" sz="1100" kern="1200"/>
        </a:p>
      </dsp:txBody>
      <dsp:txXfrm>
        <a:off x="9159333" y="1264325"/>
        <a:ext cx="1279687" cy="663447"/>
      </dsp:txXfrm>
    </dsp:sp>
    <dsp:sp modelId="{CD6C9183-7521-4AB8-B15E-5FF6EBD65CC0}">
      <dsp:nvSpPr>
        <dsp:cNvPr id="0" name=""/>
        <dsp:cNvSpPr/>
      </dsp:nvSpPr>
      <dsp:spPr>
        <a:xfrm>
          <a:off x="1751932" y="2841780"/>
          <a:ext cx="575859" cy="57585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1CF19C-C853-40F8-980C-6A28C60F9AEF}">
      <dsp:nvSpPr>
        <dsp:cNvPr id="0" name=""/>
        <dsp:cNvSpPr/>
      </dsp:nvSpPr>
      <dsp:spPr>
        <a:xfrm>
          <a:off x="2621346" y="2855589"/>
          <a:ext cx="5422215" cy="663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CO" sz="1100" kern="1200" dirty="0"/>
            <a:t>FUENTES DE MORALIDAD: Los elementos que confluyen a la hora de calificar la dimensión moral, </a:t>
          </a:r>
          <a:r>
            <a:rPr lang="es-MX" sz="1100" kern="1200" dirty="0"/>
            <a:t>un ejemplo de estos es</a:t>
          </a:r>
          <a:r>
            <a:rPr lang="es-CO" sz="1100" kern="1200" dirty="0"/>
            <a:t>: objeto del acto, finalidad, y circunstancias.</a:t>
          </a:r>
          <a:endParaRPr lang="en-US" sz="1100" kern="1200" dirty="0"/>
        </a:p>
      </dsp:txBody>
      <dsp:txXfrm>
        <a:off x="2621346" y="2855589"/>
        <a:ext cx="5422215" cy="66344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9AB3A824-1A51-4B26-AD58-A6D8E14F6C04}" type="datetimeFigureOut">
              <a:rPr lang="en-US" smtClean="0"/>
              <a:t>7/22/2023</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
              </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529016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7/22/2023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300414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04672" y="320040"/>
            <a:ext cx="3657600" cy="320040"/>
          </a:xfrm>
        </p:spPr>
        <p:txBody>
          <a:bodyPr/>
          <a:lstStyle/>
          <a:p>
            <a:fld id="{3E5059C3-6A89-4494-99FF-5A4D6FFD50EB}" type="datetimeFigureOut">
              <a:rPr lang="en-US" smtClean="0"/>
              <a:t>7/22/2023</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
              </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33704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CA954B2F-12DE-47F5-8894-472B206D2E1E}" type="datetimeFigureOut">
              <a:rPr lang="en-US" smtClean="0"/>
              <a:t>7/22/2023</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r>
              <a:rPr lang="en-US"/>
              <a:t>
              </a:t>
            </a:r>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29712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125305" y="1488985"/>
            <a:ext cx="6264350" cy="169685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118447" y="4351687"/>
            <a:ext cx="6265588" cy="17040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3F30E46F-7819-4ACF-B48B-48222C2ACC88}" type="datetimeFigureOut">
              <a:rPr lang="en-US" smtClean="0"/>
              <a:t>7/22/2023</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r>
              <a:rPr lang="en-US"/>
              <a:t>
              </a:t>
            </a:r>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187528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7/22/2023</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61794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921D9284-D300-4297-87F7-E791DCC15DB1}" type="datetimeFigureOut">
              <a:rPr lang="en-US" smtClean="0"/>
              <a:t>7/22/2023</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r>
              <a:rPr lang="en-US"/>
              <a:t>
              </a:t>
            </a:r>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3325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smtClean="0"/>
              <a:t>7/22/2023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798140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804672" y="320040"/>
            <a:ext cx="3657600" cy="320040"/>
          </a:xfrm>
        </p:spPr>
        <p:txBody>
          <a:bodyPr/>
          <a:lstStyle/>
          <a:p>
            <a:fld id="{B16C4C9A-3960-41CF-A4E9-2A8FB932454B}" type="datetimeFigureOut">
              <a:rPr lang="en-US" smtClean="0"/>
              <a:t>7/22/2023</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r>
              <a:rPr lang="en-US"/>
              <a:t>
              </a:t>
            </a:r>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0854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7/22/2023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6042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D3FFE419-2371-464F-8239-3959401C3561}" type="datetimeFigureOut">
              <a:rPr lang="en-US" smtClean="0"/>
              <a:t>7/22/2023</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r>
              <a:rPr lang="en-US"/>
              <a:t>
              </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30357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3CBC1C18-307B-4F68-A007-B5B542270E8D}" type="datetimeFigureOut">
              <a:rPr lang="en-US" smtClean="0"/>
              <a:t>7/22/2023</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2087602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youtube.com/watch?v=YQWNRWaABSc"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gQrAsF5nyEI?feature=oembe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video" Target="https://www.youtube.com/embed/lDYDI6ghH5Y?feature=oemb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YLJG_YwY3Tg?feature=oembe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Lq0ZGcqn-Zg?feature=oemb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hyperlink" Target="http://www.filosofia.net/materiales/sofiafilia/eec/eec_26.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1"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accent1">
                  <a:alpha val="1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accent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3"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4"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5"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6"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accent1">
                  <a:alpha val="7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7"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8"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9"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0"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1"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2"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3"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4"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accent1">
                  <a:alpha val="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5"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6"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7"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accent1">
                  <a:alpha val="4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8"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grpSp>
      <p:sp>
        <p:nvSpPr>
          <p:cNvPr id="2" name="Título 1">
            <a:extLst>
              <a:ext uri="{FF2B5EF4-FFF2-40B4-BE49-F238E27FC236}">
                <a16:creationId xmlns:a16="http://schemas.microsoft.com/office/drawing/2014/main" id="{B3120B89-040D-4753-951E-384C25F68862}"/>
              </a:ext>
            </a:extLst>
          </p:cNvPr>
          <p:cNvSpPr>
            <a:spLocks noGrp="1"/>
          </p:cNvSpPr>
          <p:nvPr>
            <p:ph type="ctrTitle"/>
          </p:nvPr>
        </p:nvSpPr>
        <p:spPr>
          <a:xfrm>
            <a:off x="2037374" y="1263404"/>
            <a:ext cx="8247189" cy="3115075"/>
          </a:xfrm>
        </p:spPr>
        <p:txBody>
          <a:bodyPr>
            <a:normAutofit/>
          </a:bodyPr>
          <a:lstStyle/>
          <a:p>
            <a:pPr algn="l"/>
            <a:r>
              <a:rPr lang="es-CO" sz="2900">
                <a:solidFill>
                  <a:schemeClr val="accent1"/>
                </a:solidFill>
              </a:rPr>
              <a:t>TEORÍAS ÉTICAS</a:t>
            </a:r>
            <a:br>
              <a:rPr lang="es-CO" sz="2900">
                <a:solidFill>
                  <a:schemeClr val="accent1"/>
                </a:solidFill>
              </a:rPr>
            </a:br>
            <a:r>
              <a:rPr lang="es-CO" sz="2900">
                <a:solidFill>
                  <a:schemeClr val="accent1"/>
                </a:solidFill>
                <a:hlinkClick r:id="rId2"/>
              </a:rPr>
              <a:t>https://www.youtube.com/watch?v=YQWNRWaABSc</a:t>
            </a:r>
            <a:br>
              <a:rPr lang="es-CO" sz="2900">
                <a:solidFill>
                  <a:schemeClr val="accent1"/>
                </a:solidFill>
              </a:rPr>
            </a:br>
            <a:br>
              <a:rPr lang="es-CO" sz="2900">
                <a:solidFill>
                  <a:schemeClr val="accent1"/>
                </a:solidFill>
              </a:rPr>
            </a:br>
            <a:r>
              <a:rPr lang="es-CO" sz="2900">
                <a:solidFill>
                  <a:schemeClr val="accent1"/>
                </a:solidFill>
              </a:rPr>
              <a:t>ÉTICAS DE LOS FINES </a:t>
            </a:r>
          </a:p>
        </p:txBody>
      </p:sp>
      <p:sp>
        <p:nvSpPr>
          <p:cNvPr id="30" name="Isosceles Triangle 29">
            <a:extLst>
              <a:ext uri="{FF2B5EF4-FFF2-40B4-BE49-F238E27FC236}">
                <a16:creationId xmlns:a16="http://schemas.microsoft.com/office/drawing/2014/main" id="{3F39476B-1A6D-47CB-AC7A-FB87EF003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90253" y="3276595"/>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64864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39"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40"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1"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2"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3"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4"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5"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6"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7"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8"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49"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0"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1"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2"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3"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4"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5"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6"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7"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8"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59"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grpSp>
      <p:sp>
        <p:nvSpPr>
          <p:cNvPr id="60"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B5FABE-6B57-4FC0-8EA9-04F322AB9C63}"/>
              </a:ext>
            </a:extLst>
          </p:cNvPr>
          <p:cNvSpPr>
            <a:spLocks noGrp="1"/>
          </p:cNvSpPr>
          <p:nvPr>
            <p:ph type="title"/>
          </p:nvPr>
        </p:nvSpPr>
        <p:spPr>
          <a:xfrm>
            <a:off x="645459" y="960120"/>
            <a:ext cx="3865695" cy="4171278"/>
          </a:xfrm>
        </p:spPr>
        <p:txBody>
          <a:bodyPr>
            <a:normAutofit/>
          </a:bodyPr>
          <a:lstStyle/>
          <a:p>
            <a:pPr algn="r"/>
            <a:r>
              <a:rPr lang="es-ES_tradnl" sz="3100" b="0" i="0" dirty="0">
                <a:solidFill>
                  <a:schemeClr val="tx1"/>
                </a:solidFill>
                <a:effectLst/>
                <a:latin typeface="Arial" panose="020B0604020202020204" pitchFamily="34" charset="0"/>
              </a:rPr>
              <a:t>INTELECTUALISMO MORAL</a:t>
            </a:r>
            <a:br>
              <a:rPr lang="es-ES_tradnl" sz="3100" b="0" i="0" dirty="0">
                <a:solidFill>
                  <a:schemeClr val="tx1"/>
                </a:solidFill>
                <a:effectLst/>
                <a:latin typeface="Arial" panose="020B0604020202020204" pitchFamily="34" charset="0"/>
              </a:rPr>
            </a:br>
            <a:endParaRPr lang="es-CO" sz="3100" dirty="0">
              <a:solidFill>
                <a:schemeClr val="tx1"/>
              </a:solidFill>
            </a:endParaRPr>
          </a:p>
        </p:txBody>
      </p:sp>
      <p:cxnSp>
        <p:nvCxnSpPr>
          <p:cNvPr id="61"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17EE8790-FE5B-4BB7-A92F-963CB6F185E2}"/>
              </a:ext>
            </a:extLst>
          </p:cNvPr>
          <p:cNvSpPr>
            <a:spLocks noGrp="1"/>
          </p:cNvSpPr>
          <p:nvPr>
            <p:ph idx="1"/>
          </p:nvPr>
        </p:nvSpPr>
        <p:spPr>
          <a:xfrm>
            <a:off x="4983164" y="960120"/>
            <a:ext cx="5511800" cy="4171278"/>
          </a:xfrm>
        </p:spPr>
        <p:txBody>
          <a:bodyPr>
            <a:normAutofit/>
          </a:bodyPr>
          <a:lstStyle/>
          <a:p>
            <a:pPr>
              <a:lnSpc>
                <a:spcPct val="110000"/>
              </a:lnSpc>
            </a:pPr>
            <a:r>
              <a:rPr lang="es-CO" sz="1500" b="0" i="0">
                <a:effectLst/>
                <a:latin typeface="Arial" panose="020B0604020202020204" pitchFamily="34" charset="0"/>
              </a:rPr>
              <a:t>Según esta teoría, conocer el bien es hacerlo: sólo actúa inmoralmente el que desconoce en qué consiste el bien. Puede comprobarse que esta teoría es doblemente </a:t>
            </a:r>
            <a:r>
              <a:rPr lang="es-CO" sz="1500" b="1" i="0">
                <a:effectLst/>
                <a:latin typeface="Arial" panose="020B0604020202020204" pitchFamily="34" charset="0"/>
              </a:rPr>
              <a:t>cognitivista</a:t>
            </a:r>
            <a:r>
              <a:rPr lang="es-CO" sz="1500" b="0" i="0">
                <a:effectLst/>
                <a:latin typeface="Arial" panose="020B0604020202020204" pitchFamily="34" charset="0"/>
              </a:rPr>
              <a:t>, ya que no sólo afirma que es posible conocer el bien, sino que además defiende que este conocimiento es el único requisito necesario para cumplirlo. El filósofo griego </a:t>
            </a:r>
            <a:r>
              <a:rPr lang="es-CO" sz="1500" b="1" i="0">
                <a:effectLst/>
                <a:latin typeface="Arial" panose="020B0604020202020204" pitchFamily="34" charset="0"/>
              </a:rPr>
              <a:t>Sócrates </a:t>
            </a:r>
            <a:r>
              <a:rPr lang="es-CO" sz="1500" b="0" i="0">
                <a:effectLst/>
                <a:latin typeface="Arial" panose="020B0604020202020204" pitchFamily="34" charset="0"/>
              </a:rPr>
              <a:t>fue el primero en mantener dicha postura ética, Para este pensador, no sólo el bien es algo que tiene existencia objetiva y validez universal, sino que, además, al ser humano le es posible acceder a él. Así pues, Sócrates concibe la </a:t>
            </a:r>
            <a:r>
              <a:rPr lang="es-CO" sz="1500" b="1" i="0">
                <a:effectLst/>
                <a:latin typeface="Arial" panose="020B0604020202020204" pitchFamily="34" charset="0"/>
              </a:rPr>
              <a:t>moral </a:t>
            </a:r>
            <a:r>
              <a:rPr lang="es-CO" sz="1500" b="0" i="0">
                <a:effectLst/>
                <a:latin typeface="Arial" panose="020B0604020202020204" pitchFamily="34" charset="0"/>
              </a:rPr>
              <a:t>como un </a:t>
            </a:r>
            <a:r>
              <a:rPr lang="es-CO" sz="1500" b="1" i="0">
                <a:effectLst/>
                <a:latin typeface="Arial" panose="020B0604020202020204" pitchFamily="34" charset="0"/>
              </a:rPr>
              <a:t>saber</a:t>
            </a:r>
            <a:r>
              <a:rPr lang="es-CO" sz="1500" b="0" i="0">
                <a:effectLst/>
                <a:latin typeface="Arial" panose="020B0604020202020204" pitchFamily="34" charset="0"/>
              </a:rPr>
              <a:t>. De la misma forma que quien sabe de carpintería es carpintero y el que sabe de medicina es médico, sólo el que sabe qué es la justicia es justo. Por lo tanto, para este filósofo no hay personas malas, sino ignorantes, y no hay personas buenas si no son sabias.</a:t>
            </a:r>
            <a:endParaRPr lang="es-CO" sz="1500"/>
          </a:p>
        </p:txBody>
      </p:sp>
    </p:spTree>
    <p:extLst>
      <p:ext uri="{BB962C8B-B14F-4D97-AF65-F5344CB8AC3E}">
        <p14:creationId xmlns:p14="http://schemas.microsoft.com/office/powerpoint/2010/main" val="352423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37C157-FA7C-44F7-8F26-8D60F1E4D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D1E6BDE-4282-4B03-AB6B-4B55BB5A5E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485C833A-4CAA-4628-90AF-765B4D9CD7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AB238B6B-BE4A-43D5-9BF4-F25E4B1102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822A3114-5712-45A9-8D29-C017CBA9C4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B92AC81A-C7E1-484B-8CE8-35C3B082F2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1F04CC80-0868-47FF-81E3-284C107F9E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7557CA5F-0383-45CC-ABD6-3F13DF5C11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90AA14ED-4772-4347-AB17-45AE5F2450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E3A0F7B3-4CF0-4247-84C0-6588F359D9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1084963C-5EA9-4967-9241-33487A7F9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4A92CEED-BBF5-4D27-BAEF-3CB7750A19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FE7A7AD6-5681-4FC3-8C0D-39608A2D15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5A1DD085-9573-46D7-96D8-FB79FAF0C3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4A9B4107-3EEB-48E9-968B-A0A731458B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8109B0A4-ED54-4DED-96E6-820DD63248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A8C6847A-91A4-4A9B-B064-11CF6443AA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C85C9753-33A0-4817-9B8C-3E8A6CC4B3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9315F3C9-3634-4926-8C56-00168B1A71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F28382E8-33D6-429A-B585-9579AA2EFA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21499034-1E36-46FE-AB69-42EBD104BA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78480B4D-FB9B-4DC7-BF42-94946CF130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83412C15-B417-4C20-A798-77F6B5BFD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34" name="Group 33">
            <a:extLst>
              <a:ext uri="{FF2B5EF4-FFF2-40B4-BE49-F238E27FC236}">
                <a16:creationId xmlns:a16="http://schemas.microsoft.com/office/drawing/2014/main" id="{EC03EF63-B185-48A4-9905-A9BBA70F50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5" name="Rectangle 34">
              <a:extLst>
                <a:ext uri="{FF2B5EF4-FFF2-40B4-BE49-F238E27FC236}">
                  <a16:creationId xmlns:a16="http://schemas.microsoft.com/office/drawing/2014/main" id="{400FC753-51FF-49B1-AE2F-C9BAAFD0B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2">
              <a:extLst>
                <a:ext uri="{FF2B5EF4-FFF2-40B4-BE49-F238E27FC236}">
                  <a16:creationId xmlns:a16="http://schemas.microsoft.com/office/drawing/2014/main" id="{17B242DE-F1CC-479B-97B0-05C00AD52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5338455-991A-4916-AD34-2C870B6DE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567240F3-A506-480C-9C97-E9AB06A7A371}"/>
              </a:ext>
            </a:extLst>
          </p:cNvPr>
          <p:cNvSpPr>
            <a:spLocks noGrp="1"/>
          </p:cNvSpPr>
          <p:nvPr>
            <p:ph type="title"/>
          </p:nvPr>
        </p:nvSpPr>
        <p:spPr>
          <a:xfrm>
            <a:off x="888631" y="2358391"/>
            <a:ext cx="3498979" cy="2453676"/>
          </a:xfrm>
        </p:spPr>
        <p:txBody>
          <a:bodyPr>
            <a:normAutofit/>
          </a:bodyPr>
          <a:lstStyle/>
          <a:p>
            <a:r>
              <a:rPr lang="es-CO" dirty="0"/>
              <a:t>Observamos </a:t>
            </a:r>
          </a:p>
        </p:txBody>
      </p:sp>
      <p:sp useBgFill="1">
        <p:nvSpPr>
          <p:cNvPr id="39" name="Rectangle 38">
            <a:extLst>
              <a:ext uri="{FF2B5EF4-FFF2-40B4-BE49-F238E27FC236}">
                <a16:creationId xmlns:a16="http://schemas.microsoft.com/office/drawing/2014/main" id="{800324C0-3F86-4ACD-945B-4AD842C9C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264" y="803186"/>
            <a:ext cx="6269015" cy="2978319"/>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lementos multimedia en línea 3" title="SÓCRATES 1/5: INTELECTUALISMO MORAL">
            <a:hlinkClick r:id="" action="ppaction://media"/>
            <a:extLst>
              <a:ext uri="{FF2B5EF4-FFF2-40B4-BE49-F238E27FC236}">
                <a16:creationId xmlns:a16="http://schemas.microsoft.com/office/drawing/2014/main" id="{B02EDBA2-8758-3F1B-AC6A-EDF41FEA3E55}"/>
              </a:ext>
            </a:extLst>
          </p:cNvPr>
          <p:cNvPicPr>
            <a:picLocks noRot="1" noChangeAspect="1"/>
          </p:cNvPicPr>
          <p:nvPr>
            <a:videoFile r:link="rId1"/>
          </p:nvPr>
        </p:nvPicPr>
        <p:blipFill>
          <a:blip r:embed="rId3"/>
          <a:stretch>
            <a:fillRect/>
          </a:stretch>
        </p:blipFill>
        <p:spPr>
          <a:xfrm>
            <a:off x="5191646" y="964051"/>
            <a:ext cx="4827519" cy="3620640"/>
          </a:xfrm>
          <a:prstGeom prst="rect">
            <a:avLst/>
          </a:prstGeom>
          <a:ln w="9525">
            <a:noFill/>
          </a:ln>
        </p:spPr>
      </p:pic>
      <p:sp>
        <p:nvSpPr>
          <p:cNvPr id="3" name="Marcador de contenido 2">
            <a:extLst>
              <a:ext uri="{FF2B5EF4-FFF2-40B4-BE49-F238E27FC236}">
                <a16:creationId xmlns:a16="http://schemas.microsoft.com/office/drawing/2014/main" id="{9A194572-8137-4338-8FCC-6049288C8C78}"/>
              </a:ext>
            </a:extLst>
          </p:cNvPr>
          <p:cNvSpPr>
            <a:spLocks noGrp="1"/>
          </p:cNvSpPr>
          <p:nvPr>
            <p:ph idx="1"/>
          </p:nvPr>
        </p:nvSpPr>
        <p:spPr>
          <a:xfrm>
            <a:off x="5118447" y="4267830"/>
            <a:ext cx="6281873" cy="1783977"/>
          </a:xfrm>
        </p:spPr>
        <p:txBody>
          <a:bodyPr>
            <a:normAutofit/>
          </a:bodyPr>
          <a:lstStyle/>
          <a:p>
            <a:r>
              <a:rPr lang="es-CO" dirty="0"/>
              <a:t>https://www.youtube.com/watch?v=gQrAsF5nyEI</a:t>
            </a:r>
          </a:p>
        </p:txBody>
      </p:sp>
    </p:spTree>
    <p:extLst>
      <p:ext uri="{BB962C8B-B14F-4D97-AF65-F5344CB8AC3E}">
        <p14:creationId xmlns:p14="http://schemas.microsoft.com/office/powerpoint/2010/main" val="416467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D6E56CF3-26B9-4D5A-96C0-31E3E53B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5" name="Group 1034">
            <a:extLst>
              <a:ext uri="{FF2B5EF4-FFF2-40B4-BE49-F238E27FC236}">
                <a16:creationId xmlns:a16="http://schemas.microsoft.com/office/drawing/2014/main" id="{7E61D94F-EA5C-4330-8A35-483A7E5893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36" name="Freeform 5">
              <a:extLst>
                <a:ext uri="{FF2B5EF4-FFF2-40B4-BE49-F238E27FC236}">
                  <a16:creationId xmlns:a16="http://schemas.microsoft.com/office/drawing/2014/main" id="{8BF6168A-9E65-4524-A92C-534967CC9B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7" name="Freeform 6">
              <a:extLst>
                <a:ext uri="{FF2B5EF4-FFF2-40B4-BE49-F238E27FC236}">
                  <a16:creationId xmlns:a16="http://schemas.microsoft.com/office/drawing/2014/main" id="{03494CE7-F2DE-46D5-AC7D-30071BCCB5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8" name="Freeform 7">
              <a:extLst>
                <a:ext uri="{FF2B5EF4-FFF2-40B4-BE49-F238E27FC236}">
                  <a16:creationId xmlns:a16="http://schemas.microsoft.com/office/drawing/2014/main" id="{91F5A2CE-439D-4922-961F-6A986BDF2C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9" name="Freeform 8">
              <a:extLst>
                <a:ext uri="{FF2B5EF4-FFF2-40B4-BE49-F238E27FC236}">
                  <a16:creationId xmlns:a16="http://schemas.microsoft.com/office/drawing/2014/main" id="{DC9BAAB3-1FB8-4A81-863E-A05ED78288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0" name="Freeform 9">
              <a:extLst>
                <a:ext uri="{FF2B5EF4-FFF2-40B4-BE49-F238E27FC236}">
                  <a16:creationId xmlns:a16="http://schemas.microsoft.com/office/drawing/2014/main" id="{FA50AFC3-F23E-4058-8D71-9BD07AEA28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1" name="Freeform 10">
              <a:extLst>
                <a:ext uri="{FF2B5EF4-FFF2-40B4-BE49-F238E27FC236}">
                  <a16:creationId xmlns:a16="http://schemas.microsoft.com/office/drawing/2014/main" id="{182B2B33-19FD-402E-8E35-A8E867FB92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2" name="Freeform 11">
              <a:extLst>
                <a:ext uri="{FF2B5EF4-FFF2-40B4-BE49-F238E27FC236}">
                  <a16:creationId xmlns:a16="http://schemas.microsoft.com/office/drawing/2014/main" id="{0FA38FB1-0238-4631-84CC-766DC76EE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3" name="Freeform 12">
              <a:extLst>
                <a:ext uri="{FF2B5EF4-FFF2-40B4-BE49-F238E27FC236}">
                  <a16:creationId xmlns:a16="http://schemas.microsoft.com/office/drawing/2014/main" id="{4516460F-0122-450D-8257-E27F8E553B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4" name="Freeform 13">
              <a:extLst>
                <a:ext uri="{FF2B5EF4-FFF2-40B4-BE49-F238E27FC236}">
                  <a16:creationId xmlns:a16="http://schemas.microsoft.com/office/drawing/2014/main" id="{95CF39E3-8AA8-482D-9C7E-B472D289F4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5" name="Freeform 14">
              <a:extLst>
                <a:ext uri="{FF2B5EF4-FFF2-40B4-BE49-F238E27FC236}">
                  <a16:creationId xmlns:a16="http://schemas.microsoft.com/office/drawing/2014/main" id="{297A3F66-FF49-4C69-91A4-018DFDCA4D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6" name="Freeform 15">
              <a:extLst>
                <a:ext uri="{FF2B5EF4-FFF2-40B4-BE49-F238E27FC236}">
                  <a16:creationId xmlns:a16="http://schemas.microsoft.com/office/drawing/2014/main" id="{EF2CA154-6FAF-4F24-833A-C327B10303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7" name="Freeform 16">
              <a:extLst>
                <a:ext uri="{FF2B5EF4-FFF2-40B4-BE49-F238E27FC236}">
                  <a16:creationId xmlns:a16="http://schemas.microsoft.com/office/drawing/2014/main" id="{45E949B0-6D59-4E0C-A2F6-6D98842049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8" name="Freeform 17">
              <a:extLst>
                <a:ext uri="{FF2B5EF4-FFF2-40B4-BE49-F238E27FC236}">
                  <a16:creationId xmlns:a16="http://schemas.microsoft.com/office/drawing/2014/main" id="{AE77593D-3B3D-4BEC-9B83-C7556559CF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9" name="Freeform 18">
              <a:extLst>
                <a:ext uri="{FF2B5EF4-FFF2-40B4-BE49-F238E27FC236}">
                  <a16:creationId xmlns:a16="http://schemas.microsoft.com/office/drawing/2014/main" id="{FB8550CF-4B41-4509-9CBF-E0EEFEB94D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0" name="Freeform 19">
              <a:extLst>
                <a:ext uri="{FF2B5EF4-FFF2-40B4-BE49-F238E27FC236}">
                  <a16:creationId xmlns:a16="http://schemas.microsoft.com/office/drawing/2014/main" id="{50DA9124-2618-4DA7-AE4A-B228BD9CFA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1" name="Freeform 20">
              <a:extLst>
                <a:ext uri="{FF2B5EF4-FFF2-40B4-BE49-F238E27FC236}">
                  <a16:creationId xmlns:a16="http://schemas.microsoft.com/office/drawing/2014/main" id="{6741AAD5-45BA-4FDA-AEDF-3337296BC5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2" name="Freeform 21">
              <a:extLst>
                <a:ext uri="{FF2B5EF4-FFF2-40B4-BE49-F238E27FC236}">
                  <a16:creationId xmlns:a16="http://schemas.microsoft.com/office/drawing/2014/main" id="{BB56D020-0FBC-4705-9EF0-009EE9E7BD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3" name="Freeform 22">
              <a:extLst>
                <a:ext uri="{FF2B5EF4-FFF2-40B4-BE49-F238E27FC236}">
                  <a16:creationId xmlns:a16="http://schemas.microsoft.com/office/drawing/2014/main" id="{5DD03962-6BCE-4284-B97A-851C4BC69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4" name="Freeform 23">
              <a:extLst>
                <a:ext uri="{FF2B5EF4-FFF2-40B4-BE49-F238E27FC236}">
                  <a16:creationId xmlns:a16="http://schemas.microsoft.com/office/drawing/2014/main" id="{BFC97152-3801-4E0D-B746-0F7DFBC6DC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5" name="Freeform 24">
              <a:extLst>
                <a:ext uri="{FF2B5EF4-FFF2-40B4-BE49-F238E27FC236}">
                  <a16:creationId xmlns:a16="http://schemas.microsoft.com/office/drawing/2014/main" id="{19FFD9BF-F64C-425B-8E0B-CA0F1B466A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6" name="Freeform 25">
              <a:extLst>
                <a:ext uri="{FF2B5EF4-FFF2-40B4-BE49-F238E27FC236}">
                  <a16:creationId xmlns:a16="http://schemas.microsoft.com/office/drawing/2014/main" id="{C6ED711B-36ED-4173-AB44-8C86ADF0F6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58" name="Rectangle 1057">
            <a:extLst>
              <a:ext uri="{FF2B5EF4-FFF2-40B4-BE49-F238E27FC236}">
                <a16:creationId xmlns:a16="http://schemas.microsoft.com/office/drawing/2014/main" id="{256F45B4-234D-4F59-AF8D-9A8AFB94D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047102"/>
            <a:ext cx="5936885"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8D8E6E23-45CE-445A-904E-62F785DA4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9557" y="0"/>
            <a:ext cx="4640799" cy="6858000"/>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a:extLst>
              <a:ext uri="{FF2B5EF4-FFF2-40B4-BE49-F238E27FC236}">
                <a16:creationId xmlns:a16="http://schemas.microsoft.com/office/drawing/2014/main" id="{7F4A8534-AB51-4951-9BFC-EBE676F3A8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52"/>
          <a:stretch/>
        </p:blipFill>
        <p:spPr bwMode="auto">
          <a:xfrm>
            <a:off x="7866658" y="561133"/>
            <a:ext cx="4005608" cy="2468585"/>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1062" name="Isosceles Triangle 22">
            <a:extLst>
              <a:ext uri="{FF2B5EF4-FFF2-40B4-BE49-F238E27FC236}">
                <a16:creationId xmlns:a16="http://schemas.microsoft.com/office/drawing/2014/main" id="{E5FE8003-E652-491E-9169-0097F83C8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2131" y="55465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BDC66091-68FA-4006-8A27-640168146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634393"/>
            <a:ext cx="5935796" cy="39173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5D9C96-070A-496B-B0BB-EF711EED30E2}"/>
              </a:ext>
            </a:extLst>
          </p:cNvPr>
          <p:cNvSpPr>
            <a:spLocks noGrp="1"/>
          </p:cNvSpPr>
          <p:nvPr>
            <p:ph type="title"/>
          </p:nvPr>
        </p:nvSpPr>
        <p:spPr>
          <a:xfrm>
            <a:off x="873978" y="1718735"/>
            <a:ext cx="5767566" cy="1072378"/>
          </a:xfrm>
        </p:spPr>
        <p:txBody>
          <a:bodyPr anchor="ctr">
            <a:normAutofit/>
          </a:bodyPr>
          <a:lstStyle/>
          <a:p>
            <a:r>
              <a:rPr lang="es-CO" sz="3600"/>
              <a:t>¿En quien se aplica la teoría? </a:t>
            </a:r>
          </a:p>
        </p:txBody>
      </p:sp>
      <p:sp>
        <p:nvSpPr>
          <p:cNvPr id="3" name="Marcador de contenido 2">
            <a:extLst>
              <a:ext uri="{FF2B5EF4-FFF2-40B4-BE49-F238E27FC236}">
                <a16:creationId xmlns:a16="http://schemas.microsoft.com/office/drawing/2014/main" id="{4CDA0510-D115-4D98-B7D8-BF3CC6CF323E}"/>
              </a:ext>
            </a:extLst>
          </p:cNvPr>
          <p:cNvSpPr>
            <a:spLocks noGrp="1"/>
          </p:cNvSpPr>
          <p:nvPr>
            <p:ph idx="1"/>
          </p:nvPr>
        </p:nvSpPr>
        <p:spPr>
          <a:xfrm>
            <a:off x="873102" y="2789239"/>
            <a:ext cx="5768442" cy="2683606"/>
          </a:xfrm>
        </p:spPr>
        <p:txBody>
          <a:bodyPr>
            <a:normAutofit/>
          </a:bodyPr>
          <a:lstStyle/>
          <a:p>
            <a:endParaRPr lang="es-CO" sz="1600">
              <a:solidFill>
                <a:srgbClr val="FFFFFE"/>
              </a:solidFill>
            </a:endParaRPr>
          </a:p>
          <a:p>
            <a:r>
              <a:rPr lang="es-CO" sz="1600">
                <a:solidFill>
                  <a:srgbClr val="FFFFFE"/>
                </a:solidFill>
              </a:rPr>
              <a:t>A. El bebe </a:t>
            </a:r>
          </a:p>
          <a:p>
            <a:r>
              <a:rPr lang="es-CO" sz="1600">
                <a:solidFill>
                  <a:srgbClr val="FFFFFE"/>
                </a:solidFill>
              </a:rPr>
              <a:t>B. El Niño </a:t>
            </a:r>
          </a:p>
          <a:p>
            <a:r>
              <a:rPr lang="es-CO" sz="1600">
                <a:solidFill>
                  <a:srgbClr val="FFFFFE"/>
                </a:solidFill>
              </a:rPr>
              <a:t>Sustenta </a:t>
            </a:r>
          </a:p>
        </p:txBody>
      </p:sp>
      <p:pic>
        <p:nvPicPr>
          <p:cNvPr id="1028" name="Picture 4">
            <a:extLst>
              <a:ext uri="{FF2B5EF4-FFF2-40B4-BE49-F238E27FC236}">
                <a16:creationId xmlns:a16="http://schemas.microsoft.com/office/drawing/2014/main" id="{0BD28577-759B-403D-A78C-DA31C31BAF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491"/>
          <a:stretch/>
        </p:blipFill>
        <p:spPr bwMode="auto">
          <a:xfrm>
            <a:off x="7866657" y="3830426"/>
            <a:ext cx="4005303" cy="246840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09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A34C4-1A9D-450F-9DB8-54B2F22E607D}"/>
              </a:ext>
            </a:extLst>
          </p:cNvPr>
          <p:cNvSpPr>
            <a:spLocks noGrp="1"/>
          </p:cNvSpPr>
          <p:nvPr>
            <p:ph type="title"/>
          </p:nvPr>
        </p:nvSpPr>
        <p:spPr/>
        <p:txBody>
          <a:bodyPr/>
          <a:lstStyle/>
          <a:p>
            <a:r>
              <a:rPr lang="es-ES_tradnl" b="0" i="0" dirty="0">
                <a:solidFill>
                  <a:srgbClr val="666666"/>
                </a:solidFill>
                <a:effectLst/>
                <a:latin typeface="Arial" panose="020B0604020202020204" pitchFamily="34" charset="0"/>
              </a:rPr>
              <a:t>EUDEMONISMO</a:t>
            </a:r>
            <a:br>
              <a:rPr lang="es-ES_tradnl" b="0" i="0" dirty="0">
                <a:solidFill>
                  <a:srgbClr val="666666"/>
                </a:solidFill>
                <a:effectLst/>
                <a:latin typeface="Arial" panose="020B0604020202020204" pitchFamily="34" charset="0"/>
              </a:rPr>
            </a:br>
            <a:endParaRPr lang="es-CO" dirty="0"/>
          </a:p>
        </p:txBody>
      </p:sp>
      <p:sp>
        <p:nvSpPr>
          <p:cNvPr id="3" name="Marcador de contenido 2">
            <a:extLst>
              <a:ext uri="{FF2B5EF4-FFF2-40B4-BE49-F238E27FC236}">
                <a16:creationId xmlns:a16="http://schemas.microsoft.com/office/drawing/2014/main" id="{591A7405-2193-498D-AB05-9E4417F43B02}"/>
              </a:ext>
            </a:extLst>
          </p:cNvPr>
          <p:cNvSpPr>
            <a:spLocks noGrp="1"/>
          </p:cNvSpPr>
          <p:nvPr>
            <p:ph idx="1"/>
          </p:nvPr>
        </p:nvSpPr>
        <p:spPr/>
        <p:txBody>
          <a:bodyPr>
            <a:normAutofit fontScale="85000" lnSpcReduction="10000"/>
          </a:bodyPr>
          <a:lstStyle/>
          <a:p>
            <a:r>
              <a:rPr lang="es-CO" b="0" i="0" dirty="0">
                <a:effectLst/>
                <a:latin typeface="Arial" panose="020B0604020202020204" pitchFamily="34" charset="0"/>
              </a:rPr>
              <a:t>Muchas veces habrás preguntado para qué sirve tal o cual cosa, pero, en ocasiones, esta pregunta es absurda. Así, si preguntamos para qué sirve la felicidad, la respuesta sería que para nada, pues no es algo que se busque como medio para otra cosa, sino que se basta a sí misma, es un fin. Las éticas que consideran la </a:t>
            </a:r>
            <a:r>
              <a:rPr lang="es-CO" b="1" i="0" dirty="0">
                <a:effectLst/>
                <a:latin typeface="Arial" panose="020B0604020202020204" pitchFamily="34" charset="0"/>
              </a:rPr>
              <a:t>felicidad </a:t>
            </a:r>
            <a:r>
              <a:rPr lang="es-CO" b="0" i="0" dirty="0">
                <a:effectLst/>
                <a:latin typeface="Arial" panose="020B0604020202020204" pitchFamily="34" charset="0"/>
              </a:rPr>
              <a:t>(</a:t>
            </a:r>
            <a:r>
              <a:rPr lang="es-CO" b="0" i="1" dirty="0">
                <a:effectLst/>
                <a:latin typeface="Arial" panose="020B0604020202020204" pitchFamily="34" charset="0"/>
              </a:rPr>
              <a:t>eudaimonía</a:t>
            </a:r>
            <a:r>
              <a:rPr lang="es-CO" b="0" i="0" dirty="0">
                <a:effectLst/>
                <a:latin typeface="Arial" panose="020B0604020202020204" pitchFamily="34" charset="0"/>
              </a:rPr>
              <a:t>) el fin de la vida humana y el máximo bien al que se puede aspirar son eudemonistas. Ahora bien, decir que el ser humano anhela la felicidad es como no decir nada, pues cada uno entiende la felicidad a su modo. </a:t>
            </a:r>
            <a:r>
              <a:rPr lang="es-CO" b="1" i="0" dirty="0">
                <a:effectLst/>
                <a:latin typeface="Arial" panose="020B0604020202020204" pitchFamily="34" charset="0"/>
              </a:rPr>
              <a:t>Aristóteles </a:t>
            </a:r>
            <a:r>
              <a:rPr lang="es-CO" b="0" i="0" dirty="0">
                <a:effectLst/>
                <a:latin typeface="Arial" panose="020B0604020202020204" pitchFamily="34" charset="0"/>
              </a:rPr>
              <a:t>fue uno de los primeros filósofos en defender el eudemonismo. Pero ¿qué entendía Aristóteles por felicidad? Todos los seres tienen por naturaleza un fin: la semilla tiene como fin ser un árbol; la flecha, hacer diana... No podría ser menos en el caso del hombre. Como lo esencial del hombre (lo que le distingue) es su capacidad racional, el fin al que por naturaleza tenderá será la </a:t>
            </a:r>
            <a:r>
              <a:rPr lang="es-CO" b="1" i="0" dirty="0">
                <a:effectLst/>
                <a:latin typeface="Arial" panose="020B0604020202020204" pitchFamily="34" charset="0"/>
              </a:rPr>
              <a:t>actividad racional</a:t>
            </a:r>
            <a:r>
              <a:rPr lang="es-CO" b="0" i="0" dirty="0">
                <a:effectLst/>
                <a:latin typeface="Arial" panose="020B0604020202020204" pitchFamily="34" charset="0"/>
              </a:rPr>
              <a:t>. Así pues, la máxima felicidad del ser humano residirá en lo que le es esencial por naturaleza: la </a:t>
            </a:r>
            <a:r>
              <a:rPr lang="es-CO" b="1" i="0" dirty="0">
                <a:effectLst/>
                <a:latin typeface="Arial" panose="020B0604020202020204" pitchFamily="34" charset="0"/>
              </a:rPr>
              <a:t>vida contemplativa</a:t>
            </a:r>
            <a:r>
              <a:rPr lang="es-CO" b="0" i="0" dirty="0">
                <a:effectLst/>
                <a:latin typeface="Arial" panose="020B0604020202020204" pitchFamily="34" charset="0"/>
              </a:rPr>
              <a:t>, es decir, el ejercicio teórico de la razón en el conocimiento de la naturaleza y de Dios, y en la </a:t>
            </a:r>
            <a:r>
              <a:rPr lang="es-CO" b="1" i="0" dirty="0">
                <a:effectLst/>
                <a:latin typeface="Arial" panose="020B0604020202020204" pitchFamily="34" charset="0"/>
              </a:rPr>
              <a:t>conducta prudente</a:t>
            </a:r>
            <a:r>
              <a:rPr lang="es-CO" b="0" i="0" dirty="0">
                <a:effectLst/>
                <a:latin typeface="Arial" panose="020B0604020202020204" pitchFamily="34" charset="0"/>
              </a:rPr>
              <a:t>, que se caracteriza por la elección del </a:t>
            </a:r>
            <a:r>
              <a:rPr lang="es-CO" b="1" i="0" dirty="0">
                <a:effectLst/>
                <a:latin typeface="Arial" panose="020B0604020202020204" pitchFamily="34" charset="0"/>
              </a:rPr>
              <a:t>término medio </a:t>
            </a:r>
            <a:r>
              <a:rPr lang="es-CO" b="0" i="0" dirty="0">
                <a:effectLst/>
                <a:latin typeface="Arial" panose="020B0604020202020204" pitchFamily="34" charset="0"/>
              </a:rPr>
              <a:t>entre dos extremos, el exceso y el defecto</a:t>
            </a:r>
            <a:endParaRPr lang="es-CO" dirty="0"/>
          </a:p>
        </p:txBody>
      </p:sp>
    </p:spTree>
    <p:extLst>
      <p:ext uri="{BB962C8B-B14F-4D97-AF65-F5344CB8AC3E}">
        <p14:creationId xmlns:p14="http://schemas.microsoft.com/office/powerpoint/2010/main" val="186503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337C157-FA7C-44F7-8F26-8D60F1E4D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D1E6BDE-4282-4B03-AB6B-4B55BB5A5E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485C833A-4CAA-4628-90AF-765B4D9CD7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B238B6B-BE4A-43D5-9BF4-F25E4B1102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822A3114-5712-45A9-8D29-C017CBA9C4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B92AC81A-C7E1-484B-8CE8-35C3B082F2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1F04CC80-0868-47FF-81E3-284C107F9E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7557CA5F-0383-45CC-ABD6-3F13DF5C11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90AA14ED-4772-4347-AB17-45AE5F2450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2">
              <a:extLst>
                <a:ext uri="{FF2B5EF4-FFF2-40B4-BE49-F238E27FC236}">
                  <a16:creationId xmlns:a16="http://schemas.microsoft.com/office/drawing/2014/main" id="{E3A0F7B3-4CF0-4247-84C0-6588F359D9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3">
              <a:extLst>
                <a:ext uri="{FF2B5EF4-FFF2-40B4-BE49-F238E27FC236}">
                  <a16:creationId xmlns:a16="http://schemas.microsoft.com/office/drawing/2014/main" id="{1084963C-5EA9-4967-9241-33487A7F9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4">
              <a:extLst>
                <a:ext uri="{FF2B5EF4-FFF2-40B4-BE49-F238E27FC236}">
                  <a16:creationId xmlns:a16="http://schemas.microsoft.com/office/drawing/2014/main" id="{4A92CEED-BBF5-4D27-BAEF-3CB7750A19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5">
              <a:extLst>
                <a:ext uri="{FF2B5EF4-FFF2-40B4-BE49-F238E27FC236}">
                  <a16:creationId xmlns:a16="http://schemas.microsoft.com/office/drawing/2014/main" id="{FE7A7AD6-5681-4FC3-8C0D-39608A2D15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5A1DD085-9573-46D7-96D8-FB79FAF0C3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7">
              <a:extLst>
                <a:ext uri="{FF2B5EF4-FFF2-40B4-BE49-F238E27FC236}">
                  <a16:creationId xmlns:a16="http://schemas.microsoft.com/office/drawing/2014/main" id="{4A9B4107-3EEB-48E9-968B-A0A731458B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8">
              <a:extLst>
                <a:ext uri="{FF2B5EF4-FFF2-40B4-BE49-F238E27FC236}">
                  <a16:creationId xmlns:a16="http://schemas.microsoft.com/office/drawing/2014/main" id="{8109B0A4-ED54-4DED-96E6-820DD63248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9">
              <a:extLst>
                <a:ext uri="{FF2B5EF4-FFF2-40B4-BE49-F238E27FC236}">
                  <a16:creationId xmlns:a16="http://schemas.microsoft.com/office/drawing/2014/main" id="{A8C6847A-91A4-4A9B-B064-11CF6443AA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0">
              <a:extLst>
                <a:ext uri="{FF2B5EF4-FFF2-40B4-BE49-F238E27FC236}">
                  <a16:creationId xmlns:a16="http://schemas.microsoft.com/office/drawing/2014/main" id="{C85C9753-33A0-4817-9B8C-3E8A6CC4B3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1">
              <a:extLst>
                <a:ext uri="{FF2B5EF4-FFF2-40B4-BE49-F238E27FC236}">
                  <a16:creationId xmlns:a16="http://schemas.microsoft.com/office/drawing/2014/main" id="{9315F3C9-3634-4926-8C56-00168B1A71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
              <a:extLst>
                <a:ext uri="{FF2B5EF4-FFF2-40B4-BE49-F238E27FC236}">
                  <a16:creationId xmlns:a16="http://schemas.microsoft.com/office/drawing/2014/main" id="{F28382E8-33D6-429A-B585-9579AA2EFA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3">
              <a:extLst>
                <a:ext uri="{FF2B5EF4-FFF2-40B4-BE49-F238E27FC236}">
                  <a16:creationId xmlns:a16="http://schemas.microsoft.com/office/drawing/2014/main" id="{21499034-1E36-46FE-AB69-42EBD104BA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4">
              <a:extLst>
                <a:ext uri="{FF2B5EF4-FFF2-40B4-BE49-F238E27FC236}">
                  <a16:creationId xmlns:a16="http://schemas.microsoft.com/office/drawing/2014/main" id="{78480B4D-FB9B-4DC7-BF42-94946CF130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5">
              <a:extLst>
                <a:ext uri="{FF2B5EF4-FFF2-40B4-BE49-F238E27FC236}">
                  <a16:creationId xmlns:a16="http://schemas.microsoft.com/office/drawing/2014/main" id="{83412C15-B417-4C20-A798-77F6B5BFD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36" name="Group 35">
            <a:extLst>
              <a:ext uri="{FF2B5EF4-FFF2-40B4-BE49-F238E27FC236}">
                <a16:creationId xmlns:a16="http://schemas.microsoft.com/office/drawing/2014/main" id="{EC03EF63-B185-48A4-9905-A9BBA70F50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400FC753-51FF-49B1-AE2F-C9BAAFD0B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22">
              <a:extLst>
                <a:ext uri="{FF2B5EF4-FFF2-40B4-BE49-F238E27FC236}">
                  <a16:creationId xmlns:a16="http://schemas.microsoft.com/office/drawing/2014/main" id="{17B242DE-F1CC-479B-97B0-05C00AD52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5338455-991A-4916-AD34-2C870B6DE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E45705EE-2D74-4E5E-AE32-AB5205D60E2C}"/>
              </a:ext>
            </a:extLst>
          </p:cNvPr>
          <p:cNvSpPr>
            <a:spLocks noGrp="1"/>
          </p:cNvSpPr>
          <p:nvPr>
            <p:ph type="title"/>
          </p:nvPr>
        </p:nvSpPr>
        <p:spPr>
          <a:xfrm>
            <a:off x="888631" y="2358391"/>
            <a:ext cx="3498979" cy="2453676"/>
          </a:xfrm>
        </p:spPr>
        <p:txBody>
          <a:bodyPr>
            <a:normAutofit/>
          </a:bodyPr>
          <a:lstStyle/>
          <a:p>
            <a:r>
              <a:rPr lang="es-CO" dirty="0"/>
              <a:t>Observamos </a:t>
            </a:r>
          </a:p>
        </p:txBody>
      </p:sp>
      <p:sp useBgFill="1">
        <p:nvSpPr>
          <p:cNvPr id="41" name="Rectangle 40">
            <a:extLst>
              <a:ext uri="{FF2B5EF4-FFF2-40B4-BE49-F238E27FC236}">
                <a16:creationId xmlns:a16="http://schemas.microsoft.com/office/drawing/2014/main" id="{800324C0-3F86-4ACD-945B-4AD842C9C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264" y="803186"/>
            <a:ext cx="6269015" cy="2978319"/>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lementos multimedia en línea 3" title="EJEMPLOS RESPONSABILIDAD DE UNO MISMO">
            <a:hlinkClick r:id="" action="ppaction://media"/>
            <a:extLst>
              <a:ext uri="{FF2B5EF4-FFF2-40B4-BE49-F238E27FC236}">
                <a16:creationId xmlns:a16="http://schemas.microsoft.com/office/drawing/2014/main" id="{6A767D90-588E-110B-F09B-D43B49B9F69F}"/>
              </a:ext>
            </a:extLst>
          </p:cNvPr>
          <p:cNvPicPr>
            <a:picLocks noRot="1" noChangeAspect="1"/>
          </p:cNvPicPr>
          <p:nvPr>
            <a:videoFile r:link="rId1"/>
          </p:nvPr>
        </p:nvPicPr>
        <p:blipFill>
          <a:blip r:embed="rId3"/>
          <a:stretch>
            <a:fillRect/>
          </a:stretch>
        </p:blipFill>
        <p:spPr>
          <a:xfrm>
            <a:off x="4760518" y="964051"/>
            <a:ext cx="5837981" cy="3933556"/>
          </a:xfrm>
          <a:prstGeom prst="rect">
            <a:avLst/>
          </a:prstGeom>
          <a:ln w="9525">
            <a:noFill/>
          </a:ln>
        </p:spPr>
      </p:pic>
    </p:spTree>
    <p:extLst>
      <p:ext uri="{BB962C8B-B14F-4D97-AF65-F5344CB8AC3E}">
        <p14:creationId xmlns:p14="http://schemas.microsoft.com/office/powerpoint/2010/main" val="160337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9D6F3-F8CE-4847-A73E-63443D4864A2}"/>
              </a:ext>
            </a:extLst>
          </p:cNvPr>
          <p:cNvSpPr>
            <a:spLocks noGrp="1"/>
          </p:cNvSpPr>
          <p:nvPr>
            <p:ph type="title"/>
          </p:nvPr>
        </p:nvSpPr>
        <p:spPr/>
        <p:txBody>
          <a:bodyPr/>
          <a:lstStyle/>
          <a:p>
            <a:r>
              <a:rPr lang="es-ES_tradnl" b="0" i="0" dirty="0">
                <a:solidFill>
                  <a:srgbClr val="666666"/>
                </a:solidFill>
                <a:effectLst/>
                <a:latin typeface="Arial" panose="020B0604020202020204" pitchFamily="34" charset="0"/>
              </a:rPr>
              <a:t>IUSNATURALISMO ETICO</a:t>
            </a:r>
            <a:br>
              <a:rPr lang="es-ES_tradnl" b="0" i="0" dirty="0">
                <a:solidFill>
                  <a:srgbClr val="666666"/>
                </a:solidFill>
                <a:effectLst/>
                <a:latin typeface="Arial" panose="020B0604020202020204" pitchFamily="34" charset="0"/>
              </a:rPr>
            </a:br>
            <a:endParaRPr lang="es-CO" dirty="0"/>
          </a:p>
        </p:txBody>
      </p:sp>
      <p:sp>
        <p:nvSpPr>
          <p:cNvPr id="3" name="Marcador de contenido 2">
            <a:extLst>
              <a:ext uri="{FF2B5EF4-FFF2-40B4-BE49-F238E27FC236}">
                <a16:creationId xmlns:a16="http://schemas.microsoft.com/office/drawing/2014/main" id="{926F2803-06E2-4E22-981C-80CD0F0031D3}"/>
              </a:ext>
            </a:extLst>
          </p:cNvPr>
          <p:cNvSpPr>
            <a:spLocks noGrp="1"/>
          </p:cNvSpPr>
          <p:nvPr>
            <p:ph idx="1"/>
          </p:nvPr>
        </p:nvSpPr>
        <p:spPr/>
        <p:txBody>
          <a:bodyPr>
            <a:normAutofit/>
          </a:bodyPr>
          <a:lstStyle/>
          <a:p>
            <a:r>
              <a:rPr lang="es-CO" b="0" i="0" dirty="0">
                <a:effectLst/>
                <a:latin typeface="Arial" panose="020B0604020202020204" pitchFamily="34" charset="0"/>
              </a:rPr>
              <a:t>Se puede calificar de iusnaturalista toda teoría ética que defienda la existencia de una </a:t>
            </a:r>
            <a:r>
              <a:rPr lang="es-CO" b="1" i="0" dirty="0">
                <a:effectLst/>
                <a:latin typeface="Arial" panose="020B0604020202020204" pitchFamily="34" charset="0"/>
              </a:rPr>
              <a:t>ley moral</a:t>
            </a:r>
            <a:r>
              <a:rPr lang="es-CO" b="0" i="0" dirty="0">
                <a:effectLst/>
                <a:latin typeface="Arial" panose="020B0604020202020204" pitchFamily="34" charset="0"/>
              </a:rPr>
              <a:t>, natural y universal, que determina lo que está bien y lo que está mal. Esta ley natural es </a:t>
            </a:r>
            <a:r>
              <a:rPr lang="es-CO" b="1" i="0" dirty="0">
                <a:effectLst/>
                <a:latin typeface="Arial" panose="020B0604020202020204" pitchFamily="34" charset="0"/>
              </a:rPr>
              <a:t>objetiva</a:t>
            </a:r>
            <a:r>
              <a:rPr lang="es-CO" b="0" i="0" dirty="0">
                <a:effectLst/>
                <a:latin typeface="Arial" panose="020B0604020202020204" pitchFamily="34" charset="0"/>
              </a:rPr>
              <a:t>, pues, aunque el ser humano puede conocerla e interiorizarla, no es creación suya, sino que la recibe de una instancia externa. </a:t>
            </a:r>
            <a:r>
              <a:rPr lang="es-CO" b="1" i="0" dirty="0">
                <a:effectLst/>
                <a:latin typeface="Arial" panose="020B0604020202020204" pitchFamily="34" charset="0"/>
              </a:rPr>
              <a:t>Tomás Aquino </a:t>
            </a:r>
            <a:r>
              <a:rPr lang="es-CO" b="0" i="0" dirty="0">
                <a:effectLst/>
                <a:latin typeface="Arial" panose="020B0604020202020204" pitchFamily="34" charset="0"/>
              </a:rPr>
              <a:t>es el filósofo que ha mantenido de forma más convincente el iusnaturalismo ético. Según este filósofo, Dios ha creado al ser humano a su imagen y semejanza y, por ello, en su misma naturaleza le es posible hallar el fundamento del comportamiento moral. Las personas encuentran en su interior una </a:t>
            </a:r>
            <a:r>
              <a:rPr lang="es-CO" b="1" i="0" dirty="0">
                <a:effectLst/>
                <a:latin typeface="Arial" panose="020B0604020202020204" pitchFamily="34" charset="0"/>
              </a:rPr>
              <a:t>ley natural </a:t>
            </a:r>
            <a:r>
              <a:rPr lang="es-CO" b="0" i="0" dirty="0">
                <a:effectLst/>
                <a:latin typeface="Arial" panose="020B0604020202020204" pitchFamily="34" charset="0"/>
              </a:rPr>
              <a:t>que determina lo que está bien y lo que está mal, gracias a que ésta participa de la </a:t>
            </a:r>
            <a:r>
              <a:rPr lang="es-CO" b="1" i="0" dirty="0">
                <a:effectLst/>
                <a:latin typeface="Arial" panose="020B0604020202020204" pitchFamily="34" charset="0"/>
              </a:rPr>
              <a:t>ley eterna </a:t>
            </a:r>
            <a:r>
              <a:rPr lang="es-CO" b="0" i="0" dirty="0">
                <a:effectLst/>
                <a:latin typeface="Arial" panose="020B0604020202020204" pitchFamily="34" charset="0"/>
              </a:rPr>
              <a:t>o divina.</a:t>
            </a:r>
            <a:endParaRPr lang="es-CO" dirty="0"/>
          </a:p>
        </p:txBody>
      </p:sp>
    </p:spTree>
    <p:extLst>
      <p:ext uri="{BB962C8B-B14F-4D97-AF65-F5344CB8AC3E}">
        <p14:creationId xmlns:p14="http://schemas.microsoft.com/office/powerpoint/2010/main" val="957939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37C157-FA7C-44F7-8F26-8D60F1E4D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D1E6BDE-4282-4B03-AB6B-4B55BB5A5E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485C833A-4CAA-4628-90AF-765B4D9CD7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AB238B6B-BE4A-43D5-9BF4-F25E4B1102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822A3114-5712-45A9-8D29-C017CBA9C4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B92AC81A-C7E1-484B-8CE8-35C3B082F2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1F04CC80-0868-47FF-81E3-284C107F9E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7557CA5F-0383-45CC-ABD6-3F13DF5C11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90AA14ED-4772-4347-AB17-45AE5F2450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E3A0F7B3-4CF0-4247-84C0-6588F359D9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1084963C-5EA9-4967-9241-33487A7F9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4A92CEED-BBF5-4D27-BAEF-3CB7750A19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FE7A7AD6-5681-4FC3-8C0D-39608A2D15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5A1DD085-9573-46D7-96D8-FB79FAF0C3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4A9B4107-3EEB-48E9-968B-A0A731458B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8109B0A4-ED54-4DED-96E6-820DD63248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A8C6847A-91A4-4A9B-B064-11CF6443AA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C85C9753-33A0-4817-9B8C-3E8A6CC4B3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9315F3C9-3634-4926-8C56-00168B1A71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F28382E8-33D6-429A-B585-9579AA2EFA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21499034-1E36-46FE-AB69-42EBD104BA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78480B4D-FB9B-4DC7-BF42-94946CF130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83412C15-B417-4C20-A798-77F6B5BFD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34" name="Group 33">
            <a:extLst>
              <a:ext uri="{FF2B5EF4-FFF2-40B4-BE49-F238E27FC236}">
                <a16:creationId xmlns:a16="http://schemas.microsoft.com/office/drawing/2014/main" id="{EC03EF63-B185-48A4-9905-A9BBA70F50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5" name="Rectangle 34">
              <a:extLst>
                <a:ext uri="{FF2B5EF4-FFF2-40B4-BE49-F238E27FC236}">
                  <a16:creationId xmlns:a16="http://schemas.microsoft.com/office/drawing/2014/main" id="{400FC753-51FF-49B1-AE2F-C9BAAFD0B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2">
              <a:extLst>
                <a:ext uri="{FF2B5EF4-FFF2-40B4-BE49-F238E27FC236}">
                  <a16:creationId xmlns:a16="http://schemas.microsoft.com/office/drawing/2014/main" id="{17B242DE-F1CC-479B-97B0-05C00AD52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5338455-991A-4916-AD34-2C870B6DE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474EBE3E-7BB7-4AB3-9E0D-64B3B11ABFEA}"/>
              </a:ext>
            </a:extLst>
          </p:cNvPr>
          <p:cNvSpPr>
            <a:spLocks noGrp="1"/>
          </p:cNvSpPr>
          <p:nvPr>
            <p:ph type="title"/>
          </p:nvPr>
        </p:nvSpPr>
        <p:spPr>
          <a:xfrm>
            <a:off x="888631" y="2358391"/>
            <a:ext cx="3498979" cy="2453676"/>
          </a:xfrm>
        </p:spPr>
        <p:txBody>
          <a:bodyPr>
            <a:normAutofit/>
          </a:bodyPr>
          <a:lstStyle/>
          <a:p>
            <a:r>
              <a:rPr lang="es-CO" dirty="0"/>
              <a:t>Observamos </a:t>
            </a:r>
          </a:p>
        </p:txBody>
      </p:sp>
      <p:sp useBgFill="1">
        <p:nvSpPr>
          <p:cNvPr id="39" name="Rectangle 38">
            <a:extLst>
              <a:ext uri="{FF2B5EF4-FFF2-40B4-BE49-F238E27FC236}">
                <a16:creationId xmlns:a16="http://schemas.microsoft.com/office/drawing/2014/main" id="{800324C0-3F86-4ACD-945B-4AD842C9C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264" y="803186"/>
            <a:ext cx="6269015" cy="2978319"/>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lementos multimedia en línea 3" title="IUSNATURALISMO">
            <a:hlinkClick r:id="" action="ppaction://media"/>
            <a:extLst>
              <a:ext uri="{FF2B5EF4-FFF2-40B4-BE49-F238E27FC236}">
                <a16:creationId xmlns:a16="http://schemas.microsoft.com/office/drawing/2014/main" id="{D3C0D8EA-CFB6-E4A4-858B-A97FC47E65D2}"/>
              </a:ext>
            </a:extLst>
          </p:cNvPr>
          <p:cNvPicPr>
            <a:picLocks noRot="1" noChangeAspect="1"/>
          </p:cNvPicPr>
          <p:nvPr>
            <a:videoFile r:link="rId1"/>
          </p:nvPr>
        </p:nvPicPr>
        <p:blipFill>
          <a:blip r:embed="rId3"/>
          <a:stretch>
            <a:fillRect/>
          </a:stretch>
        </p:blipFill>
        <p:spPr>
          <a:xfrm>
            <a:off x="5072603" y="1163330"/>
            <a:ext cx="5584870" cy="3845233"/>
          </a:xfrm>
          <a:prstGeom prst="rect">
            <a:avLst/>
          </a:prstGeom>
          <a:ln w="9525">
            <a:noFill/>
          </a:ln>
        </p:spPr>
      </p:pic>
    </p:spTree>
    <p:extLst>
      <p:ext uri="{BB962C8B-B14F-4D97-AF65-F5344CB8AC3E}">
        <p14:creationId xmlns:p14="http://schemas.microsoft.com/office/powerpoint/2010/main" val="289704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DFF257A-042C-46B5-80D1-3E8CFD334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2836BD6-A1CD-4253-813F-3EDA642A7A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63EE4AB3-C905-497E-988B-4D7394894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774DC5FF-D912-4C9F-811A-337208A3B4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E04E6A71-624A-4806-A53E-87BC73A85B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E1871C83-254F-49CD-8EA7-8CB7089B80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427141DF-5457-4673-B816-C6C5C72AE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BC9A176E-C84F-4816-97D4-426B396FC0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981B905A-332A-49BC-9456-7D0337D9BD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2EBD9769-DFB9-4970-91FF-137E685AF6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21DCB916-2D3C-46BC-9A95-EFC166D96C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189DAD37-FFF7-49FA-8FBB-D20A992D48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D148A64A-D598-4309-BCA9-F67ADE72CB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38A95D77-7745-4551-BBD5-3515A074D3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A2C20B7F-80D6-4D48-BB2A-9AEC854948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55589882-0BB8-42B0-B42F-32A75B1918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53673B9F-5864-445E-82E7-0A8324FA85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16FF3B3D-59FE-4AE1-AA54-14A691D6B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901CA0F0-4962-4EC5-BA5B-3F0A967FC8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3DD02E26-C2AD-4062-85BD-28D172C9E7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D7B60BD4-07C1-461F-B38E-B39EBACA3A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D81BB3F7-E4A5-4BD9-A70D-FDA6C9127F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B93A80B5-32BA-48BB-941A-4FC64AC62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4" name="Rectangle 33">
            <a:extLst>
              <a:ext uri="{FF2B5EF4-FFF2-40B4-BE49-F238E27FC236}">
                <a16:creationId xmlns:a16="http://schemas.microsoft.com/office/drawing/2014/main" id="{9C057A66-6E97-4BA5-B4B3-2690ACE3C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047102"/>
            <a:ext cx="5936885"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2">
            <a:extLst>
              <a:ext uri="{FF2B5EF4-FFF2-40B4-BE49-F238E27FC236}">
                <a16:creationId xmlns:a16="http://schemas.microsoft.com/office/drawing/2014/main" id="{764884A8-16DD-467F-A648-70B32E20B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2131" y="55465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76681CD-6924-4550-926C-667FC2C6A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634393"/>
            <a:ext cx="5935796" cy="39173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461F720-18AC-4231-A766-276CFDD73A13}"/>
              </a:ext>
            </a:extLst>
          </p:cNvPr>
          <p:cNvSpPr>
            <a:spLocks noGrp="1"/>
          </p:cNvSpPr>
          <p:nvPr>
            <p:ph type="title"/>
          </p:nvPr>
        </p:nvSpPr>
        <p:spPr>
          <a:xfrm>
            <a:off x="873978" y="1718735"/>
            <a:ext cx="5767566" cy="1072378"/>
          </a:xfrm>
        </p:spPr>
        <p:txBody>
          <a:bodyPr anchor="ctr">
            <a:normAutofit/>
          </a:bodyPr>
          <a:lstStyle/>
          <a:p>
            <a:r>
              <a:rPr lang="es-CO" sz="2300"/>
              <a:t>FORMALISMO O ÉTICA DEL DEBER</a:t>
            </a:r>
            <a:br>
              <a:rPr lang="es-CO" sz="2300"/>
            </a:br>
            <a:endParaRPr lang="es-CO" sz="2300"/>
          </a:p>
        </p:txBody>
      </p:sp>
      <p:sp>
        <p:nvSpPr>
          <p:cNvPr id="3" name="Marcador de contenido 2">
            <a:extLst>
              <a:ext uri="{FF2B5EF4-FFF2-40B4-BE49-F238E27FC236}">
                <a16:creationId xmlns:a16="http://schemas.microsoft.com/office/drawing/2014/main" id="{683FE04F-70F0-45EB-9994-E708B54CFCDF}"/>
              </a:ext>
            </a:extLst>
          </p:cNvPr>
          <p:cNvSpPr>
            <a:spLocks noGrp="1"/>
          </p:cNvSpPr>
          <p:nvPr>
            <p:ph idx="1"/>
          </p:nvPr>
        </p:nvSpPr>
        <p:spPr>
          <a:xfrm>
            <a:off x="873102" y="2789239"/>
            <a:ext cx="5768442" cy="2683606"/>
          </a:xfrm>
        </p:spPr>
        <p:txBody>
          <a:bodyPr>
            <a:normAutofit/>
          </a:bodyPr>
          <a:lstStyle/>
          <a:p>
            <a:pPr>
              <a:lnSpc>
                <a:spcPct val="110000"/>
              </a:lnSpc>
            </a:pPr>
            <a:r>
              <a:rPr lang="es-CO" sz="1400">
                <a:solidFill>
                  <a:srgbClr val="FFFFFE"/>
                </a:solidFill>
              </a:rPr>
              <a:t>Son formales aquellos sistemas que consideran que la moral no debe ofrecer normas concretas de conducta, sino limitarse a establecer cuál es la forma característica de toda norma moral. Según Inmanuel Kant, sólo una ética de estas características podría ser universal y garantizar la autonomía moral propia de un ser libre y racional como el ser humano. La ley o norma moral no puede venir impuesta desde fuera (ni por la naturaleza ni por la autoridad civil...), sino que debe ser la razón humana la que debe darse a sí misma la ley. Si la razón legisla sobre ella misma, la ley será universal, pues será válida para todo ser racional. </a:t>
            </a:r>
          </a:p>
        </p:txBody>
      </p:sp>
      <p:pic>
        <p:nvPicPr>
          <p:cNvPr id="5" name="Picture 4" descr="mano sujetando la bola">
            <a:extLst>
              <a:ext uri="{FF2B5EF4-FFF2-40B4-BE49-F238E27FC236}">
                <a16:creationId xmlns:a16="http://schemas.microsoft.com/office/drawing/2014/main" id="{FE2E939D-7F13-D040-5E13-221BFF719F90}"/>
              </a:ext>
            </a:extLst>
          </p:cNvPr>
          <p:cNvPicPr>
            <a:picLocks noChangeAspect="1"/>
          </p:cNvPicPr>
          <p:nvPr/>
        </p:nvPicPr>
        <p:blipFill rotWithShape="1">
          <a:blip r:embed="rId2"/>
          <a:srcRect l="29371" r="25618"/>
          <a:stretch/>
        </p:blipFill>
        <p:spPr>
          <a:xfrm>
            <a:off x="7549862" y="227"/>
            <a:ext cx="4641833" cy="6858000"/>
          </a:xfrm>
          <a:prstGeom prst="rect">
            <a:avLst/>
          </a:prstGeom>
        </p:spPr>
      </p:pic>
    </p:spTree>
    <p:extLst>
      <p:ext uri="{BB962C8B-B14F-4D97-AF65-F5344CB8AC3E}">
        <p14:creationId xmlns:p14="http://schemas.microsoft.com/office/powerpoint/2010/main" val="2354295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51762A-14D2-4D35-B7E0-E25B83032561}"/>
              </a:ext>
            </a:extLst>
          </p:cNvPr>
          <p:cNvSpPr>
            <a:spLocks noGrp="1"/>
          </p:cNvSpPr>
          <p:nvPr>
            <p:ph type="title"/>
          </p:nvPr>
        </p:nvSpPr>
        <p:spPr/>
        <p:txBody>
          <a:bodyPr/>
          <a:lstStyle/>
          <a:p>
            <a:r>
              <a:rPr lang="es-CO" dirty="0"/>
              <a:t>Observamos</a:t>
            </a:r>
          </a:p>
        </p:txBody>
      </p:sp>
      <p:pic>
        <p:nvPicPr>
          <p:cNvPr id="4" name="Elementos multimedia en línea 3" title="La Ética en Kant">
            <a:hlinkClick r:id="" action="ppaction://media"/>
            <a:extLst>
              <a:ext uri="{FF2B5EF4-FFF2-40B4-BE49-F238E27FC236}">
                <a16:creationId xmlns:a16="http://schemas.microsoft.com/office/drawing/2014/main" id="{B8A90B7A-C013-E14B-8AEF-2C57CC8BD031}"/>
              </a:ext>
            </a:extLst>
          </p:cNvPr>
          <p:cNvPicPr>
            <a:picLocks noGrp="1" noRot="1" noChangeAspect="1"/>
          </p:cNvPicPr>
          <p:nvPr>
            <p:ph idx="1"/>
            <a:videoFile r:link="rId1"/>
          </p:nvPr>
        </p:nvPicPr>
        <p:blipFill>
          <a:blip r:embed="rId3"/>
          <a:stretch>
            <a:fillRect/>
          </a:stretch>
        </p:blipFill>
        <p:spPr>
          <a:xfrm>
            <a:off x="5118100" y="1652588"/>
            <a:ext cx="6281738" cy="3549650"/>
          </a:xfrm>
          <a:prstGeom prst="rect">
            <a:avLst/>
          </a:prstGeom>
        </p:spPr>
      </p:pic>
    </p:spTree>
    <p:extLst>
      <p:ext uri="{BB962C8B-B14F-4D97-AF65-F5344CB8AC3E}">
        <p14:creationId xmlns:p14="http://schemas.microsoft.com/office/powerpoint/2010/main" val="226341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CO"/>
            </a:p>
          </p:txBody>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Marcador de contenido 2">
            <a:extLst>
              <a:ext uri="{FF2B5EF4-FFF2-40B4-BE49-F238E27FC236}">
                <a16:creationId xmlns:a16="http://schemas.microsoft.com/office/drawing/2014/main" id="{E42ED531-94B2-456D-A9C7-A964ABB18194}"/>
              </a:ext>
            </a:extLst>
          </p:cNvPr>
          <p:cNvSpPr>
            <a:spLocks noGrp="1"/>
          </p:cNvSpPr>
          <p:nvPr>
            <p:ph idx="1"/>
          </p:nvPr>
        </p:nvSpPr>
        <p:spPr>
          <a:xfrm>
            <a:off x="2880487" y="2249046"/>
            <a:ext cx="6123783" cy="3802762"/>
          </a:xfrm>
        </p:spPr>
        <p:txBody>
          <a:bodyPr anchor="t">
            <a:normAutofit/>
          </a:bodyPr>
          <a:lstStyle/>
          <a:p>
            <a:pPr>
              <a:lnSpc>
                <a:spcPct val="110000"/>
              </a:lnSpc>
            </a:pPr>
            <a:r>
              <a:rPr lang="es-CO" sz="1600"/>
              <a:t>Esta ley que establece como debemos actuar correctamente, sólo es expresable mediante imperativos (mandatos) categóricos (incondicionados). Estos de diferencian de los imperativos hipotéticos, propios de las éticas materiales, que expresan una norma que sólo tiene validez como medio para alcanzar un fin. Por contra, el imperativo categórico que formula Kant es: Obra de tal modo que tu acción pueda convertirse en ley universal. Este imperativo no depende de ningún fin y, además, no nos dice qué tenemos que hacer, sino que sirve de criterio para saber qué normas son morales y cuales no. Establece cuál es la forma que debe de tener la norma para ser moral: sólo aquellas normas que sean universalizables serán realmente normas morales.</a:t>
            </a:r>
          </a:p>
        </p:txBody>
      </p:sp>
    </p:spTree>
    <p:extLst>
      <p:ext uri="{BB962C8B-B14F-4D97-AF65-F5344CB8AC3E}">
        <p14:creationId xmlns:p14="http://schemas.microsoft.com/office/powerpoint/2010/main" val="312693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5" name="Marcador de contenido 2">
            <a:extLst>
              <a:ext uri="{FF2B5EF4-FFF2-40B4-BE49-F238E27FC236}">
                <a16:creationId xmlns:a16="http://schemas.microsoft.com/office/drawing/2014/main" id="{208BB1F0-15F6-A23C-0AF0-10CCE9B97FBE}"/>
              </a:ext>
            </a:extLst>
          </p:cNvPr>
          <p:cNvGraphicFramePr>
            <a:graphicFrameLocks noGrp="1"/>
          </p:cNvGraphicFramePr>
          <p:nvPr>
            <p:ph idx="1"/>
            <p:extLst>
              <p:ext uri="{D42A27DB-BD31-4B8C-83A1-F6EECF244321}">
                <p14:modId xmlns:p14="http://schemas.microsoft.com/office/powerpoint/2010/main" val="688693460"/>
              </p:ext>
            </p:extLst>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4094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7D3471-CF81-4AAE-A069-25631FBDC852}"/>
              </a:ext>
            </a:extLst>
          </p:cNvPr>
          <p:cNvSpPr>
            <a:spLocks noGrp="1"/>
          </p:cNvSpPr>
          <p:nvPr>
            <p:ph type="title"/>
          </p:nvPr>
        </p:nvSpPr>
        <p:spPr/>
        <p:txBody>
          <a:bodyPr/>
          <a:lstStyle/>
          <a:p>
            <a:r>
              <a:rPr lang="es-CO" dirty="0"/>
              <a:t>GRACIAS </a:t>
            </a:r>
          </a:p>
        </p:txBody>
      </p:sp>
      <p:sp>
        <p:nvSpPr>
          <p:cNvPr id="3" name="Marcador de contenido 2">
            <a:extLst>
              <a:ext uri="{FF2B5EF4-FFF2-40B4-BE49-F238E27FC236}">
                <a16:creationId xmlns:a16="http://schemas.microsoft.com/office/drawing/2014/main" id="{C2BD6FE2-4F3B-4D3E-8A36-687AB348EF3A}"/>
              </a:ext>
            </a:extLst>
          </p:cNvPr>
          <p:cNvSpPr>
            <a:spLocks noGrp="1"/>
          </p:cNvSpPr>
          <p:nvPr>
            <p:ph idx="1"/>
          </p:nvPr>
        </p:nvSpPr>
        <p:spPr/>
        <p:txBody>
          <a:bodyPr/>
          <a:lstStyle/>
          <a:p>
            <a:r>
              <a:rPr lang="es-CO" dirty="0"/>
              <a:t>Fuente </a:t>
            </a:r>
            <a:r>
              <a:rPr lang="es-CO" dirty="0">
                <a:hlinkClick r:id="rId2"/>
              </a:rPr>
              <a:t>http://www.filosofia.net/materiales/sofiafilia/eec/eec_26.html</a:t>
            </a:r>
            <a:endParaRPr lang="es-CO" dirty="0"/>
          </a:p>
          <a:p>
            <a:endParaRPr lang="es-CO" dirty="0"/>
          </a:p>
        </p:txBody>
      </p:sp>
    </p:spTree>
    <p:extLst>
      <p:ext uri="{BB962C8B-B14F-4D97-AF65-F5344CB8AC3E}">
        <p14:creationId xmlns:p14="http://schemas.microsoft.com/office/powerpoint/2010/main" val="2139789466"/>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Atlas</Template>
  <TotalTime>290</TotalTime>
  <Words>1092</Words>
  <Application>Microsoft Office PowerPoint</Application>
  <PresentationFormat>Panorámica</PresentationFormat>
  <Paragraphs>30</Paragraphs>
  <Slides>13</Slides>
  <Notes>0</Notes>
  <HiddenSlides>0</HiddenSlides>
  <MMClips>4</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 Light</vt:lpstr>
      <vt:lpstr>Rockwell</vt:lpstr>
      <vt:lpstr>Wingdings</vt:lpstr>
      <vt:lpstr>Atlas</vt:lpstr>
      <vt:lpstr>TEORÍAS ÉTICAS https://www.youtube.com/watch?v=YQWNRWaABSc  ÉTICAS DE LOS FINES </vt:lpstr>
      <vt:lpstr>INTELECTUALISMO MORAL </vt:lpstr>
      <vt:lpstr>Observamos </vt:lpstr>
      <vt:lpstr>¿En quien se aplica la teoría? </vt:lpstr>
      <vt:lpstr>EUDEMONISMO </vt:lpstr>
      <vt:lpstr>Observamos </vt:lpstr>
      <vt:lpstr>IUSNATURALISMO ETICO </vt:lpstr>
      <vt:lpstr>Observamos </vt:lpstr>
      <vt:lpstr>FORMALISMO O ÉTICA DEL DEBER </vt:lpstr>
      <vt:lpstr>Observamos</vt:lpstr>
      <vt:lpstr>Presentación de PowerPoint</vt:lpstr>
      <vt:lpstr>Presentación de PowerPoint</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TEORÍAS ÉTICAS</dc:title>
  <dc:creator>DAYANA VANESSA CONRADO ORTIZ</dc:creator>
  <cp:lastModifiedBy>DAYANNA CONRADO ORTIZ</cp:lastModifiedBy>
  <cp:revision>4</cp:revision>
  <dcterms:created xsi:type="dcterms:W3CDTF">2021-02-09T20:02:50Z</dcterms:created>
  <dcterms:modified xsi:type="dcterms:W3CDTF">2023-07-22T20:26:40Z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67fb3e-ac31-4c8c-a672-17639f3ff98d_Enabled">
    <vt:lpwstr>true</vt:lpwstr>
  </property>
  <property fmtid="{D5CDD505-2E9C-101B-9397-08002B2CF9AE}" pid="3" name="MSIP_Label_cd67fb3e-ac31-4c8c-a672-17639f3ff98d_SetDate">
    <vt:lpwstr>2021-02-09T20:02:51Z</vt:lpwstr>
  </property>
  <property fmtid="{D5CDD505-2E9C-101B-9397-08002B2CF9AE}" pid="4" name="MSIP_Label_cd67fb3e-ac31-4c8c-a672-17639f3ff98d_Method">
    <vt:lpwstr>Standard</vt:lpwstr>
  </property>
  <property fmtid="{D5CDD505-2E9C-101B-9397-08002B2CF9AE}" pid="5" name="MSIP_Label_cd67fb3e-ac31-4c8c-a672-17639f3ff98d_Name">
    <vt:lpwstr>cédula</vt:lpwstr>
  </property>
  <property fmtid="{D5CDD505-2E9C-101B-9397-08002B2CF9AE}" pid="6" name="MSIP_Label_cd67fb3e-ac31-4c8c-a672-17639f3ff98d_SiteId">
    <vt:lpwstr>1e9aabe8-67f8-4f1c-a329-a754e92499ae</vt:lpwstr>
  </property>
  <property fmtid="{D5CDD505-2E9C-101B-9397-08002B2CF9AE}" pid="7" name="MSIP_Label_cd67fb3e-ac31-4c8c-a672-17639f3ff98d_ActionId">
    <vt:lpwstr>6aea45d2-9ccd-4ab5-8deb-ceda6e38e94f</vt:lpwstr>
  </property>
  <property fmtid="{D5CDD505-2E9C-101B-9397-08002B2CF9AE}" pid="8" name="MSIP_Label_cd67fb3e-ac31-4c8c-a672-17639f3ff98d_ContentBits">
    <vt:lpwstr>0</vt:lpwstr>
  </property>
</Properties>
</file>