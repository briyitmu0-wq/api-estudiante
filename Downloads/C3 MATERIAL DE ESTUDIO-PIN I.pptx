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304" r:id="rId3"/>
    <p:sldId id="270" r:id="rId4"/>
    <p:sldId id="316" r:id="rId5"/>
    <p:sldId id="307" r:id="rId6"/>
    <p:sldId id="317" r:id="rId7"/>
    <p:sldId id="260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y Diaz" initials="SD" lastIdx="1" clrIdx="0">
    <p:extLst>
      <p:ext uri="{19B8F6BF-5375-455C-9EA6-DF929625EA0E}">
        <p15:presenceInfo xmlns:p15="http://schemas.microsoft.com/office/powerpoint/2012/main" userId="5da3bfcf03a48aa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843"/>
    <a:srgbClr val="132A42"/>
    <a:srgbClr val="003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02DEF-EACA-B848-A82C-72A66111DB0A}" v="2" dt="2024-05-29T19:27:14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8" autoAdjust="0"/>
    <p:restoredTop sz="94626"/>
  </p:normalViewPr>
  <p:slideViewPr>
    <p:cSldViewPr snapToGrid="0" snapToObjects="1">
      <p:cViewPr varScale="1">
        <p:scale>
          <a:sx n="64" d="100"/>
          <a:sy n="64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E43AB19-8EA6-A058-0106-3FBBB26211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49E98984-C1D1-2646-A0A0-3BFD0DD2EB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937125"/>
            <a:ext cx="9144000" cy="5931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 b="1" dirty="0">
                <a:latin typeface="Helvetica" pitchFamily="2" charset="0"/>
              </a:rPr>
              <a:t>Ejemplo portada interna (este texto se reemplaza por título)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C1608B-19E9-2F41-9313-CE374BE2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E6BFC-0E41-7845-8B2B-F1EF2B9D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66054E-3747-184C-98F2-66FE6934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653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D46E954-CC9E-B564-5025-C9185BEFC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7649A5-9E40-AD46-B1F5-13C1E9FF0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196" y="365125"/>
            <a:ext cx="10136221" cy="1325563"/>
          </a:xfrm>
        </p:spPr>
        <p:txBody>
          <a:bodyPr>
            <a:normAutofit/>
          </a:bodyPr>
          <a:lstStyle>
            <a:lvl1pPr>
              <a:defRPr sz="2700" b="1">
                <a:solidFill>
                  <a:srgbClr val="132A42"/>
                </a:solidFill>
                <a:effectLst>
                  <a:outerShdw sx="1000" sy="1000" algn="tl">
                    <a:srgbClr val="000000"/>
                  </a:outerShdw>
                </a:effectLst>
                <a:latin typeface="Helvetica" pitchFamily="2" charset="0"/>
              </a:defRPr>
            </a:lvl1pPr>
          </a:lstStyle>
          <a:p>
            <a:r>
              <a:rPr lang="es-ES" dirty="0"/>
              <a:t>Ejemplo uso de fotos internas (este texto se modifica por título)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FB6EEE-750E-C544-BA77-AA549E99E6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91868" y="1985475"/>
            <a:ext cx="3932834" cy="38786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Haga clic para agregar texto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69ED70-3570-D44D-BB19-AB5B16BE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E6CCEF-EC67-FE49-929B-77A168CF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389F3E-8B46-1B4B-9F54-34BCC662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215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22C1A88-33C7-A9CC-794B-7FBA5AF634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7649A5-9E40-AD46-B1F5-13C1E9FF0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196" y="365125"/>
            <a:ext cx="10136221" cy="1325563"/>
          </a:xfrm>
        </p:spPr>
        <p:txBody>
          <a:bodyPr>
            <a:normAutofit/>
          </a:bodyPr>
          <a:lstStyle>
            <a:lvl1pPr>
              <a:defRPr sz="2700" b="1">
                <a:solidFill>
                  <a:srgbClr val="132A42"/>
                </a:solidFill>
                <a:effectLst>
                  <a:outerShdw sx="1000" sy="1000" algn="tl">
                    <a:srgbClr val="000000"/>
                  </a:outerShdw>
                </a:effectLst>
                <a:latin typeface="Helvetica" pitchFamily="2" charset="0"/>
              </a:defRPr>
            </a:lvl1pPr>
          </a:lstStyle>
          <a:p>
            <a:r>
              <a:rPr lang="es-ES" dirty="0"/>
              <a:t>Haga clic para agregar título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FB6EEE-750E-C544-BA77-AA549E99E6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0195" y="1825625"/>
            <a:ext cx="11400817" cy="4351338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Haga clic para agregar texto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69ED70-3570-D44D-BB19-AB5B16BE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E6CCEF-EC67-FE49-929B-77A168CF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389F3E-8B46-1B4B-9F54-34BCC662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439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E5F48-7598-C346-A9EA-8B68B456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7F7FEB-8D1A-464C-B59E-142E055B5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65E905-47E6-D440-8026-5A9C03BE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9D5F45-D9DA-B648-A088-2B35CD47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B6E6AE-6EAA-804A-8F1C-280946D2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118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A921016-19A3-BD1D-265A-2F9DE6326B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0CBAF79-86AF-324A-9E86-A9035BBF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5060" y="2792387"/>
            <a:ext cx="5527777" cy="1769944"/>
          </a:xfrm>
        </p:spPr>
        <p:txBody>
          <a:bodyPr>
            <a:normAutofit/>
          </a:bodyPr>
          <a:lstStyle>
            <a:lvl1pPr algn="ctr">
              <a:defRPr sz="2500" b="1">
                <a:solidFill>
                  <a:srgbClr val="132A42"/>
                </a:solidFill>
                <a:latin typeface="Helvetica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26D458-EE3F-C14C-A12B-FB32C10C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9966" y="92710"/>
            <a:ext cx="22707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650B4A-31CB-9940-B581-D54321F3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71BA19-ECA8-A248-A6CC-09C32FDA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0DD3616-8ADA-014B-9F03-CEFA802CA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8457" y="4704737"/>
            <a:ext cx="5925343" cy="287337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s-CO" dirty="0"/>
              <a:t>Ingrese subtítulo o nombre del que presenta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F181142-04BE-854E-8C6E-B290ABFE1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4471" y="5619614"/>
            <a:ext cx="6407150" cy="392113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s-CO" dirty="0"/>
              <a:t>Ingrese aquí texto adicional según requiera (fecha, sede, etc.)</a:t>
            </a:r>
          </a:p>
        </p:txBody>
      </p:sp>
    </p:spTree>
    <p:extLst>
      <p:ext uri="{BB962C8B-B14F-4D97-AF65-F5344CB8AC3E}">
        <p14:creationId xmlns:p14="http://schemas.microsoft.com/office/powerpoint/2010/main" val="184283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A4FEA-E768-8342-9E4C-1D6BDBE5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20638D-B89F-454B-8838-4AFE417BE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134E38-0459-CF41-AD94-84F6C18F5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516BC9F-18ED-CE4A-9735-D29A2B566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F339411-4E9E-DA43-9828-9CB25F625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25058F-DC2F-154A-9FAA-190E8351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57219D-EDF3-6C42-A81B-2B6ABB96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C49598-E2BD-BB47-80FC-DD0FA695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556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4A7B0-CD3D-4B4C-BF03-27950175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D1074A2-9D9D-C84F-B49A-B4B7B60D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5CD0AE-4800-6D49-AC8C-30A75750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E32B0F-BE6E-E84D-9AF8-C5ED3C5C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938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F3FBA07-E30E-9F4A-A5DD-885C0A0B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1E3963-C4B4-5A4D-8120-AE737E28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AA5FCE-12C1-D04E-87F7-5EDE064E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411300-6B77-9090-8F35-CCEE16AE60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48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95F1E-1606-1E48-B25E-D03CED9D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15EA7B-5BFD-5747-B737-E3E3AA0F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A0268E-DF2C-2A4D-80CE-0B8957B4B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8F098-9853-A648-A34D-18E955AA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4B059B-E5D1-484B-B4EC-4D28184E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772269-404E-E247-BB02-2C02B544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649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2847A-82F0-D142-84DC-01EDF1EC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740E14-C59A-154F-879E-FC6F918EA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DEFEBB-2EEF-8B40-A2C1-B0950BF3C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989B51-50AE-5A41-AD26-72064B3B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F68472-CE56-CE43-8231-97D91216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91C2C6-6D6C-8A4A-B6AD-E799AF47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32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02C64-44D4-9A48-A4B0-AD6F5563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57D0F9-22E9-7B4A-9DE1-0A3CA184C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CAF973-026E-6446-832B-5EDF3B90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EDAAD1-AD38-024B-87C9-CED38441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F821CF-0939-AF4B-9F69-C5A66306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333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3496B4-EF5B-4E44-BA04-A5B8579B4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10C3C5-F41F-B346-A7CF-E8C50018D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D4ED63-2F20-E040-88C2-63B2734C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19CC3A-697C-F245-BDC7-89609862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2F0063-3219-9B45-87DF-A26E97736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572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CC9909-9C1A-DA4E-85F8-041CC2F6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5D7626-1217-3F48-BFF0-11EF8879E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42115-645B-E74D-BE5A-00E576863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8920B-9586-C146-86AE-2666566F0D47}" type="datetimeFigureOut">
              <a:rPr lang="es-CO" smtClean="0"/>
              <a:t>8/09/2026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4CA25E-692B-6E4A-B119-233AAF934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4807F6-E806-0E45-99BD-A049890A4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77035-F997-A142-B685-98B4EEDED26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983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98AB750F-72D4-0386-2518-9CE8C50A78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46746"/>
            <a:ext cx="5474207" cy="689088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828E9D6-AD17-4359-BA45-55D2FBF3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9373" y="1585913"/>
            <a:ext cx="5527777" cy="4262293"/>
          </a:xfrm>
        </p:spPr>
        <p:txBody>
          <a:bodyPr>
            <a:normAutofit/>
          </a:bodyPr>
          <a:lstStyle/>
          <a:p>
            <a:r>
              <a:rPr lang="es-CO" sz="6000" dirty="0"/>
              <a:t>PROYECTO INTEGRADOR</a:t>
            </a:r>
            <a:br>
              <a:rPr lang="es-CO" sz="6000" dirty="0"/>
            </a:br>
            <a:r>
              <a:rPr lang="es-CO" sz="6000" dirty="0"/>
              <a:t> </a:t>
            </a:r>
            <a:br>
              <a:rPr lang="es-CO" dirty="0"/>
            </a:br>
            <a:r>
              <a:rPr lang="es-CO" sz="2800" b="0" dirty="0"/>
              <a:t>Docente: ING. </a:t>
            </a:r>
            <a:r>
              <a:rPr lang="es-CO" sz="2800" b="0" dirty="0" err="1"/>
              <a:t>Neel</a:t>
            </a:r>
            <a:r>
              <a:rPr lang="es-CO" sz="2800" b="0" dirty="0"/>
              <a:t> Molina</a:t>
            </a:r>
            <a:endParaRPr lang="es-CO" b="0" dirty="0"/>
          </a:p>
        </p:txBody>
      </p:sp>
    </p:spTree>
    <p:extLst>
      <p:ext uri="{BB962C8B-B14F-4D97-AF65-F5344CB8AC3E}">
        <p14:creationId xmlns:p14="http://schemas.microsoft.com/office/powerpoint/2010/main" val="6640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/>
          <a:srcRect r="55987"/>
          <a:stretch/>
        </p:blipFill>
        <p:spPr>
          <a:xfrm>
            <a:off x="379811" y="2297149"/>
            <a:ext cx="3746364" cy="204289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902697-A82A-4880-8986-E739B8BA1F5B}"/>
              </a:ext>
            </a:extLst>
          </p:cNvPr>
          <p:cNvSpPr txBox="1"/>
          <p:nvPr/>
        </p:nvSpPr>
        <p:spPr>
          <a:xfrm>
            <a:off x="0" y="244137"/>
            <a:ext cx="12615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600" b="1" i="0" u="none" strike="noStrike" baseline="0" dirty="0">
                <a:solidFill>
                  <a:srgbClr val="1E2843"/>
                </a:solidFill>
              </a:rPr>
              <a:t>PLANTEAMIENTO DEL PROBLEMA</a:t>
            </a:r>
            <a:endParaRPr lang="es-CO" sz="6600" b="1" dirty="0">
              <a:solidFill>
                <a:srgbClr val="1E284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3BAF06-EF14-4D10-8391-7A316061E220}"/>
              </a:ext>
            </a:extLst>
          </p:cNvPr>
          <p:cNvSpPr txBox="1">
            <a:spLocks noChangeArrowheads="1"/>
          </p:cNvSpPr>
          <p:nvPr/>
        </p:nvSpPr>
        <p:spPr>
          <a:xfrm>
            <a:off x="4339563" y="2001628"/>
            <a:ext cx="6862762" cy="2911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lvl="1" indent="0" algn="just">
              <a:lnSpc>
                <a:spcPct val="125000"/>
              </a:lnSpc>
              <a:buFont typeface="Wingdings 3" charset="2"/>
              <a:buNone/>
            </a:pPr>
            <a:endParaRPr lang="en-US" altLang="es-CO" sz="2800" dirty="0">
              <a:solidFill>
                <a:srgbClr val="132A42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851B668-9623-41D9-B7D5-86314DF59FF2}"/>
              </a:ext>
            </a:extLst>
          </p:cNvPr>
          <p:cNvSpPr txBox="1"/>
          <p:nvPr/>
        </p:nvSpPr>
        <p:spPr>
          <a:xfrm>
            <a:off x="4047593" y="1366421"/>
            <a:ext cx="758308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32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en este punto se debe formular claramente el problema a cuya solución o entendimiento se contribuirá con el desarrollo del proyecto o la oportunidad que se espera desarrollar. Se debe hacer una descripción precisa y completa de la naturaleza y magnitud del problema, aportando indicadores cuantificables de la situación actual y futura a nivel local, nacional o internacional. (mínimo 2 hojas máxim</a:t>
            </a:r>
            <a:r>
              <a:rPr lang="es-CO" sz="3200" i="1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 5)</a:t>
            </a:r>
            <a:endParaRPr lang="es-CO" sz="3200" i="1" dirty="0"/>
          </a:p>
        </p:txBody>
      </p:sp>
    </p:spTree>
    <p:extLst>
      <p:ext uri="{BB962C8B-B14F-4D97-AF65-F5344CB8AC3E}">
        <p14:creationId xmlns:p14="http://schemas.microsoft.com/office/powerpoint/2010/main" val="140081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8">
            <a:extLst>
              <a:ext uri="{FF2B5EF4-FFF2-40B4-BE49-F238E27FC236}">
                <a16:creationId xmlns:a16="http://schemas.microsoft.com/office/drawing/2014/main" id="{55D5F68C-2023-9140-15DC-ECFE584033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570"/>
          <a:stretch/>
        </p:blipFill>
        <p:spPr>
          <a:xfrm>
            <a:off x="7714035" y="5934170"/>
            <a:ext cx="4477966" cy="92383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F22F577-A49D-40D9-A50D-9B97A0609FCF}"/>
              </a:ext>
            </a:extLst>
          </p:cNvPr>
          <p:cNvSpPr txBox="1"/>
          <p:nvPr/>
        </p:nvSpPr>
        <p:spPr>
          <a:xfrm>
            <a:off x="728662" y="228123"/>
            <a:ext cx="9958388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4800" b="1" dirty="0">
                <a:solidFill>
                  <a:srgbClr val="132A42"/>
                </a:solidFill>
              </a:rPr>
              <a:t>Para realizar el planteamiento del problema se deben desarrollar a manera de párrafos los siguientes componentes:</a:t>
            </a:r>
          </a:p>
          <a:p>
            <a:r>
              <a:rPr lang="es-CO" sz="4000" dirty="0">
                <a:solidFill>
                  <a:srgbClr val="132A42"/>
                </a:solidFill>
              </a:rPr>
              <a:t>Identificación de problema </a:t>
            </a:r>
          </a:p>
          <a:p>
            <a:r>
              <a:rPr lang="es-CO" sz="4000" dirty="0">
                <a:solidFill>
                  <a:srgbClr val="132A42"/>
                </a:solidFill>
              </a:rPr>
              <a:t>Síntomas</a:t>
            </a:r>
          </a:p>
          <a:p>
            <a:r>
              <a:rPr lang="es-CO" sz="4000" dirty="0">
                <a:solidFill>
                  <a:srgbClr val="132A42"/>
                </a:solidFill>
              </a:rPr>
              <a:t>Causas</a:t>
            </a:r>
          </a:p>
          <a:p>
            <a:r>
              <a:rPr lang="es-CO" sz="4000" dirty="0">
                <a:solidFill>
                  <a:srgbClr val="132A42"/>
                </a:solidFill>
              </a:rPr>
              <a:t>Pronostico </a:t>
            </a:r>
          </a:p>
          <a:p>
            <a:r>
              <a:rPr lang="es-CO" sz="4000" dirty="0">
                <a:solidFill>
                  <a:srgbClr val="132A42"/>
                </a:solidFill>
              </a:rPr>
              <a:t>control de pronostico</a:t>
            </a:r>
          </a:p>
          <a:p>
            <a:r>
              <a:rPr lang="es-CO" dirty="0">
                <a:solidFill>
                  <a:srgbClr val="132A4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256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ágrima 6">
            <a:extLst>
              <a:ext uri="{FF2B5EF4-FFF2-40B4-BE49-F238E27FC236}">
                <a16:creationId xmlns:a16="http://schemas.microsoft.com/office/drawing/2014/main" id="{705D7A58-FA61-3BAC-F96F-05697E4BF6D8}"/>
              </a:ext>
            </a:extLst>
          </p:cNvPr>
          <p:cNvSpPr/>
          <p:nvPr/>
        </p:nvSpPr>
        <p:spPr>
          <a:xfrm rot="15548138">
            <a:off x="-1126509" y="-129248"/>
            <a:ext cx="3094117" cy="3742006"/>
          </a:xfrm>
          <a:prstGeom prst="teardrop">
            <a:avLst>
              <a:gd name="adj" fmla="val 34021"/>
            </a:avLst>
          </a:prstGeom>
          <a:solidFill>
            <a:srgbClr val="132A42"/>
          </a:solidFill>
          <a:ln>
            <a:solidFill>
              <a:srgbClr val="132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Lágrima 5">
            <a:extLst>
              <a:ext uri="{FF2B5EF4-FFF2-40B4-BE49-F238E27FC236}">
                <a16:creationId xmlns:a16="http://schemas.microsoft.com/office/drawing/2014/main" id="{59D4178C-3FC7-F22F-B0CB-7C8F6678FCDE}"/>
              </a:ext>
            </a:extLst>
          </p:cNvPr>
          <p:cNvSpPr/>
          <p:nvPr/>
        </p:nvSpPr>
        <p:spPr>
          <a:xfrm rot="15548138">
            <a:off x="779034" y="-1245591"/>
            <a:ext cx="3094117" cy="3742006"/>
          </a:xfrm>
          <a:prstGeom prst="teardrop">
            <a:avLst>
              <a:gd name="adj" fmla="val 34021"/>
            </a:avLst>
          </a:prstGeom>
          <a:solidFill>
            <a:srgbClr val="FFCB05"/>
          </a:solidFill>
          <a:ln>
            <a:solidFill>
              <a:srgbClr val="FFC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28A91701-D14D-9731-781C-2BA1351C8F95}"/>
              </a:ext>
            </a:extLst>
          </p:cNvPr>
          <p:cNvSpPr txBox="1"/>
          <p:nvPr/>
        </p:nvSpPr>
        <p:spPr>
          <a:xfrm>
            <a:off x="0" y="6613318"/>
            <a:ext cx="7263580" cy="24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CO" sz="1100" i="1">
                <a:solidFill>
                  <a:srgbClr val="132A4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Para mayor información visita la pagina web institucional.</a:t>
            </a:r>
            <a:r>
              <a:rPr lang="es-CO" sz="1100" b="1" i="1">
                <a:solidFill>
                  <a:srgbClr val="132A4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O" sz="1100" b="1" i="1" u="sng">
                <a:solidFill>
                  <a:srgbClr val="132A4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www.unibarranquilla.edu.co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6F93BC7-FF5A-41D6-8150-9777097924DA}"/>
              </a:ext>
            </a:extLst>
          </p:cNvPr>
          <p:cNvSpPr txBox="1"/>
          <p:nvPr/>
        </p:nvSpPr>
        <p:spPr>
          <a:xfrm>
            <a:off x="603706" y="3298922"/>
            <a:ext cx="3553215" cy="286232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CO" b="1" i="0" u="none" strike="noStrike" baseline="0" dirty="0">
                <a:solidFill>
                  <a:srgbClr val="1E2843"/>
                </a:solidFill>
                <a:latin typeface="Arial" panose="020B0604020202020204" pitchFamily="34" charset="0"/>
              </a:rPr>
              <a:t>1. Identificación del Problema: </a:t>
            </a:r>
            <a:r>
              <a:rPr lang="es-CO" b="0" i="0" u="none" strike="noStrike" baseline="0" dirty="0">
                <a:solidFill>
                  <a:srgbClr val="1E2843"/>
                </a:solidFill>
                <a:latin typeface="Arial" panose="020B0604020202020204" pitchFamily="34" charset="0"/>
              </a:rPr>
              <a:t>Identificar los vacíos en el conocimiento, resultados contradictorios entre las teorías o explicación de hechos, es decir, identificar los problemas, las necesidades y las oportunidades con las cuales se pretende desarrollar la propuesta de investigación.</a:t>
            </a:r>
            <a:endParaRPr lang="es-CO" dirty="0">
              <a:solidFill>
                <a:srgbClr val="1E2843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B7FA73-CECE-4121-939A-836A953C0B1E}"/>
              </a:ext>
            </a:extLst>
          </p:cNvPr>
          <p:cNvSpPr txBox="1"/>
          <p:nvPr/>
        </p:nvSpPr>
        <p:spPr>
          <a:xfrm>
            <a:off x="4333485" y="1243995"/>
            <a:ext cx="3553215" cy="3970318"/>
          </a:xfrm>
          <a:prstGeom prst="rect">
            <a:avLst/>
          </a:prstGeom>
          <a:noFill/>
          <a:ln>
            <a:solidFill>
              <a:srgbClr val="1E2843"/>
            </a:solidFill>
          </a:ln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defRPr b="1" i="0" u="none" strike="noStrike" baseline="0">
                <a:solidFill>
                  <a:srgbClr val="1E2843"/>
                </a:solidFill>
                <a:latin typeface="Arial" panose="020B0604020202020204" pitchFamily="34" charset="0"/>
              </a:defRPr>
            </a:lvl1pPr>
          </a:lstStyle>
          <a:p>
            <a:r>
              <a:rPr lang="es-CO" dirty="0"/>
              <a:t>2. Síntomas: </a:t>
            </a:r>
            <a:r>
              <a:rPr lang="es-CO" b="0" dirty="0"/>
              <a:t>Hechos o situaciones observables (lo que se evidencia o es aparente). Es decir, ¿cómo se manifiestan los problemas, necesidades u oportunidades identificadas? Aquí se puede utilizar información primaria, como información de la misma empresa y del entorno, o información secundaria, tales como estadísticas, informes, búsqueda en bases de datos, entre otros.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07F669-5636-478B-9075-D642667E4C97}"/>
              </a:ext>
            </a:extLst>
          </p:cNvPr>
          <p:cNvSpPr txBox="1"/>
          <p:nvPr/>
        </p:nvSpPr>
        <p:spPr>
          <a:xfrm>
            <a:off x="7886700" y="208419"/>
            <a:ext cx="3553215" cy="923330"/>
          </a:xfrm>
          <a:prstGeom prst="rect">
            <a:avLst/>
          </a:prstGeom>
          <a:noFill/>
          <a:ln>
            <a:solidFill>
              <a:srgbClr val="1E2843"/>
            </a:solidFill>
          </a:ln>
        </p:spPr>
        <p:txBody>
          <a:bodyPr wrap="square" rtlCol="0">
            <a:spAutoFit/>
          </a:bodyPr>
          <a:lstStyle/>
          <a:p>
            <a:r>
              <a:rPr lang="es-CO" sz="1800" b="1" i="0" u="none" strike="noStrike" baseline="0" dirty="0">
                <a:solidFill>
                  <a:srgbClr val="1E2843"/>
                </a:solidFill>
                <a:latin typeface="Arial" panose="020B0604020202020204" pitchFamily="34" charset="0"/>
              </a:rPr>
              <a:t>3. Causas: </a:t>
            </a:r>
            <a:r>
              <a:rPr lang="es-CO" dirty="0">
                <a:solidFill>
                  <a:srgbClr val="1E2843"/>
                </a:solidFill>
                <a:latin typeface="Arial" panose="020B0604020202020204" pitchFamily="34" charset="0"/>
              </a:rPr>
              <a:t>Aquellas que originan la aparición de los síntomas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CBB4710-8346-4371-80EB-8FAE173B6153}"/>
              </a:ext>
            </a:extLst>
          </p:cNvPr>
          <p:cNvSpPr txBox="1"/>
          <p:nvPr/>
        </p:nvSpPr>
        <p:spPr>
          <a:xfrm>
            <a:off x="8923159" y="1658605"/>
            <a:ext cx="3071813" cy="1477328"/>
          </a:xfrm>
          <a:prstGeom prst="rect">
            <a:avLst/>
          </a:prstGeom>
          <a:noFill/>
          <a:ln>
            <a:solidFill>
              <a:srgbClr val="1E2843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CO" sz="1800" b="1" i="0" u="none" strike="noStrike" baseline="0" dirty="0">
                <a:solidFill>
                  <a:srgbClr val="1E2843"/>
                </a:solidFill>
                <a:latin typeface="Arial" panose="020B0604020202020204" pitchFamily="34" charset="0"/>
              </a:rPr>
              <a:t>4. Pronostico: </a:t>
            </a:r>
            <a:r>
              <a:rPr lang="es-CO" sz="1800" b="0" i="0" u="none" strike="noStrike" baseline="0" dirty="0">
                <a:solidFill>
                  <a:srgbClr val="1E2843"/>
                </a:solidFill>
                <a:latin typeface="Arial" panose="020B0604020202020204" pitchFamily="34" charset="0"/>
              </a:rPr>
              <a:t>Los efectos generados por los síntomas, las consecuencias, la tendencia si no se hace algo al respecto.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6FC08A-22FF-4A16-AA7F-BFED3B9E66C9}"/>
              </a:ext>
            </a:extLst>
          </p:cNvPr>
          <p:cNvSpPr txBox="1"/>
          <p:nvPr/>
        </p:nvSpPr>
        <p:spPr>
          <a:xfrm>
            <a:off x="8239828" y="3971925"/>
            <a:ext cx="2900363" cy="1754326"/>
          </a:xfrm>
          <a:prstGeom prst="rect">
            <a:avLst/>
          </a:prstGeom>
          <a:noFill/>
          <a:ln>
            <a:solidFill>
              <a:srgbClr val="1E2843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kumimoji="0" lang="es-CO" sz="1800" b="1" i="0" u="none" strike="noStrike" kern="1200" cap="none" spc="0" normalizeH="0" baseline="0" noProof="0" dirty="0">
                <a:ln>
                  <a:noFill/>
                </a:ln>
                <a:solidFill>
                  <a:srgbClr val="1E28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5. Control del pronóstico: 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1E28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Alternativas o posibles soluciones, aquí el proyecto entra a ser una alternativa de solución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474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iagrama de flujo: retraso 21">
            <a:extLst>
              <a:ext uri="{FF2B5EF4-FFF2-40B4-BE49-F238E27FC236}">
                <a16:creationId xmlns:a16="http://schemas.microsoft.com/office/drawing/2014/main" id="{CC478407-FC6D-4236-9075-DB4A94409749}"/>
              </a:ext>
            </a:extLst>
          </p:cNvPr>
          <p:cNvSpPr/>
          <p:nvPr/>
        </p:nvSpPr>
        <p:spPr>
          <a:xfrm flipH="1" flipV="1">
            <a:off x="9186861" y="2075848"/>
            <a:ext cx="3005137" cy="2497106"/>
          </a:xfrm>
          <a:prstGeom prst="flowChartDelay">
            <a:avLst/>
          </a:prstGeom>
          <a:solidFill>
            <a:srgbClr val="132A42"/>
          </a:solidFill>
          <a:ln>
            <a:solidFill>
              <a:srgbClr val="132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7AD4CC-68C2-447C-B38C-752F226DBB58}"/>
              </a:ext>
            </a:extLst>
          </p:cNvPr>
          <p:cNvSpPr txBox="1"/>
          <p:nvPr/>
        </p:nvSpPr>
        <p:spPr>
          <a:xfrm>
            <a:off x="800100" y="117693"/>
            <a:ext cx="412908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highlight>
                  <a:srgbClr val="FFFF00"/>
                </a:highlight>
              </a:rPr>
              <a:t>Identificación del problema </a:t>
            </a:r>
            <a:r>
              <a:rPr lang="es-CO" sz="2400" dirty="0"/>
              <a:t>y </a:t>
            </a:r>
            <a:r>
              <a:rPr lang="es-CO" sz="2400" dirty="0">
                <a:highlight>
                  <a:srgbClr val="FFFF00"/>
                </a:highlight>
              </a:rPr>
              <a:t>síntomas:</a:t>
            </a:r>
          </a:p>
          <a:p>
            <a:endParaRPr lang="es-CO" sz="24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En el mundo entero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En América latina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400" dirty="0"/>
              <a:t>En Colombia (si delimitaste tu proyecto a una ciudad en especifico abordas la ciudad)</a:t>
            </a:r>
          </a:p>
          <a:p>
            <a:endParaRPr lang="es-CO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2400" dirty="0"/>
          </a:p>
          <a:p>
            <a:r>
              <a:rPr lang="es-CO" sz="2400" dirty="0">
                <a:highlight>
                  <a:srgbClr val="FFFF00"/>
                </a:highlight>
              </a:rPr>
              <a:t>Causas, Pronostico y control de pronostico: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 Lugar, personas, problema.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Causas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Consecuencias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Aportes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2400" dirty="0"/>
          </a:p>
          <a:p>
            <a:endParaRPr lang="es-CO" sz="2400" dirty="0"/>
          </a:p>
        </p:txBody>
      </p:sp>
      <p:sp>
        <p:nvSpPr>
          <p:cNvPr id="5" name="Cerrar llave 4">
            <a:extLst>
              <a:ext uri="{FF2B5EF4-FFF2-40B4-BE49-F238E27FC236}">
                <a16:creationId xmlns:a16="http://schemas.microsoft.com/office/drawing/2014/main" id="{94B9A263-4E09-4334-A97A-056262AFD310}"/>
              </a:ext>
            </a:extLst>
          </p:cNvPr>
          <p:cNvSpPr/>
          <p:nvPr/>
        </p:nvSpPr>
        <p:spPr>
          <a:xfrm>
            <a:off x="4868466" y="89118"/>
            <a:ext cx="2000250" cy="3068420"/>
          </a:xfrm>
          <a:prstGeom prst="rightBrace">
            <a:avLst/>
          </a:prstGeom>
          <a:solidFill>
            <a:schemeClr val="bg1"/>
          </a:solidFill>
          <a:ln>
            <a:solidFill>
              <a:srgbClr val="1E28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F22060-0D86-4785-910C-774F57434D53}"/>
              </a:ext>
            </a:extLst>
          </p:cNvPr>
          <p:cNvSpPr txBox="1"/>
          <p:nvPr/>
        </p:nvSpPr>
        <p:spPr>
          <a:xfrm>
            <a:off x="6974681" y="961608"/>
            <a:ext cx="37147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400" b="1" dirty="0"/>
              <a:t>CONTEXTO</a:t>
            </a:r>
          </a:p>
          <a:p>
            <a:r>
              <a:rPr lang="es-CO" dirty="0"/>
              <a:t>Como se da esta problemática, en el mundo en Latan y en tu país. 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5E560AB2-62D0-4162-A757-CC1E69A5873B}"/>
              </a:ext>
            </a:extLst>
          </p:cNvPr>
          <p:cNvSpPr/>
          <p:nvPr/>
        </p:nvSpPr>
        <p:spPr>
          <a:xfrm>
            <a:off x="4983956" y="3487845"/>
            <a:ext cx="2000250" cy="2898667"/>
          </a:xfrm>
          <a:prstGeom prst="rightBrace">
            <a:avLst/>
          </a:prstGeom>
          <a:solidFill>
            <a:schemeClr val="bg1"/>
          </a:solidFill>
          <a:ln>
            <a:solidFill>
              <a:srgbClr val="1E284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DE0F2F-E5DC-4A08-9EAA-3A543A91F0B9}"/>
              </a:ext>
            </a:extLst>
          </p:cNvPr>
          <p:cNvSpPr txBox="1"/>
          <p:nvPr/>
        </p:nvSpPr>
        <p:spPr>
          <a:xfrm>
            <a:off x="7098505" y="4614012"/>
            <a:ext cx="41767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PROBLEMA </a:t>
            </a:r>
          </a:p>
          <a:p>
            <a:r>
              <a:rPr lang="es-CO" sz="2400" dirty="0"/>
              <a:t>Se aborda el problema </a:t>
            </a:r>
          </a:p>
        </p:txBody>
      </p:sp>
    </p:spTree>
    <p:extLst>
      <p:ext uri="{BB962C8B-B14F-4D97-AF65-F5344CB8AC3E}">
        <p14:creationId xmlns:p14="http://schemas.microsoft.com/office/powerpoint/2010/main" val="372029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83869-1F5F-4682-8094-06F0A6BF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09" y="373062"/>
            <a:ext cx="10136221" cy="1325563"/>
          </a:xfrm>
        </p:spPr>
        <p:txBody>
          <a:bodyPr>
            <a:normAutofit/>
          </a:bodyPr>
          <a:lstStyle/>
          <a:p>
            <a:r>
              <a:rPr lang="es-CO" sz="5400" dirty="0">
                <a:solidFill>
                  <a:srgbClr val="1E2843"/>
                </a:solidFill>
              </a:rPr>
              <a:t>NORMAS APA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66E15-6205-4FC4-90CA-CD09E683D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96" y="1397000"/>
            <a:ext cx="4550418" cy="435133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CO" sz="3200" b="0" i="0" dirty="0">
                <a:solidFill>
                  <a:srgbClr val="1E2843"/>
                </a:solidFill>
                <a:effectLst/>
                <a:latin typeface="Google Sans"/>
              </a:rPr>
              <a:t>Para citar fuentes en un proyecto de investigación utilizando las normas APA, se debe incluir el apellido del autor y el año de publicación entre paréntesis. Si se cita directamente una frase del autor, se debe indicar la página correspondiente. </a:t>
            </a:r>
            <a:endParaRPr lang="es-CO" sz="3200" dirty="0">
              <a:solidFill>
                <a:srgbClr val="1E2843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33D7C3-5469-478F-A8C0-76E95CB6279F}"/>
              </a:ext>
            </a:extLst>
          </p:cNvPr>
          <p:cNvSpPr txBox="1"/>
          <p:nvPr/>
        </p:nvSpPr>
        <p:spPr>
          <a:xfrm>
            <a:off x="5029201" y="386456"/>
            <a:ext cx="71627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800" b="1" i="0" dirty="0">
                <a:solidFill>
                  <a:srgbClr val="001D35"/>
                </a:solidFill>
                <a:effectLst/>
                <a:latin typeface="Google Sans"/>
              </a:rPr>
              <a:t>EJEMPLOS DE CITAS</a:t>
            </a:r>
            <a:endParaRPr lang="es-CO" sz="3600" dirty="0">
              <a:solidFill>
                <a:srgbClr val="001D35"/>
              </a:solidFill>
              <a:latin typeface="Google Sans"/>
            </a:endParaRP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s-CO" sz="2400" b="0" i="0" dirty="0">
                <a:solidFill>
                  <a:srgbClr val="001D35"/>
                </a:solidFill>
                <a:effectLst/>
                <a:latin typeface="Google Sans"/>
              </a:rPr>
              <a:t>Libro: Autor, A. A. (Año). Título del libro. Editorial.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s-CO" sz="2400" b="0" i="0" dirty="0">
                <a:solidFill>
                  <a:srgbClr val="001D35"/>
                </a:solidFill>
                <a:effectLst/>
                <a:latin typeface="Google Sans"/>
              </a:rPr>
              <a:t>Artículo de revista: Autor, A. A. (Año). Título del artículo. Nombre de la revista, volumen(número), páginas. </a:t>
            </a:r>
          </a:p>
          <a:p>
            <a:pPr algn="l" fontAlgn="ctr">
              <a:buFont typeface="Arial" panose="020B0604020202020204" pitchFamily="34" charset="0"/>
              <a:buChar char="•"/>
            </a:pPr>
            <a:r>
              <a:rPr lang="es-CO" sz="2400" b="0" i="0" dirty="0">
                <a:solidFill>
                  <a:srgbClr val="001D35"/>
                </a:solidFill>
                <a:effectLst/>
                <a:latin typeface="Google Sans"/>
              </a:rPr>
              <a:t>Tesis: Apellido, N. (año). Título de la tesis [Tesis de doctorado, Nombre de la institución que otorgó el título]. Nombre de la base de datos.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400" b="0" i="0" dirty="0">
                <a:solidFill>
                  <a:srgbClr val="001D35"/>
                </a:solidFill>
                <a:effectLst/>
                <a:latin typeface="Google Sans"/>
              </a:rPr>
              <a:t>Enciclopedia: Apellido del autor, Inicial nombre del autor. (Año). Título de la entrada, Nombre de la Enciclopedia (volumen, Páginas). Ubicación: Editorial.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sz="2400" b="0" i="0" dirty="0">
                <a:solidFill>
                  <a:srgbClr val="001D35"/>
                </a:solidFill>
                <a:effectLst/>
                <a:latin typeface="Google Sans"/>
              </a:rPr>
              <a:t>Pag web completa </a:t>
            </a:r>
            <a:r>
              <a:rPr lang="es-CO" sz="2400" dirty="0">
                <a:solidFill>
                  <a:srgbClr val="001D35"/>
                </a:solidFill>
                <a:latin typeface="Google Sans"/>
              </a:rPr>
              <a:t>o artículos en línea: Apellido del autor, inicial del nombre del autor (Año) titulo del articulo, nombre de la publicación Y  URL.</a:t>
            </a:r>
            <a:endParaRPr lang="es-CO" sz="2400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68900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8">
            <a:extLst>
              <a:ext uri="{FF2B5EF4-FFF2-40B4-BE49-F238E27FC236}">
                <a16:creationId xmlns:a16="http://schemas.microsoft.com/office/drawing/2014/main" id="{4F931C17-F34F-8AB7-BD37-38310CD409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570"/>
          <a:stretch/>
        </p:blipFill>
        <p:spPr>
          <a:xfrm>
            <a:off x="7714035" y="5934170"/>
            <a:ext cx="4477966" cy="92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8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559</Words>
  <Application>Microsoft Office PowerPoint</Application>
  <PresentationFormat>Panorámica</PresentationFormat>
  <Paragraphs>40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Google Sans</vt:lpstr>
      <vt:lpstr>Helvetica</vt:lpstr>
      <vt:lpstr>Times New Roman</vt:lpstr>
      <vt:lpstr>Wingdings 3</vt:lpstr>
      <vt:lpstr>Tema de Office</vt:lpstr>
      <vt:lpstr>PROYECTO INTEGRADOR   Docente: ING. Neel Molina</vt:lpstr>
      <vt:lpstr>Presentación de PowerPoint</vt:lpstr>
      <vt:lpstr>Presentación de PowerPoint</vt:lpstr>
      <vt:lpstr>Presentación de PowerPoint</vt:lpstr>
      <vt:lpstr>Presentación de PowerPoint</vt:lpstr>
      <vt:lpstr>NORMAS APA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NEEL GUSTAVO MOLINA ACUÑA</cp:lastModifiedBy>
  <cp:revision>123</cp:revision>
  <dcterms:created xsi:type="dcterms:W3CDTF">2018-08-01T15:48:14Z</dcterms:created>
  <dcterms:modified xsi:type="dcterms:W3CDTF">2026-09-08T19:45:37Z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67fb3e-ac31-4c8c-a672-17639f3ff98d_Enabled">
    <vt:lpwstr>true</vt:lpwstr>
  </property>
  <property fmtid="{D5CDD505-2E9C-101B-9397-08002B2CF9AE}" pid="3" name="MSIP_Label_cd67fb3e-ac31-4c8c-a672-17639f3ff98d_SetDate">
    <vt:lpwstr>2024-05-29T19:25:49Z</vt:lpwstr>
  </property>
  <property fmtid="{D5CDD505-2E9C-101B-9397-08002B2CF9AE}" pid="4" name="MSIP_Label_cd67fb3e-ac31-4c8c-a672-17639f3ff98d_Method">
    <vt:lpwstr>Standard</vt:lpwstr>
  </property>
  <property fmtid="{D5CDD505-2E9C-101B-9397-08002B2CF9AE}" pid="5" name="MSIP_Label_cd67fb3e-ac31-4c8c-a672-17639f3ff98d_Name">
    <vt:lpwstr>cédula</vt:lpwstr>
  </property>
  <property fmtid="{D5CDD505-2E9C-101B-9397-08002B2CF9AE}" pid="6" name="MSIP_Label_cd67fb3e-ac31-4c8c-a672-17639f3ff98d_SiteId">
    <vt:lpwstr>1e9aabe8-67f8-4f1c-a329-a754e92499ae</vt:lpwstr>
  </property>
  <property fmtid="{D5CDD505-2E9C-101B-9397-08002B2CF9AE}" pid="7" name="MSIP_Label_cd67fb3e-ac31-4c8c-a672-17639f3ff98d_ActionId">
    <vt:lpwstr>75282205-dcd3-4f8f-8d71-6bf8404a2a05</vt:lpwstr>
  </property>
  <property fmtid="{D5CDD505-2E9C-101B-9397-08002B2CF9AE}" pid="8" name="MSIP_Label_cd67fb3e-ac31-4c8c-a672-17639f3ff98d_ContentBits">
    <vt:lpwstr>0</vt:lpwstr>
  </property>
</Properties>
</file>