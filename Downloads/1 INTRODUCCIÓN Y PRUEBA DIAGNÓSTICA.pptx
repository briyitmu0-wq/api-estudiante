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73" r:id="rId2"/>
    <p:sldId id="256" r:id="rId3"/>
    <p:sldId id="297" r:id="rId4"/>
    <p:sldId id="300" r:id="rId5"/>
    <p:sldId id="299" r:id="rId6"/>
    <p:sldId id="295" r:id="rId7"/>
    <p:sldId id="304" r:id="rId8"/>
    <p:sldId id="305" r:id="rId9"/>
    <p:sldId id="298" r:id="rId10"/>
    <p:sldId id="303" r:id="rId11"/>
    <p:sldId id="306" r:id="rId12"/>
    <p:sldId id="307" r:id="rId13"/>
    <p:sldId id="308" r:id="rId14"/>
    <p:sldId id="310" r:id="rId15"/>
    <p:sldId id="301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843"/>
    <a:srgbClr val="FCDF2C"/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5"/>
    <p:restoredTop sz="94626"/>
  </p:normalViewPr>
  <p:slideViewPr>
    <p:cSldViewPr snapToGrid="0">
      <p:cViewPr varScale="1">
        <p:scale>
          <a:sx n="78" d="100"/>
          <a:sy n="78" d="100"/>
        </p:scale>
        <p:origin x="7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ya Paola Bula León" userId="932d155af7b30f6f" providerId="LiveId" clId="{8EF93517-D423-4C62-900B-EC16815C2360}"/>
    <pc:docChg chg="undo custSel addSld delSld modSld">
      <pc:chgData name="Katya Paola Bula León" userId="932d155af7b30f6f" providerId="LiveId" clId="{8EF93517-D423-4C62-900B-EC16815C2360}" dt="2026-05-22T16:12:12.466" v="1255" actId="20577"/>
      <pc:docMkLst>
        <pc:docMk/>
      </pc:docMkLst>
      <pc:sldChg chg="modSp mod">
        <pc:chgData name="Katya Paola Bula León" userId="932d155af7b30f6f" providerId="LiveId" clId="{8EF93517-D423-4C62-900B-EC16815C2360}" dt="2026-05-22T15:59:07.096" v="1151" actId="20577"/>
        <pc:sldMkLst>
          <pc:docMk/>
          <pc:sldMk cId="496011408" sldId="273"/>
        </pc:sldMkLst>
        <pc:spChg chg="mod">
          <ac:chgData name="Katya Paola Bula León" userId="932d155af7b30f6f" providerId="LiveId" clId="{8EF93517-D423-4C62-900B-EC16815C2360}" dt="2026-05-22T15:59:07.096" v="1151" actId="20577"/>
          <ac:spMkLst>
            <pc:docMk/>
            <pc:sldMk cId="496011408" sldId="273"/>
            <ac:spMk id="11" creationId="{9F392951-63AD-89A2-549A-F1E8A897E2CF}"/>
          </ac:spMkLst>
        </pc:spChg>
      </pc:sldChg>
      <pc:sldChg chg="addSp modSp mod">
        <pc:chgData name="Katya Paola Bula León" userId="932d155af7b30f6f" providerId="LiveId" clId="{8EF93517-D423-4C62-900B-EC16815C2360}" dt="2026-05-22T16:01:26.727" v="1216" actId="14100"/>
        <pc:sldMkLst>
          <pc:docMk/>
          <pc:sldMk cId="3978482220" sldId="297"/>
        </pc:sldMkLst>
        <pc:spChg chg="mod">
          <ac:chgData name="Katya Paola Bula León" userId="932d155af7b30f6f" providerId="LiveId" clId="{8EF93517-D423-4C62-900B-EC16815C2360}" dt="2026-05-22T16:01:17.039" v="1212" actId="1076"/>
          <ac:spMkLst>
            <pc:docMk/>
            <pc:sldMk cId="3978482220" sldId="297"/>
            <ac:spMk id="2" creationId="{4B344858-8220-D8DE-960B-30C465309F92}"/>
          </ac:spMkLst>
        </pc:spChg>
        <pc:spChg chg="add mod">
          <ac:chgData name="Katya Paola Bula León" userId="932d155af7b30f6f" providerId="LiveId" clId="{8EF93517-D423-4C62-900B-EC16815C2360}" dt="2026-05-22T16:01:26.727" v="1216" actId="14100"/>
          <ac:spMkLst>
            <pc:docMk/>
            <pc:sldMk cId="3978482220" sldId="297"/>
            <ac:spMk id="4" creationId="{A0495FB5-6752-8926-0FAC-2496E328018E}"/>
          </ac:spMkLst>
        </pc:spChg>
      </pc:sldChg>
      <pc:sldChg chg="modSp mod">
        <pc:chgData name="Katya Paola Bula León" userId="932d155af7b30f6f" providerId="LiveId" clId="{8EF93517-D423-4C62-900B-EC16815C2360}" dt="2026-05-22T16:12:12.466" v="1255" actId="20577"/>
        <pc:sldMkLst>
          <pc:docMk/>
          <pc:sldMk cId="3906700607" sldId="299"/>
        </pc:sldMkLst>
        <pc:spChg chg="mod">
          <ac:chgData name="Katya Paola Bula León" userId="932d155af7b30f6f" providerId="LiveId" clId="{8EF93517-D423-4C62-900B-EC16815C2360}" dt="2026-05-22T16:12:12.466" v="1255" actId="20577"/>
          <ac:spMkLst>
            <pc:docMk/>
            <pc:sldMk cId="3906700607" sldId="299"/>
            <ac:spMk id="4" creationId="{E3863017-9B32-E337-7F13-82812D337497}"/>
          </ac:spMkLst>
        </pc:spChg>
      </pc:sldChg>
      <pc:sldChg chg="addSp delSp modSp mod">
        <pc:chgData name="Katya Paola Bula León" userId="932d155af7b30f6f" providerId="LiveId" clId="{8EF93517-D423-4C62-900B-EC16815C2360}" dt="2026-05-22T16:10:09.347" v="1224" actId="1076"/>
        <pc:sldMkLst>
          <pc:docMk/>
          <pc:sldMk cId="3907299900" sldId="300"/>
        </pc:sldMkLst>
        <pc:picChg chg="del">
          <ac:chgData name="Katya Paola Bula León" userId="932d155af7b30f6f" providerId="LiveId" clId="{8EF93517-D423-4C62-900B-EC16815C2360}" dt="2026-05-22T16:07:36.341" v="1218" actId="478"/>
          <ac:picMkLst>
            <pc:docMk/>
            <pc:sldMk cId="3907299900" sldId="300"/>
            <ac:picMk id="3" creationId="{AFCDAF12-7069-700C-BF86-66AE27650B99}"/>
          </ac:picMkLst>
        </pc:picChg>
        <pc:picChg chg="add mod modCrop">
          <ac:chgData name="Katya Paola Bula León" userId="932d155af7b30f6f" providerId="LiveId" clId="{8EF93517-D423-4C62-900B-EC16815C2360}" dt="2026-05-22T16:10:09.347" v="1224" actId="1076"/>
          <ac:picMkLst>
            <pc:docMk/>
            <pc:sldMk cId="3907299900" sldId="300"/>
            <ac:picMk id="4" creationId="{C83D6B29-C5F8-B4D3-1227-25029C8C2FC7}"/>
          </ac:picMkLst>
        </pc:picChg>
      </pc:sldChg>
      <pc:sldChg chg="del">
        <pc:chgData name="Katya Paola Bula León" userId="932d155af7b30f6f" providerId="LiveId" clId="{8EF93517-D423-4C62-900B-EC16815C2360}" dt="2026-05-22T16:06:32.386" v="1217" actId="2696"/>
        <pc:sldMkLst>
          <pc:docMk/>
          <pc:sldMk cId="2277281523" sldId="30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41D627-96D6-4DE0-8732-8D94FBCD9D63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173A8A32-C56C-48EE-92BF-4BD610F4A37A}">
      <dgm:prSet phldrT="[Texto]"/>
      <dgm:spPr>
        <a:solidFill>
          <a:srgbClr val="FCDF2C"/>
        </a:solidFill>
        <a:ln>
          <a:noFill/>
        </a:ln>
      </dgm:spPr>
      <dgm:t>
        <a:bodyPr/>
        <a:lstStyle/>
        <a:p>
          <a:r>
            <a:rPr lang="es-CO" dirty="0">
              <a:solidFill>
                <a:srgbClr val="1E2843"/>
              </a:solidFill>
              <a:latin typeface="Avenir Next Heavy" panose="020B0903020202020204" pitchFamily="34" charset="0"/>
            </a:rPr>
            <a:t>60%</a:t>
          </a:r>
        </a:p>
      </dgm:t>
    </dgm:pt>
    <dgm:pt modelId="{4A6F6E85-E3B3-486C-B7B4-160EB2345C12}" type="parTrans" cxnId="{C99D2E7A-EECE-4FA3-8A3D-6AF327D001FE}">
      <dgm:prSet/>
      <dgm:spPr/>
      <dgm:t>
        <a:bodyPr/>
        <a:lstStyle/>
        <a:p>
          <a:endParaRPr lang="es-CO"/>
        </a:p>
      </dgm:t>
    </dgm:pt>
    <dgm:pt modelId="{0FE43178-43EE-46B8-A08E-A8023745D7C0}" type="sibTrans" cxnId="{C99D2E7A-EECE-4FA3-8A3D-6AF327D001FE}">
      <dgm:prSet/>
      <dgm:spPr/>
      <dgm:t>
        <a:bodyPr/>
        <a:lstStyle/>
        <a:p>
          <a:endParaRPr lang="es-CO"/>
        </a:p>
      </dgm:t>
    </dgm:pt>
    <dgm:pt modelId="{B502B716-B3E6-445A-A522-0E877E3BF971}">
      <dgm:prSet phldrT="[Texto]"/>
      <dgm:spPr>
        <a:solidFill>
          <a:srgbClr val="FCDF2C"/>
        </a:solidFill>
      </dgm:spPr>
      <dgm:t>
        <a:bodyPr/>
        <a:lstStyle/>
        <a:p>
          <a:r>
            <a:rPr lang="es-CO" dirty="0">
              <a:solidFill>
                <a:srgbClr val="1E2843"/>
              </a:solidFill>
              <a:latin typeface="Avenir Next Heavy" panose="020B0903020202020204" pitchFamily="34" charset="0"/>
            </a:rPr>
            <a:t>40%</a:t>
          </a:r>
        </a:p>
      </dgm:t>
    </dgm:pt>
    <dgm:pt modelId="{3021D097-C266-448A-89BE-9860945A289C}" type="parTrans" cxnId="{E310C11D-20B6-416F-81FB-E4E465B3A051}">
      <dgm:prSet/>
      <dgm:spPr/>
      <dgm:t>
        <a:bodyPr/>
        <a:lstStyle/>
        <a:p>
          <a:endParaRPr lang="es-CO"/>
        </a:p>
      </dgm:t>
    </dgm:pt>
    <dgm:pt modelId="{B9DCC282-106C-4DFA-A5E6-92EEFB45B34C}" type="sibTrans" cxnId="{E310C11D-20B6-416F-81FB-E4E465B3A051}">
      <dgm:prSet/>
      <dgm:spPr/>
      <dgm:t>
        <a:bodyPr/>
        <a:lstStyle/>
        <a:p>
          <a:endParaRPr lang="es-CO"/>
        </a:p>
      </dgm:t>
    </dgm:pt>
    <dgm:pt modelId="{5371AFE9-271F-4074-BF06-B36281DF3F11}" type="pres">
      <dgm:prSet presAssocID="{3D41D627-96D6-4DE0-8732-8D94FBCD9D63}" presName="diagram" presStyleCnt="0">
        <dgm:presLayoutVars>
          <dgm:dir/>
          <dgm:resizeHandles val="exact"/>
        </dgm:presLayoutVars>
      </dgm:prSet>
      <dgm:spPr/>
    </dgm:pt>
    <dgm:pt modelId="{E6A0270F-09E2-44E8-8FCE-711D9C9CF2DE}" type="pres">
      <dgm:prSet presAssocID="{173A8A32-C56C-48EE-92BF-4BD610F4A37A}" presName="arrow" presStyleLbl="node1" presStyleIdx="0" presStyleCnt="2">
        <dgm:presLayoutVars>
          <dgm:bulletEnabled val="1"/>
        </dgm:presLayoutVars>
      </dgm:prSet>
      <dgm:spPr/>
    </dgm:pt>
    <dgm:pt modelId="{FDE36BFD-36CB-4960-9097-B2DACEF4B7AD}" type="pres">
      <dgm:prSet presAssocID="{B502B716-B3E6-445A-A522-0E877E3BF971}" presName="arrow" presStyleLbl="node1" presStyleIdx="1" presStyleCnt="2">
        <dgm:presLayoutVars>
          <dgm:bulletEnabled val="1"/>
        </dgm:presLayoutVars>
      </dgm:prSet>
      <dgm:spPr/>
    </dgm:pt>
  </dgm:ptLst>
  <dgm:cxnLst>
    <dgm:cxn modelId="{9536600C-986F-46C7-804F-E80D34CED422}" type="presOf" srcId="{3D41D627-96D6-4DE0-8732-8D94FBCD9D63}" destId="{5371AFE9-271F-4074-BF06-B36281DF3F11}" srcOrd="0" destOrd="0" presId="urn:microsoft.com/office/officeart/2005/8/layout/arrow5"/>
    <dgm:cxn modelId="{E310C11D-20B6-416F-81FB-E4E465B3A051}" srcId="{3D41D627-96D6-4DE0-8732-8D94FBCD9D63}" destId="{B502B716-B3E6-445A-A522-0E877E3BF971}" srcOrd="1" destOrd="0" parTransId="{3021D097-C266-448A-89BE-9860945A289C}" sibTransId="{B9DCC282-106C-4DFA-A5E6-92EEFB45B34C}"/>
    <dgm:cxn modelId="{BCA36D60-E803-4A99-8AEC-259FDEB0C3B1}" type="presOf" srcId="{B502B716-B3E6-445A-A522-0E877E3BF971}" destId="{FDE36BFD-36CB-4960-9097-B2DACEF4B7AD}" srcOrd="0" destOrd="0" presId="urn:microsoft.com/office/officeart/2005/8/layout/arrow5"/>
    <dgm:cxn modelId="{C99D2E7A-EECE-4FA3-8A3D-6AF327D001FE}" srcId="{3D41D627-96D6-4DE0-8732-8D94FBCD9D63}" destId="{173A8A32-C56C-48EE-92BF-4BD610F4A37A}" srcOrd="0" destOrd="0" parTransId="{4A6F6E85-E3B3-486C-B7B4-160EB2345C12}" sibTransId="{0FE43178-43EE-46B8-A08E-A8023745D7C0}"/>
    <dgm:cxn modelId="{43B8CC8D-B95D-43AC-AF37-A2EC606320CF}" type="presOf" srcId="{173A8A32-C56C-48EE-92BF-4BD610F4A37A}" destId="{E6A0270F-09E2-44E8-8FCE-711D9C9CF2DE}" srcOrd="0" destOrd="0" presId="urn:microsoft.com/office/officeart/2005/8/layout/arrow5"/>
    <dgm:cxn modelId="{DFDFCC2E-F36D-4E3D-AD33-C34A3148B8D1}" type="presParOf" srcId="{5371AFE9-271F-4074-BF06-B36281DF3F11}" destId="{E6A0270F-09E2-44E8-8FCE-711D9C9CF2DE}" srcOrd="0" destOrd="0" presId="urn:microsoft.com/office/officeart/2005/8/layout/arrow5"/>
    <dgm:cxn modelId="{455AACCE-46D2-45D9-B748-E089EA75AA87}" type="presParOf" srcId="{5371AFE9-271F-4074-BF06-B36281DF3F11}" destId="{FDE36BFD-36CB-4960-9097-B2DACEF4B7AD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0270F-09E2-44E8-8FCE-711D9C9CF2DE}">
      <dsp:nvSpPr>
        <dsp:cNvPr id="0" name=""/>
        <dsp:cNvSpPr/>
      </dsp:nvSpPr>
      <dsp:spPr>
        <a:xfrm rot="16200000">
          <a:off x="442" y="172202"/>
          <a:ext cx="2519957" cy="2519957"/>
        </a:xfrm>
        <a:prstGeom prst="downArrow">
          <a:avLst>
            <a:gd name="adj1" fmla="val 50000"/>
            <a:gd name="adj2" fmla="val 35000"/>
          </a:avLst>
        </a:prstGeom>
        <a:solidFill>
          <a:srgbClr val="FCDF2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400" kern="1200" dirty="0">
              <a:solidFill>
                <a:srgbClr val="1E2843"/>
              </a:solidFill>
              <a:latin typeface="Avenir Next Heavy" panose="020B0903020202020204" pitchFamily="34" charset="0"/>
            </a:rPr>
            <a:t>60%</a:t>
          </a:r>
        </a:p>
      </dsp:txBody>
      <dsp:txXfrm rot="5400000">
        <a:off x="442" y="802191"/>
        <a:ext cx="2078965" cy="1259979"/>
      </dsp:txXfrm>
    </dsp:sp>
    <dsp:sp modelId="{FDE36BFD-36CB-4960-9097-B2DACEF4B7AD}">
      <dsp:nvSpPr>
        <dsp:cNvPr id="0" name=""/>
        <dsp:cNvSpPr/>
      </dsp:nvSpPr>
      <dsp:spPr>
        <a:xfrm rot="5400000">
          <a:off x="2661199" y="172202"/>
          <a:ext cx="2519957" cy="2519957"/>
        </a:xfrm>
        <a:prstGeom prst="downArrow">
          <a:avLst>
            <a:gd name="adj1" fmla="val 50000"/>
            <a:gd name="adj2" fmla="val 35000"/>
          </a:avLst>
        </a:prstGeom>
        <a:solidFill>
          <a:srgbClr val="FCDF2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400" kern="1200" dirty="0">
              <a:solidFill>
                <a:srgbClr val="1E2843"/>
              </a:solidFill>
              <a:latin typeface="Avenir Next Heavy" panose="020B0903020202020204" pitchFamily="34" charset="0"/>
            </a:rPr>
            <a:t>40%</a:t>
          </a:r>
        </a:p>
      </dsp:txBody>
      <dsp:txXfrm rot="-5400000">
        <a:off x="3102191" y="802191"/>
        <a:ext cx="2078965" cy="1259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108E455-7751-F979-5270-1C1B660E91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C5705F-C7D2-A4E5-4A75-632B8C5978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E7587-3B55-463A-9714-AD1E363215B1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6C4337-A804-B988-CCDB-E3EA48421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FF2759-18A2-D130-A451-349E28F46D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83B11-21D9-4212-8012-AC47F44DBF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1095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12264-86C0-4E35-BDC0-69E7D604DFF4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CF8E1-A0EA-41D2-B527-1FEFB12EB2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738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CF8E1-A0EA-41D2-B527-1FEFB12EB24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4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0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965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7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2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71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14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20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06E7908B-2511-324D-860A-77FE7488EF5B}" type="datetimeFigureOut">
              <a:rPr lang="es-CO" smtClean="0"/>
              <a:pPr/>
              <a:t>22/05/2026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0E8235C6-B7AA-A44A-8C31-B61D46C9B51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Nexa heavy" panose="02000000000000000000" pitchFamily="2" charset="0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Nexa heavy" panose="02000000000000000000" pitchFamily="2" charset="0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Nexa heavy" panose="02000000000000000000" pitchFamily="2" charset="0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Nexa heavy" panose="02000000000000000000" pitchFamily="2" charset="0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Nexa heavy" panose="02000000000000000000" pitchFamily="2" charset="0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Marcador de contenido 13" descr="Personas sentadas en una banca de madera&#10;&#10;Descripción generada automáticamente">
            <a:extLst>
              <a:ext uri="{FF2B5EF4-FFF2-40B4-BE49-F238E27FC236}">
                <a16:creationId xmlns:a16="http://schemas.microsoft.com/office/drawing/2014/main" id="{21B69A69-050A-5388-5CEC-B187B8FF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9F392951-63AD-89A2-549A-F1E8A897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548" y="4573331"/>
            <a:ext cx="3822189" cy="1444010"/>
          </a:xfrm>
        </p:spPr>
        <p:txBody>
          <a:bodyPr>
            <a:normAutofit/>
          </a:bodyPr>
          <a:lstStyle/>
          <a:p>
            <a:pPr algn="ctr"/>
            <a:r>
              <a:rPr lang="es-CO" sz="4000" dirty="0">
                <a:latin typeface="Helvetica" panose="020B0604020202020204" pitchFamily="34" charset="0"/>
                <a:cs typeface="Helvetica" panose="020B0604020202020204" pitchFamily="34" charset="0"/>
              </a:rPr>
              <a:t>BIENVENIDOS 2026–2</a:t>
            </a:r>
          </a:p>
        </p:txBody>
      </p:sp>
    </p:spTree>
    <p:extLst>
      <p:ext uri="{BB962C8B-B14F-4D97-AF65-F5344CB8AC3E}">
        <p14:creationId xmlns:p14="http://schemas.microsoft.com/office/powerpoint/2010/main" val="49601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23593766-7548-9088-A520-065F7DBB8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4" y="1191189"/>
            <a:ext cx="5820033" cy="2859701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Introducción y prueba diagnóstica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73751816-4DD7-E356-A5BC-AC9E246CB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9575" y="4473677"/>
            <a:ext cx="4884509" cy="639098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GPI04 – Distribución de planta</a:t>
            </a:r>
          </a:p>
          <a:p>
            <a:r>
              <a:rPr lang="es-MX" b="1" dirty="0">
                <a:solidFill>
                  <a:srgbClr val="1E2843"/>
                </a:solidFill>
              </a:rPr>
              <a:t>KATYA PAOLA BULA LEÓN</a:t>
            </a:r>
            <a:endParaRPr lang="es-MX" b="1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EA64E-83B0-3FD4-AAD6-FA9E2013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0">
            <a:extLst>
              <a:ext uri="{FF2B5EF4-FFF2-40B4-BE49-F238E27FC236}">
                <a16:creationId xmlns:a16="http://schemas.microsoft.com/office/drawing/2014/main" id="{4B344858-8220-D8DE-960B-30C46530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1368988"/>
            <a:ext cx="10515600" cy="1013030"/>
          </a:xfrm>
        </p:spPr>
        <p:txBody>
          <a:bodyPr>
            <a:normAutofit/>
          </a:bodyPr>
          <a:lstStyle/>
          <a:p>
            <a:pPr algn="ctr"/>
            <a:r>
              <a:rPr lang="es-CO" sz="5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Dos verdades y una mentira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495FB5-6752-8926-0FAC-2496E328018E}"/>
              </a:ext>
            </a:extLst>
          </p:cNvPr>
          <p:cNvSpPr txBox="1"/>
          <p:nvPr/>
        </p:nvSpPr>
        <p:spPr>
          <a:xfrm>
            <a:off x="2143432" y="3429000"/>
            <a:ext cx="71480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/>
              <a:t>Cada estudiante escribe en un papel (o dice en voz alta) dos afirmaciones verdaderas sobre su vida y una falsa. El resto del grupo debe votar para descubrir cuál es la mentira.</a:t>
            </a:r>
          </a:p>
        </p:txBody>
      </p:sp>
    </p:spTree>
    <p:extLst>
      <p:ext uri="{BB962C8B-B14F-4D97-AF65-F5344CB8AC3E}">
        <p14:creationId xmlns:p14="http://schemas.microsoft.com/office/powerpoint/2010/main" val="397848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628F3-E2CF-CD03-AE4B-092977CD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83D6B29-C5F8-B4D3-1227-25029C8C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62" b="27026"/>
          <a:stretch>
            <a:fillRect/>
          </a:stretch>
        </p:blipFill>
        <p:spPr>
          <a:xfrm>
            <a:off x="3232171" y="342754"/>
            <a:ext cx="5469378" cy="617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9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7EA8D-BBEB-B372-1352-74319FA3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5">
            <a:extLst>
              <a:ext uri="{FF2B5EF4-FFF2-40B4-BE49-F238E27FC236}">
                <a16:creationId xmlns:a16="http://schemas.microsoft.com/office/drawing/2014/main" id="{CADF0DA3-4E8D-4E86-618A-1C39B409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Calendario de parciales</a:t>
            </a:r>
          </a:p>
        </p:txBody>
      </p:sp>
      <p:pic>
        <p:nvPicPr>
          <p:cNvPr id="3" name="Marcador de contenido 2" descr="Calendario con relleno sólido">
            <a:extLst>
              <a:ext uri="{FF2B5EF4-FFF2-40B4-BE49-F238E27FC236}">
                <a16:creationId xmlns:a16="http://schemas.microsoft.com/office/drawing/2014/main" id="{EB29DD79-DECF-855E-3DF9-BCAAB9160A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813899"/>
            <a:ext cx="4353232" cy="4353232"/>
          </a:xfrm>
        </p:spPr>
      </p:pic>
      <p:sp>
        <p:nvSpPr>
          <p:cNvPr id="4" name="Marcador de contenido 7">
            <a:extLst>
              <a:ext uri="{FF2B5EF4-FFF2-40B4-BE49-F238E27FC236}">
                <a16:creationId xmlns:a16="http://schemas.microsoft.com/office/drawing/2014/main" id="{E3863017-9B32-E337-7F13-82812D337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865" y="2519005"/>
            <a:ext cx="5542935" cy="2943020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Primer parcial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sz="28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28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19 junio</a:t>
            </a:r>
          </a:p>
          <a:p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Segundo parcial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sz="28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28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24 julio</a:t>
            </a:r>
          </a:p>
          <a:p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Examen final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sz="28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28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21 agosto</a:t>
            </a:r>
          </a:p>
        </p:txBody>
      </p:sp>
    </p:spTree>
    <p:extLst>
      <p:ext uri="{BB962C8B-B14F-4D97-AF65-F5344CB8AC3E}">
        <p14:creationId xmlns:p14="http://schemas.microsoft.com/office/powerpoint/2010/main" val="390670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FDB22-7AFA-15EA-EC20-1071CC55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5">
            <a:extLst>
              <a:ext uri="{FF2B5EF4-FFF2-40B4-BE49-F238E27FC236}">
                <a16:creationId xmlns:a16="http://schemas.microsoft.com/office/drawing/2014/main" id="{A6B6A598-DAEE-2F68-79BB-15206D46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90F312-7D23-DD67-3000-D68F32A28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Sesión magistral de alrededor de 90 minutos</a:t>
            </a:r>
          </a:p>
          <a:p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Práctica de la temática tratada 150 minutos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Ejemplos: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Trabajos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</a:rPr>
              <a:t>Talleres</a:t>
            </a:r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Exposiciones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Foros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Juego de roles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Estudios de caso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s-CO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Proyectos de diseño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Marcador de contenido 10">
            <a:extLst>
              <a:ext uri="{FF2B5EF4-FFF2-40B4-BE49-F238E27FC236}">
                <a16:creationId xmlns:a16="http://schemas.microsoft.com/office/drawing/2014/main" id="{57C5DED5-2C4E-EE8D-3AD9-B4FF28F2DFE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0887016"/>
              </p:ext>
            </p:extLst>
          </p:nvPr>
        </p:nvGraphicFramePr>
        <p:xfrm>
          <a:off x="6172200" y="1825625"/>
          <a:ext cx="5181600" cy="2864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B0F2CAF-A18E-E085-05D8-9334FC943982}"/>
              </a:ext>
            </a:extLst>
          </p:cNvPr>
          <p:cNvSpPr txBox="1">
            <a:spLocks/>
          </p:cNvSpPr>
          <p:nvPr/>
        </p:nvSpPr>
        <p:spPr>
          <a:xfrm>
            <a:off x="6172200" y="2176871"/>
            <a:ext cx="1555955" cy="48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Parciales</a:t>
            </a:r>
          </a:p>
          <a:p>
            <a:pPr marL="457200" lvl="1" indent="0" algn="ctr">
              <a:buNone/>
            </a:pPr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endParaRPr lang="es-CO" sz="2400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C58FD64-F3A2-6E0E-7D42-103A4E6784DC}"/>
              </a:ext>
            </a:extLst>
          </p:cNvPr>
          <p:cNvSpPr txBox="1">
            <a:spLocks/>
          </p:cNvSpPr>
          <p:nvPr/>
        </p:nvSpPr>
        <p:spPr>
          <a:xfrm>
            <a:off x="9797845" y="2176872"/>
            <a:ext cx="1555955" cy="48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Otros</a:t>
            </a:r>
          </a:p>
          <a:p>
            <a:pPr marL="457200" lvl="1" indent="0" algn="ctr">
              <a:buNone/>
            </a:pPr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endParaRPr lang="es-CO" sz="2400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A6B99CD-9765-D9BC-7329-E0500833BD51}"/>
              </a:ext>
            </a:extLst>
          </p:cNvPr>
          <p:cNvSpPr txBox="1">
            <a:spLocks/>
          </p:cNvSpPr>
          <p:nvPr/>
        </p:nvSpPr>
        <p:spPr>
          <a:xfrm>
            <a:off x="9797844" y="4001294"/>
            <a:ext cx="1555955" cy="1328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xa heavy" panose="02000000000000000000" pitchFamily="2" charset="0"/>
                <a:ea typeface="Nexa heavy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Actividades</a:t>
            </a:r>
          </a:p>
          <a:p>
            <a:r>
              <a:rPr lang="es-CO" sz="24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Puntualidad entrega</a:t>
            </a:r>
          </a:p>
          <a:p>
            <a:r>
              <a:rPr lang="es-CO" sz="24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Asistencia</a:t>
            </a:r>
          </a:p>
          <a:p>
            <a:r>
              <a:rPr lang="es-CO" sz="2400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Participación</a:t>
            </a:r>
          </a:p>
          <a:p>
            <a:pPr lvl="1"/>
            <a:endParaRPr lang="es-CO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O" sz="2400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60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7EFA7-15C5-B137-964D-52E9B4E6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0">
            <a:extLst>
              <a:ext uri="{FF2B5EF4-FFF2-40B4-BE49-F238E27FC236}">
                <a16:creationId xmlns:a16="http://schemas.microsoft.com/office/drawing/2014/main" id="{C051E9B7-5709-22D1-F7EB-471D0031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358" y="2547707"/>
            <a:ext cx="9977284" cy="1762586"/>
          </a:xfrm>
        </p:spPr>
        <p:txBody>
          <a:bodyPr>
            <a:normAutofit/>
          </a:bodyPr>
          <a:lstStyle/>
          <a:p>
            <a:pPr algn="ctr"/>
            <a:r>
              <a:rPr lang="es-MX" sz="5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¿Qué piensas cuando te dicen </a:t>
            </a:r>
            <a:r>
              <a:rPr lang="es-MX" sz="5000" dirty="0">
                <a:solidFill>
                  <a:srgbClr val="1E2843"/>
                </a:solidFill>
              </a:rPr>
              <a:t>Distribución en planta?</a:t>
            </a:r>
            <a:endParaRPr lang="es-CO" sz="5000" b="1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4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BB313-1904-4C9A-8201-B344D4D3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0">
            <a:extLst>
              <a:ext uri="{FF2B5EF4-FFF2-40B4-BE49-F238E27FC236}">
                <a16:creationId xmlns:a16="http://schemas.microsoft.com/office/drawing/2014/main" id="{9E7A955E-A012-94D1-0919-096E248D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358" y="1762432"/>
            <a:ext cx="9977284" cy="3333135"/>
          </a:xfrm>
        </p:spPr>
        <p:txBody>
          <a:bodyPr>
            <a:normAutofit fontScale="90000"/>
          </a:bodyPr>
          <a:lstStyle/>
          <a:p>
            <a:r>
              <a:rPr lang="es-MX" sz="4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¿Qué factores crees que influyan en una óptima distribución en planta?</a:t>
            </a:r>
            <a:br>
              <a:rPr lang="es-MX" sz="4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MX" sz="4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MX" sz="4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¿Qué diferencias habrá entre las distribuciones en planta en una fábrica y una empresa prestadora de servicios?</a:t>
            </a:r>
            <a:endParaRPr lang="es-CO" sz="4000" b="1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47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88BDF-BDD6-4BAF-B24F-06A17DEA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896E4783-967D-D36C-7527-8601DFA0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2485"/>
            <a:ext cx="10515600" cy="1013030"/>
          </a:xfrm>
        </p:spPr>
        <p:txBody>
          <a:bodyPr>
            <a:normAutofit fontScale="90000"/>
          </a:bodyPr>
          <a:lstStyle/>
          <a:p>
            <a:pPr algn="ctr"/>
            <a:r>
              <a:rPr lang="es-CO" sz="5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Currículo</a:t>
            </a:r>
            <a:br>
              <a:rPr lang="es-CO" sz="5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CO" sz="5400" dirty="0"/>
              <a:t>¿Qué trabajaremos?</a:t>
            </a:r>
            <a:endParaRPr lang="es-CO" sz="5000" b="1" dirty="0">
              <a:solidFill>
                <a:srgbClr val="1E2843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9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7407C-9963-EC28-2A66-095872B3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6401AD5E-363B-45FE-9B8C-49E51267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CONCEPTOS GENERALES Y FACTORES QUE INTERVIENEN EN UNA DP</a:t>
            </a:r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56D0830-DE1A-B1FD-7CFA-9D9FF3853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s-ES_tradnl" dirty="0"/>
              <a:t>Conceptos fundamentales. Naturaleza, Objetivos y Principios de la Distribución en Planta. </a:t>
            </a:r>
          </a:p>
          <a:p>
            <a:r>
              <a:rPr lang="es-ES_tradnl" dirty="0"/>
              <a:t>Tipos de Distribución en Planta. </a:t>
            </a:r>
          </a:p>
          <a:p>
            <a:r>
              <a:rPr lang="es-ES_tradnl" dirty="0"/>
              <a:t>Factores que impactan una DP: Material, Maquinaria, Hombre, Movimiento, Espera, Servicio, Edificio y Cambio.</a:t>
            </a:r>
            <a:endParaRPr lang="es-MX" sz="2400" dirty="0"/>
          </a:p>
        </p:txBody>
      </p:sp>
      <p:pic>
        <p:nvPicPr>
          <p:cNvPr id="2050" name="Picture 2" descr="Planta Bebidas">
            <a:extLst>
              <a:ext uri="{FF2B5EF4-FFF2-40B4-BE49-F238E27FC236}">
                <a16:creationId xmlns:a16="http://schemas.microsoft.com/office/drawing/2014/main" id="{637AB8CF-9794-D878-8B6B-31489529B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787" y="2102069"/>
            <a:ext cx="5561979" cy="307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67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52B5B-9809-B63A-5A10-922F7E33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E6C693A-34E9-8382-BE43-B15E6A9B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/>
              <a:t>PLANEACIÓN DE LA DISTRIBUCIÓN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50E27F2-3861-3598-05C7-4336F923C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Distribución Sistémica</a:t>
            </a:r>
          </a:p>
          <a:p>
            <a:r>
              <a:rPr lang="es-ES" dirty="0"/>
              <a:t> Planeación de las Disposiciones Físicas</a:t>
            </a:r>
          </a:p>
          <a:p>
            <a:r>
              <a:rPr lang="es-ES" dirty="0"/>
              <a:t> Análisis de la Secuencia de Operaciones. </a:t>
            </a:r>
          </a:p>
          <a:p>
            <a:r>
              <a:rPr lang="es-ES" dirty="0"/>
              <a:t>Análisis de Diagrama de Bloques. </a:t>
            </a:r>
          </a:p>
          <a:p>
            <a:r>
              <a:rPr lang="es-ES" dirty="0"/>
              <a:t>Análisis Carga Distancia Costo</a:t>
            </a:r>
          </a:p>
          <a:p>
            <a:r>
              <a:rPr lang="es-ES" dirty="0"/>
              <a:t>Balanceo de línea. </a:t>
            </a:r>
          </a:p>
          <a:p>
            <a:r>
              <a:rPr lang="es-ES" dirty="0"/>
              <a:t>Distribución Celular por Tecnología de Grupo. </a:t>
            </a:r>
          </a:p>
          <a:p>
            <a:r>
              <a:rPr lang="es-ES" dirty="0"/>
              <a:t>Método </a:t>
            </a:r>
            <a:r>
              <a:rPr lang="es-ES" dirty="0" err="1"/>
              <a:t>Craft</a:t>
            </a:r>
            <a:r>
              <a:rPr lang="es-ES" dirty="0"/>
              <a:t>. </a:t>
            </a:r>
          </a:p>
          <a:p>
            <a:r>
              <a:rPr lang="es-ES" dirty="0"/>
              <a:t>Análisis Costo/beneficio</a:t>
            </a:r>
            <a:endParaRPr lang="es-MX" dirty="0"/>
          </a:p>
        </p:txBody>
      </p:sp>
      <p:pic>
        <p:nvPicPr>
          <p:cNvPr id="7" name="Marcador de contenido 6" descr="Un grupo de libros en una estación&#10;&#10;El contenido generado por IA puede ser incorrecto.">
            <a:extLst>
              <a:ext uri="{FF2B5EF4-FFF2-40B4-BE49-F238E27FC236}">
                <a16:creationId xmlns:a16="http://schemas.microsoft.com/office/drawing/2014/main" id="{B8FC1C7D-7FC2-8855-27F7-7464088AF2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74516"/>
            <a:ext cx="5181600" cy="3453556"/>
          </a:xfrm>
        </p:spPr>
      </p:pic>
    </p:spTree>
    <p:extLst>
      <p:ext uri="{BB962C8B-B14F-4D97-AF65-F5344CB8AC3E}">
        <p14:creationId xmlns:p14="http://schemas.microsoft.com/office/powerpoint/2010/main" val="3636995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8D8CF-62DE-1A15-D00F-2414F9EA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30F0884-E00D-ACE6-EDE9-FFDFA10E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LOCALIZACIÓN DE UNA NUEVA PLANTA</a:t>
            </a:r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71A103E-325D-E095-AA70-A3159EFF0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s-ES" dirty="0"/>
              <a:t>Factores para la </a:t>
            </a:r>
            <a:r>
              <a:rPr lang="es-ES" dirty="0" err="1"/>
              <a:t>Macrolocalización</a:t>
            </a:r>
            <a:endParaRPr lang="es-ES" dirty="0"/>
          </a:p>
          <a:p>
            <a:r>
              <a:rPr lang="es-ES" dirty="0"/>
              <a:t>Factores para la </a:t>
            </a:r>
            <a:r>
              <a:rPr lang="es-ES" dirty="0" err="1"/>
              <a:t>Microlocalización</a:t>
            </a:r>
            <a:r>
              <a:rPr lang="es-ES" dirty="0"/>
              <a:t> </a:t>
            </a:r>
          </a:p>
          <a:p>
            <a:r>
              <a:rPr lang="es-ES" dirty="0"/>
              <a:t>Métodos Utilizados para una Óptima localización</a:t>
            </a:r>
          </a:p>
          <a:p>
            <a:r>
              <a:rPr lang="es-ES" dirty="0"/>
              <a:t> Método sinérgico de localización de plantas (Brown y Gibson)</a:t>
            </a:r>
            <a:endParaRPr lang="es-MX" sz="2400" dirty="0"/>
          </a:p>
        </p:txBody>
      </p:sp>
      <p:pic>
        <p:nvPicPr>
          <p:cNvPr id="7" name="Marcador de contenido 6" descr="Diagrama&#10;&#10;El contenido generado por IA puede ser incorrecto.">
            <a:extLst>
              <a:ext uri="{FF2B5EF4-FFF2-40B4-BE49-F238E27FC236}">
                <a16:creationId xmlns:a16="http://schemas.microsoft.com/office/drawing/2014/main" id="{29F45F19-7A29-B5C8-51B9-653BC97245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63467"/>
            <a:ext cx="5181600" cy="2475653"/>
          </a:xfrm>
        </p:spPr>
      </p:pic>
    </p:spTree>
    <p:extLst>
      <p:ext uri="{BB962C8B-B14F-4D97-AF65-F5344CB8AC3E}">
        <p14:creationId xmlns:p14="http://schemas.microsoft.com/office/powerpoint/2010/main" val="172281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F52E2-175B-CEC2-BA68-C5F5070B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3A13D166-E5A1-DF22-516C-66D551613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/>
              <a:t>Algunas ideas de proyectos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0D79972-2BBD-158D-D9F7-D74ADF143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9941"/>
            <a:ext cx="5181600" cy="2058117"/>
          </a:xfrm>
        </p:spPr>
        <p:txBody>
          <a:bodyPr>
            <a:normAutofit/>
          </a:bodyPr>
          <a:lstStyle/>
          <a:p>
            <a:r>
              <a:rPr lang="es-MX" sz="2200" b="1" dirty="0"/>
              <a:t>Propuesta de una redistribución en planta</a:t>
            </a:r>
            <a:endParaRPr lang="es-MX" sz="2200" dirty="0"/>
          </a:p>
          <a:p>
            <a:r>
              <a:rPr lang="es-MX" sz="2200" b="1" dirty="0"/>
              <a:t>Video de una distribución en planta real y su posterior análisis</a:t>
            </a:r>
            <a:endParaRPr lang="es-MX" sz="2200" dirty="0"/>
          </a:p>
        </p:txBody>
      </p:sp>
      <p:pic>
        <p:nvPicPr>
          <p:cNvPr id="3074" name="Picture 2" descr="Distribución de Planta - YouTube">
            <a:extLst>
              <a:ext uri="{FF2B5EF4-FFF2-40B4-BE49-F238E27FC236}">
                <a16:creationId xmlns:a16="http://schemas.microsoft.com/office/drawing/2014/main" id="{D6832063-A40E-968C-18AA-6F6DC4AE17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236"/>
          <a:stretch>
            <a:fillRect/>
          </a:stretch>
        </p:blipFill>
        <p:spPr bwMode="auto">
          <a:xfrm>
            <a:off x="6305582" y="2090203"/>
            <a:ext cx="5357737" cy="315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55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15818-D779-0F97-CCDA-562C9876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D943A5E-ABCB-D2A3-52B9-480DD266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/>
              <a:t>Bibliografía</a:t>
            </a:r>
          </a:p>
        </p:txBody>
      </p:sp>
      <p:pic>
        <p:nvPicPr>
          <p:cNvPr id="3074" name="Picture 2" descr="Distribución de Planta - YouTube">
            <a:extLst>
              <a:ext uri="{FF2B5EF4-FFF2-40B4-BE49-F238E27FC236}">
                <a16:creationId xmlns:a16="http://schemas.microsoft.com/office/drawing/2014/main" id="{7B8F1EAF-A1BF-8049-6803-A440405E3B5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236"/>
          <a:stretch>
            <a:fillRect/>
          </a:stretch>
        </p:blipFill>
        <p:spPr bwMode="auto">
          <a:xfrm>
            <a:off x="6305582" y="2090203"/>
            <a:ext cx="5357737" cy="315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ACA609-ED8F-679C-0E2A-675104DB42F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690338"/>
            <a:ext cx="47760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Muther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R.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Distribución en Planta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Limusa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Konz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 de instalaciones industriales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Mc Graw Hill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4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0A19D-8FF1-0304-C035-BF999573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0">
            <a:extLst>
              <a:ext uri="{FF2B5EF4-FFF2-40B4-BE49-F238E27FC236}">
                <a16:creationId xmlns:a16="http://schemas.microsoft.com/office/drawing/2014/main" id="{DEB38DD5-7E36-BB47-42D7-C144107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2485"/>
            <a:ext cx="10515600" cy="1013030"/>
          </a:xfrm>
        </p:spPr>
        <p:txBody>
          <a:bodyPr>
            <a:normAutofit/>
          </a:bodyPr>
          <a:lstStyle/>
          <a:p>
            <a:pPr algn="ctr"/>
            <a:r>
              <a:rPr lang="es-CO" sz="5000" b="1" dirty="0">
                <a:solidFill>
                  <a:srgbClr val="1E284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Prueba diagnóstica</a:t>
            </a:r>
          </a:p>
        </p:txBody>
      </p:sp>
    </p:spTree>
    <p:extLst>
      <p:ext uri="{BB962C8B-B14F-4D97-AF65-F5344CB8AC3E}">
        <p14:creationId xmlns:p14="http://schemas.microsoft.com/office/powerpoint/2010/main" val="82952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</TotalTime>
  <Words>341</Words>
  <Application>Microsoft Office PowerPoint</Application>
  <PresentationFormat>Panorámica</PresentationFormat>
  <Paragraphs>63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Arial</vt:lpstr>
      <vt:lpstr>Avenir Next Heavy</vt:lpstr>
      <vt:lpstr>Courier New</vt:lpstr>
      <vt:lpstr>Helvetica</vt:lpstr>
      <vt:lpstr>Tema de Office</vt:lpstr>
      <vt:lpstr>BIENVENIDOS 2026–2</vt:lpstr>
      <vt:lpstr>Introducción y prueba diagnóstica</vt:lpstr>
      <vt:lpstr>Dos verdades y una mentira</vt:lpstr>
      <vt:lpstr>Presentación de PowerPoint</vt:lpstr>
      <vt:lpstr>Calendario de parciales</vt:lpstr>
      <vt:lpstr>Metodología</vt:lpstr>
      <vt:lpstr>¿Qué piensas cuando te dicen Distribución en planta?</vt:lpstr>
      <vt:lpstr>¿Qué factores crees que influyan en una óptima distribución en planta?  ¿Qué diferencias habrá entre las distribuciones en planta en una fábrica y una empresa prestadora de servicios?</vt:lpstr>
      <vt:lpstr>Currículo ¿Qué trabajaremos?</vt:lpstr>
      <vt:lpstr>CONCEPTOS GENERALES Y FACTORES QUE INTERVIENEN EN UNA DP</vt:lpstr>
      <vt:lpstr>PLANEACIÓN DE LA DISTRIBUCIÓN</vt:lpstr>
      <vt:lpstr>LOCALIZACIÓN DE UNA NUEVA PLANTA</vt:lpstr>
      <vt:lpstr>Algunas ideas de proyectos</vt:lpstr>
      <vt:lpstr>Bibliografía</vt:lpstr>
      <vt:lpstr>Prueba diagnóstica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 CAROLINA VELASCO CALDERON</dc:creator>
  <cp:lastModifiedBy>Katya Paola Bula León</cp:lastModifiedBy>
  <cp:revision>5</cp:revision>
  <dcterms:created xsi:type="dcterms:W3CDTF">2024-07-29T16:18:31Z</dcterms:created>
  <dcterms:modified xsi:type="dcterms:W3CDTF">2026-05-22T16:12:15Z</dcterms:modified>
</cp:coreProperties>
</file>